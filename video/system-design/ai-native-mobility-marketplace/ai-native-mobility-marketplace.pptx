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0f3038de534570" /><Relationship Type="http://schemas.openxmlformats.org/officeDocument/2006/relationships/extended-properties" Target="/docProps/app.xml" Id="R76a2370462754e7f" /><Relationship Type="http://schemas.openxmlformats.org/officeDocument/2006/relationships/officeDocument" Target="/ppt/presentation.xml" Id="R96931bc002eb43cb" /></Relationships>
</file>

<file path=ppt/presentation.xml><?xml version="1.0" encoding="utf-8"?>
<p:presentation xmlns:p="http://schemas.openxmlformats.org/presentationml/2006/main">
  <p:sldMasterIdLst>
    <p:sldMasterId xmlns:r="http://schemas.openxmlformats.org/officeDocument/2006/relationships" id="2147483648" r:id="Rbc7e5e6e492947ac"/>
  </p:sldMasterIdLst>
  <p:notesMasterIdLst>
    <p:notesMasterId xmlns:r="http://schemas.openxmlformats.org/officeDocument/2006/relationships" r:id="R873bee60cd9b490f"/>
  </p:notesMasterIdLst>
  <p:sldIdLst>
    <p:sldId xmlns:r="http://schemas.openxmlformats.org/officeDocument/2006/relationships" id="256" r:id="R2eeabea0f86c49cb"/>
    <p:sldId xmlns:r="http://schemas.openxmlformats.org/officeDocument/2006/relationships" id="257" r:id="Rad0dd407c0614e84"/>
    <p:sldId xmlns:r="http://schemas.openxmlformats.org/officeDocument/2006/relationships" id="258" r:id="Re2a41af5fb254720"/>
    <p:sldId xmlns:r="http://schemas.openxmlformats.org/officeDocument/2006/relationships" id="259" r:id="R9c9b562b93614431"/>
    <p:sldId xmlns:r="http://schemas.openxmlformats.org/officeDocument/2006/relationships" id="260" r:id="R9dd765f6fd734c40"/>
    <p:sldId xmlns:r="http://schemas.openxmlformats.org/officeDocument/2006/relationships" id="261" r:id="R72a00c6a196f4606"/>
    <p:sldId xmlns:r="http://schemas.openxmlformats.org/officeDocument/2006/relationships" id="262" r:id="Re032349ad8654e2a"/>
    <p:sldId xmlns:r="http://schemas.openxmlformats.org/officeDocument/2006/relationships" id="263" r:id="Rb9eac63744e74939"/>
    <p:sldId xmlns:r="http://schemas.openxmlformats.org/officeDocument/2006/relationships" id="264" r:id="R7065eb5171c04603"/>
    <p:sldId xmlns:r="http://schemas.openxmlformats.org/officeDocument/2006/relationships" id="265" r:id="R0d29911249b943d0"/>
    <p:sldId xmlns:r="http://schemas.openxmlformats.org/officeDocument/2006/relationships" id="266" r:id="R6fbbb2e921d34018"/>
    <p:sldId xmlns:r="http://schemas.openxmlformats.org/officeDocument/2006/relationships" id="267" r:id="R04c08e77bedd4a7c"/>
    <p:sldId xmlns:r="http://schemas.openxmlformats.org/officeDocument/2006/relationships" id="268" r:id="R9296eb8122f740ca"/>
    <p:sldId xmlns:r="http://schemas.openxmlformats.org/officeDocument/2006/relationships" id="269" r:id="Ra1dbd8ec660c43dc"/>
    <p:sldId xmlns:r="http://schemas.openxmlformats.org/officeDocument/2006/relationships" id="270" r:id="R0a68fa340c3247d9"/>
    <p:sldId xmlns:r="http://schemas.openxmlformats.org/officeDocument/2006/relationships" id="271" r:id="R25ede2d396e742b4"/>
    <p:sldId xmlns:r="http://schemas.openxmlformats.org/officeDocument/2006/relationships" id="272" r:id="R02ba9e34313d4578"/>
    <p:sldId xmlns:r="http://schemas.openxmlformats.org/officeDocument/2006/relationships" id="273" r:id="R485dc92a50864648"/>
    <p:sldId xmlns:r="http://schemas.openxmlformats.org/officeDocument/2006/relationships" id="274" r:id="R1912cd2760f04119"/>
    <p:sldId xmlns:r="http://schemas.openxmlformats.org/officeDocument/2006/relationships" id="275" r:id="Rd56398a409234ae2"/>
    <p:sldId xmlns:r="http://schemas.openxmlformats.org/officeDocument/2006/relationships" id="276" r:id="R02c08a194b944184"/>
    <p:sldId xmlns:r="http://schemas.openxmlformats.org/officeDocument/2006/relationships" id="277" r:id="R45ca126cec3d4831"/>
    <p:sldId xmlns:r="http://schemas.openxmlformats.org/officeDocument/2006/relationships" id="278" r:id="R9d591b51cf864b16"/>
    <p:sldId xmlns:r="http://schemas.openxmlformats.org/officeDocument/2006/relationships" id="279" r:id="R1df20af3422a4a3e"/>
    <p:sldId xmlns:r="http://schemas.openxmlformats.org/officeDocument/2006/relationships" id="280" r:id="R5626c9039db544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4de58210294e5b" /><Relationship Type="http://schemas.openxmlformats.org/officeDocument/2006/relationships/slideMaster" Target="/ppt/slideMasters/slideMaster1.xml" Id="Rbc7e5e6e492947ac" /><Relationship Type="http://schemas.openxmlformats.org/officeDocument/2006/relationships/notesMaster" Target="/ppt/notesMasters/notesMaster1.xml" Id="R873bee60cd9b490f" /><Relationship Type="http://schemas.openxmlformats.org/officeDocument/2006/relationships/presProps" Target="/ppt/presProps.xml" Id="Rc5fd95b932cb4288" /><Relationship Type="http://schemas.openxmlformats.org/officeDocument/2006/relationships/tableStyles" Target="/ppt/tableStyles.xml" Id="R7dca6ce4467143fa" /><Relationship Type="http://schemas.openxmlformats.org/officeDocument/2006/relationships/slide" Target="/ppt/slides/slide1.xml" Id="R2eeabea0f86c49cb" /><Relationship Type="http://schemas.openxmlformats.org/officeDocument/2006/relationships/slide" Target="/ppt/slides/slide2.xml" Id="Rad0dd407c0614e84" /><Relationship Type="http://schemas.openxmlformats.org/officeDocument/2006/relationships/slide" Target="/ppt/slides/slide3.xml" Id="Re2a41af5fb254720" /><Relationship Type="http://schemas.openxmlformats.org/officeDocument/2006/relationships/slide" Target="/ppt/slides/slide4.xml" Id="R9c9b562b93614431" /><Relationship Type="http://schemas.openxmlformats.org/officeDocument/2006/relationships/slide" Target="/ppt/slides/slide5.xml" Id="R9dd765f6fd734c40" /><Relationship Type="http://schemas.openxmlformats.org/officeDocument/2006/relationships/slide" Target="/ppt/slides/slide6.xml" Id="R72a00c6a196f4606" /><Relationship Type="http://schemas.openxmlformats.org/officeDocument/2006/relationships/slide" Target="/ppt/slides/slide7.xml" Id="Re032349ad8654e2a" /><Relationship Type="http://schemas.openxmlformats.org/officeDocument/2006/relationships/slide" Target="/ppt/slides/slide8.xml" Id="Rb9eac63744e74939" /><Relationship Type="http://schemas.openxmlformats.org/officeDocument/2006/relationships/slide" Target="/ppt/slides/slide9.xml" Id="R7065eb5171c04603" /><Relationship Type="http://schemas.openxmlformats.org/officeDocument/2006/relationships/slide" Target="/ppt/slides/slide10.xml" Id="R0d29911249b943d0" /><Relationship Type="http://schemas.openxmlformats.org/officeDocument/2006/relationships/slide" Target="/ppt/slides/slide11.xml" Id="R6fbbb2e921d34018" /><Relationship Type="http://schemas.openxmlformats.org/officeDocument/2006/relationships/slide" Target="/ppt/slides/slide12.xml" Id="R04c08e77bedd4a7c" /><Relationship Type="http://schemas.openxmlformats.org/officeDocument/2006/relationships/slide" Target="/ppt/slides/slide13.xml" Id="R9296eb8122f740ca" /><Relationship Type="http://schemas.openxmlformats.org/officeDocument/2006/relationships/slide" Target="/ppt/slides/slide14.xml" Id="Ra1dbd8ec660c43dc" /><Relationship Type="http://schemas.openxmlformats.org/officeDocument/2006/relationships/slide" Target="/ppt/slides/slide15.xml" Id="R0a68fa340c3247d9" /><Relationship Type="http://schemas.openxmlformats.org/officeDocument/2006/relationships/slide" Target="/ppt/slides/slide16.xml" Id="R25ede2d396e742b4" /><Relationship Type="http://schemas.openxmlformats.org/officeDocument/2006/relationships/slide" Target="/ppt/slides/slide17.xml" Id="R02ba9e34313d4578" /><Relationship Type="http://schemas.openxmlformats.org/officeDocument/2006/relationships/slide" Target="/ppt/slides/slide18.xml" Id="R485dc92a50864648" /><Relationship Type="http://schemas.openxmlformats.org/officeDocument/2006/relationships/slide" Target="/ppt/slides/slide19.xml" Id="R1912cd2760f04119" /><Relationship Type="http://schemas.openxmlformats.org/officeDocument/2006/relationships/slide" Target="/ppt/slides/slide20.xml" Id="Rd56398a409234ae2" /><Relationship Type="http://schemas.openxmlformats.org/officeDocument/2006/relationships/slide" Target="/ppt/slides/slide21.xml" Id="R02c08a194b944184" /><Relationship Type="http://schemas.openxmlformats.org/officeDocument/2006/relationships/slide" Target="/ppt/slides/slide22.xml" Id="R45ca126cec3d4831" /><Relationship Type="http://schemas.openxmlformats.org/officeDocument/2006/relationships/slide" Target="/ppt/slides/slide23.xml" Id="R9d591b51cf864b16" /><Relationship Type="http://schemas.openxmlformats.org/officeDocument/2006/relationships/slide" Target="/ppt/slides/slide24.xml" Id="R1df20af3422a4a3e" /><Relationship Type="http://schemas.openxmlformats.org/officeDocument/2006/relationships/slide" Target="/ppt/slides/slide25.xml" Id="R5626c9039db544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a360b22c0248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785594e00d4ccc" /><Relationship Type="http://schemas.openxmlformats.org/officeDocument/2006/relationships/notesMaster" Target="/ppt/notesMasters/notesMaster1.xml" Id="R0964a9e1b9f444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482efde1b94714" /><Relationship Type="http://schemas.openxmlformats.org/officeDocument/2006/relationships/notesMaster" Target="/ppt/notesMasters/notesMaster1.xml" Id="Rb90c71e5000643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e53a0fd1b04b0f" /><Relationship Type="http://schemas.openxmlformats.org/officeDocument/2006/relationships/notesMaster" Target="/ppt/notesMasters/notesMaster1.xml" Id="Rceecf90cc9fe4b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a0c74fd7e5489d" /><Relationship Type="http://schemas.openxmlformats.org/officeDocument/2006/relationships/notesMaster" Target="/ppt/notesMasters/notesMaster1.xml" Id="R20602bf730ee45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22c7e26fe444b9" /><Relationship Type="http://schemas.openxmlformats.org/officeDocument/2006/relationships/notesMaster" Target="/ppt/notesMasters/notesMaster1.xml" Id="Ra9c555a10eb242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4f0836ab5d4b47" /><Relationship Type="http://schemas.openxmlformats.org/officeDocument/2006/relationships/notesMaster" Target="/ppt/notesMasters/notesMaster1.xml" Id="R6344730291f94c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7c388821d04bec" /><Relationship Type="http://schemas.openxmlformats.org/officeDocument/2006/relationships/notesMaster" Target="/ppt/notesMasters/notesMaster1.xml" Id="R0450bf499cd043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0e9730269c48f8" /><Relationship Type="http://schemas.openxmlformats.org/officeDocument/2006/relationships/notesMaster" Target="/ppt/notesMasters/notesMaster1.xml" Id="Re6f8686bd03745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3fc6cb3fcd40e1" /><Relationship Type="http://schemas.openxmlformats.org/officeDocument/2006/relationships/notesMaster" Target="/ppt/notesMasters/notesMaster1.xml" Id="Rd483f4a25b5741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a94cf738e9423a" /><Relationship Type="http://schemas.openxmlformats.org/officeDocument/2006/relationships/notesMaster" Target="/ppt/notesMasters/notesMaster1.xml" Id="R5663d60d6a0141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864ffa3a524696" /><Relationship Type="http://schemas.openxmlformats.org/officeDocument/2006/relationships/notesMaster" Target="/ppt/notesMasters/notesMaster1.xml" Id="R43b538b1ac70450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27eadcbc15419b" /><Relationship Type="http://schemas.openxmlformats.org/officeDocument/2006/relationships/notesMaster" Target="/ppt/notesMasters/notesMaster1.xml" Id="Rfcc817e59156493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26c9c33a862495a" /><Relationship Type="http://schemas.openxmlformats.org/officeDocument/2006/relationships/notesMaster" Target="/ppt/notesMasters/notesMaster1.xml" Id="R2caab976cc6844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0c1f6b524d14550" /><Relationship Type="http://schemas.openxmlformats.org/officeDocument/2006/relationships/notesMaster" Target="/ppt/notesMasters/notesMaster1.xml" Id="R77db512ef33047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0be1692d12c49fa" /><Relationship Type="http://schemas.openxmlformats.org/officeDocument/2006/relationships/notesMaster" Target="/ppt/notesMasters/notesMaster1.xml" Id="Rd3107ca25063442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db1b3d811b54ad6" /><Relationship Type="http://schemas.openxmlformats.org/officeDocument/2006/relationships/notesMaster" Target="/ppt/notesMasters/notesMaster1.xml" Id="R1fbf175884bc4c0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7aebb1f60a34e2c" /><Relationship Type="http://schemas.openxmlformats.org/officeDocument/2006/relationships/notesMaster" Target="/ppt/notesMasters/notesMaster1.xml" Id="R06c1600dd980493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15c8b63cb024eaf" /><Relationship Type="http://schemas.openxmlformats.org/officeDocument/2006/relationships/notesMaster" Target="/ppt/notesMasters/notesMaster1.xml" Id="R1119352d1d124d4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13cd2bd55464ece" /><Relationship Type="http://schemas.openxmlformats.org/officeDocument/2006/relationships/notesMaster" Target="/ppt/notesMasters/notesMaster1.xml" Id="R6cf05d710aaf4bd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21572ad16d44da4" /><Relationship Type="http://schemas.openxmlformats.org/officeDocument/2006/relationships/notesMaster" Target="/ppt/notesMasters/notesMaster1.xml" Id="R2c11b6f781a94c3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2d558528c694019" /><Relationship Type="http://schemas.openxmlformats.org/officeDocument/2006/relationships/notesMaster" Target="/ppt/notesMasters/notesMaster1.xml" Id="R8d2439ccdacc45a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10d05bbfe0e45d3" /><Relationship Type="http://schemas.openxmlformats.org/officeDocument/2006/relationships/notesMaster" Target="/ppt/notesMasters/notesMaster1.xml" Id="Rc27b6b9ebc71486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4d888108aac4dcb" /><Relationship Type="http://schemas.openxmlformats.org/officeDocument/2006/relationships/notesMaster" Target="/ppt/notesMasters/notesMaster1.xml" Id="R0e72275af46240e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7fed32372f046c5" /><Relationship Type="http://schemas.openxmlformats.org/officeDocument/2006/relationships/notesMaster" Target="/ppt/notesMasters/notesMaster1.xml" Id="Rb2572f56f227408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af7229ab51d460d" /><Relationship Type="http://schemas.openxmlformats.org/officeDocument/2006/relationships/notesMaster" Target="/ppt/notesMasters/notesMaster1.xml" Id="R42879fe5f75b4a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AI-Native Mobility Marketplace. For the next half hour, we will follow one rider, Aisha, as she asks for a ride home during a busy evening. Our goal is not to copy any company's internal system. We are designing an original marketplace that performs the same kind of job: connect a rider and a driver safely, quickly, and fairly. Along the way, we will build a reusable interview method. System design is the practice of choosing components and rules that let a product work reliably at scale. In plain English, it is the blueprint for how many moving parts cooperate when real people depend on them. A good blueprint starts with the user story, then asks what can fail, what must be fast, and which facts must never be wrong. Notice the order: we do not begin with fashionable tools. We begin with promises to people, then prove that our choices can keep those promises under ordinary load and stressful failure. By the end, you will be able to explain the ride flow to a beginner and defend the choices in an interview. Let’s follow one ride request from the first tap to the final receipt.</a:t>
            </a:r>
          </a:p>
          <a:p xmlns:a="http://schemas.openxmlformats.org/drawingml/2006/main">
            <a:r>
              <a:t/>
            </a:r>
          </a:p>
          <a:p xmlns:a="http://schemas.openxmlformats.org/drawingml/2006/main">
            <a:r>
              <a:t>[Sources]</a:t>
            </a:r>
          </a:p>
          <a:p xmlns:a="http://schemas.openxmlformats.org/drawingml/2006/main">
            <a:r>
              <a:t>- content/system-design/01-ai-native-mobility-marketplace.md#1-interview-prompt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Aisha opens the rider app outside a concert. She enters a pickup point, chooses a destination, and asks for a price. Marco is driving nearby and may receive an offer. The third participant is our marketplace platform, which coordinates the request without pretending it can control traffic or human decisions. An actor is a person or external system that participates in a product flow. Here, Aisha, Marco, the mapping provider, and the payment provider are all actors. Naming actors matters because each has different needs. Aisha wants a clear price and a safe pickup. Marco needs a useful offer before another driver takes it. The mapping provider supplies routes, while the payment provider handles regulated money movement. If we blur those responsibilities, our design becomes vague and failures become hard to explain. Keep Aisha’s story in mind: every box we add should solve a problem she or Marco can actually feel.</a:t>
            </a:r>
          </a:p>
          <a:p xmlns:a="http://schemas.openxmlformats.org/drawingml/2006/main">
            <a:r>
              <a:t/>
            </a:r>
          </a:p>
          <a:p xmlns:a="http://schemas.openxmlformats.org/drawingml/2006/main">
            <a:r>
              <a:t>[Sources]</a:t>
            </a:r>
          </a:p>
          <a:p xmlns:a="http://schemas.openxmlformats.org/drawingml/2006/main">
            <a:r>
              <a:t>- content/system-design/01-ai-native-mobility-marketplace.md#1-interview-prompt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moment Aisha requests, three drivers appear close on the map. One is turning away from the pickup. One is finishing a ride. Marco is slightly farther away but is free, facing the right direction, and has a fresh location update. Distance alone is not enough. A strong match balances pickup time, whether a driver can truly respond, rider safety, cancellation risk, and a fair distribution of opportunities. Prediction question: is the nearest map dot always the best driver for Aisha? Take a moment to decide. The answer is no. A stale dot may represent a driver who is already occupied, and a very close driver may be headed the wrong way. Without a matching process that considers live constraints, riders see failed offers, drivers get confusing work, and the marketplace loses trust. So we will first make the product promises clear, then build only the machinery needed to keep them.</a:t>
            </a:r>
          </a:p>
          <a:p xmlns:a="http://schemas.openxmlformats.org/drawingml/2006/main">
            <a:r>
              <a:t/>
            </a:r>
          </a:p>
          <a:p xmlns:a="http://schemas.openxmlformats.org/drawingml/2006/main">
            <a:r>
              <a:t>[Sources]</a:t>
            </a:r>
          </a:p>
          <a:p xmlns:a="http://schemas.openxmlformats.org/drawingml/2006/main">
            <a:r>
              <a:t>- content/system-design/01-ai-native-mobility-marketplace.md#7-component-deep-dive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naming storage or models, write down what the product must do. A functional requirement is a specific capability the product must provide to a user or another system. For Aisha, the platform must produce a quote, accept her ride request, find a driver, show the trip progressing, settle payment, and let either person report a safety concern. Those are observable outcomes, not implementation choices. The phrase ‘match a driver’ is a useful requirement; the phrase ‘use a queue’ is not, because it jumps ahead to a solution. This distinction keeps an interview answer grounded. If we skip functional requirements, we may optimize an impressive architecture that forgets a vital action, such as expiring an unanswered offer or preventing a second charge. In this lesson, we exclude pooled rides and autonomous vehicles. Narrow scope is a strength: it lets us make the normal ride dependable before adding harder variations.</a:t>
            </a:r>
          </a:p>
          <a:p xmlns:a="http://schemas.openxmlformats.org/drawingml/2006/main">
            <a:r>
              <a:t/>
            </a:r>
          </a:p>
          <a:p xmlns:a="http://schemas.openxmlformats.org/drawingml/2006/main">
            <a:r>
              <a:t>[Sources]</a:t>
            </a:r>
          </a:p>
          <a:p xmlns:a="http://schemas.openxmlformats.org/drawingml/2006/main">
            <a:r>
              <a:t>- content/system-design/01-ai-native-mobility-marketplace.md#2-requirements-and-scope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ask how well each capability must work. A non-functional requirement describes a quality target such as speed, reliability, or security. It turns ‘fast’ into a number and ‘reliable’ into a promise. For example, we want Aisha’s quote to return with p99 latency under five hundred milliseconds. P99 latency is the response time below which 99 percent of requests complete: if one hundred quote requests arrive, at least ninety-nine should finish within that limit. The consequence is that a slow dependency cannot sit on the critical path forever. Availability is the proportion of time a system can successfully serve intended requests. If availability is poor at commute time, a beautiful prediction model is irrelevant because Aisha cannot request a ride. We also set match completion under five seconds, location freshness under ten seconds, and no double charge. These targets will guide every trade-off that follows.</a:t>
            </a:r>
          </a:p>
          <a:p xmlns:a="http://schemas.openxmlformats.org/drawingml/2006/main">
            <a:r>
              <a:t/>
            </a:r>
          </a:p>
          <a:p xmlns:a="http://schemas.openxmlformats.org/drawingml/2006/main">
            <a:r>
              <a:t>[Sources]</a:t>
            </a:r>
          </a:p>
          <a:p xmlns:a="http://schemas.openxmlformats.org/drawingml/2006/main">
            <a:r>
              <a:t>- content/system-design/01-ai-native-mobility-marketplace.md#2-requirements-and-scope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 every fact in a marketplace needs the same agreement rule. Strong consistency means a completed write is immediately reflected by later reads that require the same truth. Think of one shared ledger: after Aisha’s payment succeeds, a later payment check must not claim it is still unpaid. The consequence is that trip assignment and money movement need careful coordination, even if that costs a little latency. Eventual consistency means copies may briefly differ but converge when updates finish propagating. A driver’s moving map dot can tolerate a small delay because the next update will arrive seconds later. Prediction question: should every ride datum wait for one shared truth? Take a moment to decide. No. If every location update waited for global agreement, the map would lag and cost more. If payment used only eventual agreement, we could charge Aisha twice. Use the strongest promise only where an incorrect answer would be unacceptable.</a:t>
            </a:r>
          </a:p>
          <a:p xmlns:a="http://schemas.openxmlformats.org/drawingml/2006/main">
            <a:r>
              <a:t/>
            </a:r>
          </a:p>
          <a:p xmlns:a="http://schemas.openxmlformats.org/drawingml/2006/main">
            <a:r>
              <a:t>[Sources]</a:t>
            </a:r>
          </a:p>
          <a:p xmlns:a="http://schemas.openxmlformats.org/drawingml/2006/main">
            <a:r>
              <a:t>- content/system-design/01-ai-native-mobility-marketplace.md#10-storage-partitioning-consistency-and-caching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diagram without numbers is only a guess. A capacity estimate is a transparent approximation of expected requests, data, and storage needs. It is not a claim of perfect forecasting; it is a way to show your assumptions and test whether a design can survive them. We will assume two million trips per day, one million active drivers, and a commute peak ten times busier than average. We will calculate ride requests, location updates, and retained history separately because they have very different shapes. Aisha creates one important command when she requests a trip. Marco creates a steady stream of lightweight location updates while he is available. If we size the system only for trip requests, the location stream overwhelms it. If we size every record like a location sample, we waste effort on the few trip transitions that demand durable correctness. Start with questions: how many users, how often do they act, how big is each message, and what happens at the busiest hour?</a:t>
            </a:r>
          </a:p>
          <a:p xmlns:a="http://schemas.openxmlformats.org/drawingml/2006/main">
            <a:r>
              <a:t/>
            </a:r>
          </a:p>
          <a:p xmlns:a="http://schemas.openxmlformats.org/drawingml/2006/main">
            <a:r>
              <a:t>[Sources]</a:t>
            </a:r>
          </a:p>
          <a:p xmlns:a="http://schemas.openxmlformats.org/drawingml/2006/main">
            <a:r>
              <a:t>- content/system-design/01-ai-native-mobility-marketplace.md#3-capacity-estimate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do the first piece of math slowly. Two million trips per day divided by eighty-six thousand four hundred seconds in a day is about twenty-three trip creations per second on average. Throughput is the amount of work a system completes in a fixed time, often requests per second. Average throughput is useful, but it is not what stresses the platform. Peak load is the highest expected demand period used to size a system safely. With a ten-times commute peak, we plan for about two hundred thirty trip creations per second. That is modest enough for a well-designed regional transactional path, but every trip creates related work: quotes, offers, state changes, notifications, and later payments. The interview move is to say the arithmetic aloud and label the assumption. If peak is actually twenty times average in a dense city, we can scale regional capacity or shed nonessential work. Hidden math produces hidden outages; transparent math creates a conversation.</a:t>
            </a:r>
          </a:p>
          <a:p xmlns:a="http://schemas.openxmlformats.org/drawingml/2006/main">
            <a:r>
              <a:t/>
            </a:r>
          </a:p>
          <a:p xmlns:a="http://schemas.openxmlformats.org/drawingml/2006/main">
            <a:r>
              <a:t>[Sources]</a:t>
            </a:r>
          </a:p>
          <a:p xmlns:a="http://schemas.openxmlformats.org/drawingml/2006/main">
            <a:r>
              <a:t>- content/system-design/01-ai-native-mobility-marketplace.md#3-capacity-estimate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calculation changes the scale. One million active drivers send one roughly one-hundred-byte location update every four seconds. That is two hundred fifty thousand updates per second at peak: one million divided by four. An event is an immutable record that something happened at a particular time. Marco’s position at a given time is an event; it is not the same as rewriting the entire trip record. At two hundred fifty thousand events per second, raw payload volume is about twenty-five megabytes per second before protocol overhead or copies. This is why a marketplace cannot treat moving positions like ordinary account edits. We need a path that accepts a burst, keeps the most recent location easy to find, and stores history more cheaply. Without that separation, the large location stream competes with Aisha’s small but critical ride request and turns the core record store into a bottleneck precisely when demand rises.</a:t>
            </a:r>
          </a:p>
          <a:p xmlns:a="http://schemas.openxmlformats.org/drawingml/2006/main">
            <a:r>
              <a:t/>
            </a:r>
          </a:p>
          <a:p xmlns:a="http://schemas.openxmlformats.org/drawingml/2006/main">
            <a:r>
              <a:t>[Sources]</a:t>
            </a:r>
          </a:p>
          <a:p xmlns:a="http://schemas.openxmlformats.org/drawingml/2006/main">
            <a:r>
              <a:t>- content/system-design/01-ai-native-mobility-marketplace.md#3-capacity-estimate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 storage follow the meaning of the data. Live positions are hot: dispatch needs Marco’s current cell and a recent timestamp, not every point from last week. We keep that compact, indexed state with a short expiration. Raw historical telemetry can move to lower-cost object storage for approved analysis and retention. Seven days of raw locations is roughly fifteen terabytes under our assumptions; with three copies plus index and metadata overhead, budget around fifty terabytes. Replication keeps multiple copies of data so a failure of one copy does not make it unavailable. The practical consequence is different for different data: trip and payment state need durable replicated truth, while an old map dot can expire. Recap question: where would you store Marco’s last ten seconds of position versus a week of approved route history? Take a moment. Keep the fresh position close to dispatch; keep history durable and cheaper. Without these layers, either the hot path becomes slow or the storage bill grows without improving Aisha’s ride.</a:t>
            </a:r>
          </a:p>
          <a:p xmlns:a="http://schemas.openxmlformats.org/drawingml/2006/main">
            <a:r>
              <a:t/>
            </a:r>
          </a:p>
          <a:p xmlns:a="http://schemas.openxmlformats.org/drawingml/2006/main">
            <a:r>
              <a:t>[Sources]</a:t>
            </a:r>
          </a:p>
          <a:p xmlns:a="http://schemas.openxmlformats.org/drawingml/2006/main">
            <a:r>
              <a:t>- content/system-design/01-ai-native-mobility-marketplace.md#3-capacity-estimate</a:t>
            </a:r>
          </a:p>
          <a:p xmlns:a="http://schemas.openxmlformats.org/drawingml/2006/main">
            <a:r>
              <a:t>- content/system-design/01-ai-native-mobility-marketplace.md#10-storage-partitioning-consistency-and-caching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enough requirements and scale to draw the outside boundary. The rider app and driver app are on one side. On the other side are a routing provider, a licensed payment provider, and emergency or safety services governed by explicit policy. Our platform sits in the middle and decides which interactions it owns. It owns trip state, matching, location handling, and the audit trail around safety workflow. It does not pretend to own road maps or card networks. This context diagram is intentionally simple. It helps an interviewer see where data enters, where trust boundaries exist, and where a dependency might fail. For Aisha, routing gives an estimated path. For Marco, the app receives an offer. For both, payment and emergency actions have stricter external obligations. If we open the architecture before agreeing on these boundaries, we risk hiding a vendor dependency inside an unexplained box. Next, we build the inside one layer at a time.</a:t>
            </a:r>
          </a:p>
          <a:p xmlns:a="http://schemas.openxmlformats.org/drawingml/2006/main">
            <a:r>
              <a:t/>
            </a:r>
          </a:p>
          <a:p xmlns:a="http://schemas.openxmlformats.org/drawingml/2006/main">
            <a:r>
              <a:t>[Sources]</a:t>
            </a:r>
          </a:p>
          <a:p xmlns:a="http://schemas.openxmlformats.org/drawingml/2006/main">
            <a:r>
              <a:t>- content/system-design/01-ai-native-mobility-marketplace.md#5-system-context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Aisha’s request enters through an API edge. An API edge is the controlled entry layer that authenticates, routes, and protects client requests. In everyday terms, it is the guarded front door: it checks who is calling, rejects obviously bad traffic, and sends valid calls to the right place. Behind it, a service is a focused deployable component responsible for one bounded business capability. We separate trip, location, dispatch, payment, and safety responsibilities so one change does not accidentally rewrite every rule. A regional shard is an isolated deployment and data partition that serves a geographic area independently. Imagine a city-sized neighborhood of the platform with its own capacity and recovery plan. Its consequence is containment: a failure in one region should not make another region stop matching rides. Without an edge, unsafe or malformed traffic reaches every component. Without focused services and regional shards, a small fault becomes a wide, confusing outage.</a:t>
            </a:r>
          </a:p>
          <a:p xmlns:a="http://schemas.openxmlformats.org/drawingml/2006/main">
            <a:r>
              <a:t/>
            </a:r>
          </a:p>
          <a:p xmlns:a="http://schemas.openxmlformats.org/drawingml/2006/main">
            <a:r>
              <a:t>[Sources]</a:t>
            </a:r>
          </a:p>
          <a:p xmlns:a="http://schemas.openxmlformats.org/drawingml/2006/main">
            <a:r>
              <a:t>- content/system-design/01-ai-native-mobility-marketplace.md#6-container-architecture</a:t>
            </a:r>
          </a:p>
          <a:p xmlns:a="http://schemas.openxmlformats.org/drawingml/2006/main">
            <a:r>
              <a:t>- content/system-design/01-ai-native-mobility-marketplace.md#11-reliability-and-failure-handling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layer holds durable truth and shares changes safely. A database is a durable system for storing and querying authoritative application state. The trip database holds Aisha’s ride status, its version, and the confirmed driver assignment. It is where we insist that one transition follows the last one. An event log is a durable ordered record of changes that other components can consume independently. When the trip changes from requested to matched, the log lets notifications, payment preparation, safety workflows, and analytics learn about that fact without every component calling the trip service directly. The consequence is loose coupling: a delayed notification does not block a driver assignment. We partition both trip data and the log by region, then by trip identifier, so related work stays close together. Without a durable database, we cannot confidently answer who is assigned. Without an event log, every new downstream feature makes the synchronous request path slower and more fragile.</a:t>
            </a:r>
          </a:p>
          <a:p xmlns:a="http://schemas.openxmlformats.org/drawingml/2006/main">
            <a:r>
              <a:t/>
            </a:r>
          </a:p>
          <a:p xmlns:a="http://schemas.openxmlformats.org/drawingml/2006/main">
            <a:r>
              <a:t>[Sources]</a:t>
            </a:r>
          </a:p>
          <a:p xmlns:a="http://schemas.openxmlformats.org/drawingml/2006/main">
            <a:r>
              <a:t>- content/system-design/01-ai-native-mobility-marketplace.md#6-container-architecture</a:t>
            </a:r>
          </a:p>
          <a:p xmlns:a="http://schemas.openxmlformats.org/drawingml/2006/main">
            <a:r>
              <a:t>- content/system-design/01-ai-native-mobility-marketplace.md#10-storage-partitioning-consistency-and-caching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subtle but important failure. Suppose the trip database records that Marco accepted, but the process crashes just before it tells the event log. Aisha might wait on a stale screen while payment and safety systems never learn the assignment. An outbox is a durable record written with business state so its event can be published reliably after the transaction. Think of it as a message placed in the same sealed envelope as the trip update. A separate publisher reads the envelope and delivers the event, retrying safely if necessary. The consequence is that a completed state change does not disappear between two unreliable network calls. This is more dependable than trying to update the database and send a message as unrelated steps. Without an outbox, we get the worst kind of bug: the core truth says one thing, while everything around it silently believes another. It is a small pattern with a large reliability payoff.</a:t>
            </a:r>
          </a:p>
          <a:p xmlns:a="http://schemas.openxmlformats.org/drawingml/2006/main">
            <a:r>
              <a:t/>
            </a:r>
          </a:p>
          <a:p xmlns:a="http://schemas.openxmlformats.org/drawingml/2006/main">
            <a:r>
              <a:t>[Sources]</a:t>
            </a:r>
          </a:p>
          <a:p xmlns:a="http://schemas.openxmlformats.org/drawingml/2006/main">
            <a:r>
              <a:t>- content/system-design/01-ai-native-mobility-marketplace.md#11-reliability-and-failure-handling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Look at our architecture as a set of owners, not a pile of boxes. The trip component owns the authoritative ride state. The location path owns fresh moving positions. Dispatch owns the process of proposing an assignment, and payment owns settlement records. Other components can react to published changes, but they do not casually rewrite another owner’s truth. Prediction question: should every component edit the same tables to save time? Take a moment. The answer is no. Shared writes create hidden coupling: a payment change can accidentally alter a trip, and an emergency repair becomes impossible to reason about. Clear ownership lets us test a state transition, audit it, and recover it in one place. It also makes each team or module smaller to understand. For Aisha, the effect is simple: one part of the platform can be late without allowing two parts to decide she has two different drivers. Now we can zoom into the hardest owner-to-owner handoff: dispatch.</a:t>
            </a:r>
          </a:p>
          <a:p xmlns:a="http://schemas.openxmlformats.org/drawingml/2006/main">
            <a:r>
              <a:t/>
            </a:r>
          </a:p>
          <a:p xmlns:a="http://schemas.openxmlformats.org/drawingml/2006/main">
            <a:r>
              <a:t>[Sources]</a:t>
            </a:r>
          </a:p>
          <a:p xmlns:a="http://schemas.openxmlformats.org/drawingml/2006/main">
            <a:r>
              <a:t>- content/system-design/01-ai-native-mobility-marketplace.md#6-container-architecture</a:t>
            </a:r>
          </a:p>
          <a:p xmlns:a="http://schemas.openxmlformats.org/drawingml/2006/main">
            <a:r>
              <a:t>- content/system-design/01-ai-native-mobility-marketplace.md#10-storage-partitioning-consistency-and-caching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Aisha taps request, and dispatch needs possible drivers before it can choose one. Searching every driver in the city would be wasteful. Instead, we divide the map into small hexagons. An H3 cell is an addressable hexagonal area used to group nearby geographic positions for efficient search. Think of it as a labeled tile on a honeycomb map. Marco’s latest position updates the tile where he is currently available. Aisha’s pickup identifies its own tile, and dispatch searches that tile, then expands outward in rings only if needed. Hexagons have convenient neighboring shapes, but the key idea is spatial bucketing, not the brand of index. The consequence is bounded work: a request looks at nearby candidates rather than a city-wide list. Without a geographic index, rush-hour matching becomes a repeated full scan and latency rises just when Aisha most needs an answer. Next we narrow the nearby list to drivers who can actually take her.</a:t>
            </a:r>
          </a:p>
          <a:p xmlns:a="http://schemas.openxmlformats.org/drawingml/2006/main">
            <a:r>
              <a:t/>
            </a:r>
          </a:p>
          <a:p xmlns:a="http://schemas.openxmlformats.org/drawingml/2006/main">
            <a:r>
              <a:t>[Sources]</a:t>
            </a:r>
          </a:p>
          <a:p xmlns:a="http://schemas.openxmlformats.org/drawingml/2006/main">
            <a:r>
              <a:t>- content/system-design/01-ai-native-mobility-marketplace.md#7-component-deep-dive</a:t>
            </a:r>
          </a:p>
          <a:p xmlns:a="http://schemas.openxmlformats.org/drawingml/2006/main">
            <a:r>
              <a:t>- https://h3geo.org/docs/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H3 search returns possibilities, not promises. A candidate filter quickly removes options that cannot satisfy a request before expensive scoring. It might remove drivers whose last location is too old, who are already leased, whose vehicle does not fit the requested service, or who are outside a safety boundary. Eligibility is the set of non-negotiable rules an option must satisfy before it can be offered. In plain English, eligibility is the bouncer at the door; no amount of clever prediction lets an unavailable driver accept a ride. Marco passes because he is active, his location is fresh, and he is not finishing another trip. The consequence is efficiency and safety: our ranking model sees a manageable set of viable choices instead of trying to repair impossible ones later. Without this filter, the platform may offer Aisha a driver who cannot respond, causing timeouts and cancellations. Hard rules come first; preference comes after.</a:t>
            </a:r>
          </a:p>
          <a:p xmlns:a="http://schemas.openxmlformats.org/drawingml/2006/main">
            <a:r>
              <a:t/>
            </a:r>
          </a:p>
          <a:p xmlns:a="http://schemas.openxmlformats.org/drawingml/2006/main">
            <a:r>
              <a:t>[Sources]</a:t>
            </a:r>
          </a:p>
          <a:p xmlns:a="http://schemas.openxmlformats.org/drawingml/2006/main">
            <a:r>
              <a:t>- content/system-design/01-ai-native-mobility-marketplace.md#7-component-deep-dive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Among viable drivers, we choose the most useful offer. An online feature is a fresh input, such as current traffic or driver state, used during a live decision. For Marco and the other candidates, features might include route time, recent acceptance behavior, rain, road closures, and how long each driver has waited. A learned ranker is a model that orders options by predicted usefulness using historical patterns and current inputs. It can estimate pickup time, acceptance chance, and cancellation risk better than distance alone. But no model gets to be the only path. A deterministic scorer ranks options with fixed, explainable rules that produce the same result for the same inputs. Ours combines map ETA, distance, and a fairness adjustment. The consequence is graceful operation: if inference is late, low-confidence, too costly, or disallowed by policy, dispatch still makes a transparent choice. Without a fallback, a model incident would turn into a marketplace outage. AI improves the choice; it never becomes permission to stop serving Aisha.</a:t>
            </a:r>
          </a:p>
          <a:p xmlns:a="http://schemas.openxmlformats.org/drawingml/2006/main">
            <a:r>
              <a:t/>
            </a:r>
          </a:p>
          <a:p xmlns:a="http://schemas.openxmlformats.org/drawingml/2006/main">
            <a:r>
              <a:t>[Sources]</a:t>
            </a:r>
          </a:p>
          <a:p xmlns:a="http://schemas.openxmlformats.org/drawingml/2006/main">
            <a:r>
              <a:t>- content/system-design/01-ai-native-mobility-marketplace.md#7-component-deep-dive</a:t>
            </a:r>
          </a:p>
          <a:p xmlns:a="http://schemas.openxmlformats.org/drawingml/2006/main">
            <a:r>
              <a:t>- content/system-design/01-ai-native-mobility-marketplace.md#13-ai-architecture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Ranking one driver is not enough when many riders ask at once. An optimizer selects the best allowed assignment across options while respecting constraints such as fairness and detour limits. Rather than greedily give every nearby request the same attractive driver, it considers a small batch of offers and chooses a combination that gives the marketplace a better overall result. We keep the optimization bounded so it finishes inside the match target; under overload, we can fall back to a simpler greedy rule. After selecting Marco for Aisha, dispatch creates a lease. A lease is a time-limited reservation that grants one worker temporary ownership of a resource. It says, for example, that Marco is reserved for Aisha’s offer for a short window. The consequence is no double booking: another rider cannot win the same driver while Marco decides. Without a lease, two dispatch workers may race, both send offers, and create an impossible real-world conflict.</a:t>
            </a:r>
          </a:p>
          <a:p xmlns:a="http://schemas.openxmlformats.org/drawingml/2006/main">
            <a:r>
              <a:t/>
            </a:r>
          </a:p>
          <a:p xmlns:a="http://schemas.openxmlformats.org/drawingml/2006/main">
            <a:r>
              <a:t>[Sources]</a:t>
            </a:r>
          </a:p>
          <a:p xmlns:a="http://schemas.openxmlformats.org/drawingml/2006/main">
            <a:r>
              <a:t>- content/system-design/01-ai-native-mobility-marketplace.md#7-component-deep-dive</a:t>
            </a:r>
          </a:p>
          <a:p xmlns:a="http://schemas.openxmlformats.org/drawingml/2006/main">
            <a:r>
              <a:t>- content/system-design/01-ai-native-mobility-marketplace.md#19-follow-up-questions-and-key-takeaways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pause at the decision point. The dispatch pipeline is map search, hard eligibility rules, scoring, bounded assignment, reservation, and offer. It is deliberately a sequence from cheap, certain checks to more sophisticated choices. Prediction question: where should a slow model stop Aisha’s ride? Take a moment to answer. It should stop nowhere. If the learned ranker exceeds its latency budget, returns low confidence, or cannot use a sensitive input, the deterministic fallback takes over. A deterministic fallback is a fixed safe path used when a model is slow, unavailable, low-confidence, or disallowed. Here it uses route time, distance, availability, and fairness rules to select a viable driver. The model result may improve efficiency, but the fixed path protects the product promise. This boundary is the core of an AI-native design: models are valuable advisors inside a dependable system, not fragile gatekeepers in front of it. Now we will trace exactly how Aisha’s request moves through that system.</a:t>
            </a:r>
          </a:p>
          <a:p xmlns:a="http://schemas.openxmlformats.org/drawingml/2006/main">
            <a:r>
              <a:t/>
            </a:r>
          </a:p>
          <a:p xmlns:a="http://schemas.openxmlformats.org/drawingml/2006/main">
            <a:r>
              <a:t>[Sources]</a:t>
            </a:r>
          </a:p>
          <a:p xmlns:a="http://schemas.openxmlformats.org/drawingml/2006/main">
            <a:r>
              <a:t>- content/system-design/01-ai-native-mobility-marketplace.md#8-critical-flow</a:t>
            </a:r>
          </a:p>
          <a:p xmlns:a="http://schemas.openxmlformats.org/drawingml/2006/main">
            <a:r>
              <a:t>- content/system-design/01-ai-native-mobility-marketplace.md#15-cost-controls-and-deterministic-fallbacks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Aisha first asks for a quote, which returns a price range, an ETA, and an expiration time. When she confirms, the app sends a trip command with an idempotency key. Idempotency means repeating the same command has the same effect as performing it once. In plain language, if her train-station network drops just after the tap, the app can retry without accidentally creating two rides. The trip service stores the request, records an outbox item, and asks dispatch for a match. Dispatch searches H3 cells, filters candidates, scores them, reserves Marco with a lease, and sends his app an offer. If the model path is unhealthy, it uses the deterministic route instead. Marco accepts; the trip service confirms the assignment using a version check so a late duplicate acceptance cannot overwrite the truth. Aisha sees Marco’s car and ETA. Each transition creates an event for the rest of the platform. Without idempotency and version checks, ordinary mobile retries become double trips, duplicated offers, and support tickets.</a:t>
            </a:r>
          </a:p>
          <a:p xmlns:a="http://schemas.openxmlformats.org/drawingml/2006/main">
            <a:r>
              <a:t/>
            </a:r>
          </a:p>
          <a:p xmlns:a="http://schemas.openxmlformats.org/drawingml/2006/main">
            <a:r>
              <a:t>[Sources]</a:t>
            </a:r>
          </a:p>
          <a:p xmlns:a="http://schemas.openxmlformats.org/drawingml/2006/main">
            <a:r>
              <a:t>- content/system-design/01-ai-native-mobility-marketplace.md#4-api-and-event-contracts</a:t>
            </a:r>
          </a:p>
          <a:p xmlns:a="http://schemas.openxmlformats.org/drawingml/2006/main">
            <a:r>
              <a:t>- content/system-design/01-ai-native-mobility-marketplace.md#8-critical-flow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systems fail in uneven ways. During a concert exit, location updates may surge before trip requests do. Backpressure is a controlled slowdown that keeps a fast producer from overwhelming a slower consumer. For example, the platform can lower noncritical location sampling or coalesce repeated points before it rejects an important ride command. That preserves Aisha’s ability to request a trip even when the map is busy. A circuit breaker temporarily blocks calls to an unhealthy dependency to prevent repeated failures from spreading. If a routing provider starts timing out, the breaker opens after a small number of failures, returns a bounded estimate or cached route data, and probes later for recovery. We also use bounded retries, dead-letter review for events that cannot be processed, and regional isolation. If a region is unhealthy, we may finish active trips from replicated state but stop new matching until safety and payment dependencies are safe. Without these controls, retry storms turn one slow service into a full outage.</a:t>
            </a:r>
          </a:p>
          <a:p xmlns:a="http://schemas.openxmlformats.org/drawingml/2006/main">
            <a:r>
              <a:t/>
            </a:r>
          </a:p>
          <a:p xmlns:a="http://schemas.openxmlformats.org/drawingml/2006/main">
            <a:r>
              <a:t>[Sources]</a:t>
            </a:r>
          </a:p>
          <a:p xmlns:a="http://schemas.openxmlformats.org/drawingml/2006/main">
            <a:r>
              <a:t>- content/system-design/01-ai-native-mobility-marketplace.md#11-reliability-and-failure-handling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map dot represents a person, so this system must protect people before it optimizes them. Privacy is the disciplined control of personal information so it is used only for legitimate, limited, and understandable purposes. Precise location should be encrypted, access should be restricted to carefully defined roles and workflows, and raw route history should expire under a documented retention policy. Payment details are tokenized so the marketplace avoids handling more sensitive data than necessary. Safety tools can detect suspicious GPS patterns or collusion signals, but a model should not silently punish someone. High-impact actions such as suspension, emergency escalation, cancellation, or refund require auditable policy and, where appropriate, human confirmation. The consequence is that AI assistants operate with scoped tools and minimized context, not broad access to every rider history. Without these boundaries, a technically clever platform can create surveillance, unfair enforcement, and irreversible harm. Trust is not an add-on feature; it is part of the architecture.</a:t>
            </a:r>
          </a:p>
          <a:p xmlns:a="http://schemas.openxmlformats.org/drawingml/2006/main">
            <a:r>
              <a:t/>
            </a:r>
          </a:p>
          <a:p xmlns:a="http://schemas.openxmlformats.org/drawingml/2006/main">
            <a:r>
              <a:t>[Sources]</a:t>
            </a:r>
          </a:p>
          <a:p xmlns:a="http://schemas.openxmlformats.org/drawingml/2006/main">
            <a:r>
              <a:t>- content/system-design/01-ai-native-mobility-marketplace.md#12-security-privacy-moderation-and-abuse-prevention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deployed model is not finished when it first looks accurate. Model drift is a decline or change in prediction quality because real-world patterns no longer match training data. A new road closure pattern or seasonal demand can make yesterday’s ETA model misleading. Shadow testing sends live-like inputs to a new model without letting it control outcomes, so results can be compared safely against the current path. A canary release exposes a new version to a small controlled share of traffic before wider rollout. Cost control is the use of budgets, caching, smaller models, and measurement to keep an operating path economically sustainable. Prediction question: when a model looks promising offline, should we turn it on for everyone? Take a moment. No. First measure ETA error, cancellation, acceptance, fairness slices, latency, overrides, drift, and cost using trace context across the request. Then expand only if it helps. If it does not, the deterministic path remains available and the product still works.</a:t>
            </a:r>
          </a:p>
          <a:p xmlns:a="http://schemas.openxmlformats.org/drawingml/2006/main">
            <a:r>
              <a:t/>
            </a:r>
          </a:p>
          <a:p xmlns:a="http://schemas.openxmlformats.org/drawingml/2006/main">
            <a:r>
              <a:t>[Sources]</a:t>
            </a:r>
          </a:p>
          <a:p xmlns:a="http://schemas.openxmlformats.org/drawingml/2006/main">
            <a:r>
              <a:t>- content/system-design/01-ai-native-mobility-marketplace.md#14-model-lifecycle-evaluation-and-observability</a:t>
            </a:r>
          </a:p>
          <a:p xmlns:a="http://schemas.openxmlformats.org/drawingml/2006/main">
            <a:r>
              <a:t>- content/system-design/01-ai-native-mobility-marketplace.md#15-cost-controls-and-deterministic-fallbacks</a:t>
            </a:r>
          </a:p>
          <a:p xmlns:a="http://schemas.openxmlformats.org/drawingml/2006/main">
            <a:r>
              <a:t>- https://opentelemetry.io/docs/specs/semconv/how-to-write-conventions/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can now reconstruct this system in an interview. Start with Aisha’s outcome: a quote, a safe match, live tracking, and exactly-once settlement. Clarify scope and quality targets. Estimate trip commands separately from the much larger location stream. Separate authoritative trip and payment truth from approximate telemetry. Use a regional boundary, a protected entry layer, focused owners, durable state, and published changes. For dispatch, explain spatial lookup, hard eligibility, learned advice, a transparent rules path, bounded optimization, and a temporary reservation. Then earn confidence by discussing overload, dependency failure, privacy, safety, model evaluation, and cost. Finally, ask yourself three follow-up questions. How do driver leases prevent double assignment? What happens when a GPS point is stale? How would scheduled rides change capacity and dispatch? The enduring lesson is not a list of technologies. It is a habit: make the product reliable first, make the AI helpful second, and always explain what happens when a component is missing or wrong. Practice this story aloud once, then redraw the flow from memory. That is how an architecture becomes an explanation you can confidently share. That is a design others can understand, critique, and improve.</a:t>
            </a:r>
          </a:p>
          <a:p xmlns:a="http://schemas.openxmlformats.org/drawingml/2006/main">
            <a:r>
              <a:t/>
            </a:r>
          </a:p>
          <a:p xmlns:a="http://schemas.openxmlformats.org/drawingml/2006/main">
            <a:r>
              <a:t>[Sources]</a:t>
            </a:r>
          </a:p>
          <a:p xmlns:a="http://schemas.openxmlformats.org/drawingml/2006/main">
            <a:r>
              <a:t>- content/system-design/01-ai-native-mobility-marketplace.md#18-45-minute-interview-walkthrough</a:t>
            </a:r>
          </a:p>
          <a:p xmlns:a="http://schemas.openxmlformats.org/drawingml/2006/main">
            <a:r>
              <a:t>- content/system-design/01-ai-native-mobility-marketplace.md#19-follow-up-questions-and-key-takeaways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2de4f9402040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663e33c53342fa" /><Relationship Type="http://schemas.openxmlformats.org/officeDocument/2006/relationships/slideLayout" Target="/ppt/slideLayouts/slideLayout1.xml" Id="R31311b138e5847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311b138e5847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6f844b289d449c" /><Relationship Type="http://schemas.openxmlformats.org/officeDocument/2006/relationships/notesSlide" Target="/ppt/notesSlides/notesSlide1.xml" Id="Ra063061ed04543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d627b6fa6e41ed" /><Relationship Type="http://schemas.openxmlformats.org/officeDocument/2006/relationships/notesSlide" Target="/ppt/notesSlides/notesSlide2.xml" Id="R73d2a28d352640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fb99dc656d4723" /><Relationship Type="http://schemas.openxmlformats.org/officeDocument/2006/relationships/notesSlide" Target="/ppt/notesSlides/notesSlide3.xml" Id="R8e1cb7332ca642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d3809d804145ac" /><Relationship Type="http://schemas.openxmlformats.org/officeDocument/2006/relationships/notesSlide" Target="/ppt/notesSlides/notesSlide4.xml" Id="Rd3fa490da85247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ac4b9a10cea43e4" /><Relationship Type="http://schemas.openxmlformats.org/officeDocument/2006/relationships/notesSlide" Target="/ppt/notesSlides/notesSlide5.xml" Id="Rda99982df8ae49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64ca3f85d24fe0" /><Relationship Type="http://schemas.openxmlformats.org/officeDocument/2006/relationships/notesSlide" Target="/ppt/notesSlides/notesSlide6.xml" Id="R5b40808d9d694a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7ebd3cac1c4803" /><Relationship Type="http://schemas.openxmlformats.org/officeDocument/2006/relationships/notesSlide" Target="/ppt/notesSlides/notesSlide7.xml" Id="R737f9c1b666c4a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48915f8304843c3" /><Relationship Type="http://schemas.openxmlformats.org/officeDocument/2006/relationships/notesSlide" Target="/ppt/notesSlides/notesSlide8.xml" Id="R6a30b275aa5c41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061d6ddb84641aa" /><Relationship Type="http://schemas.openxmlformats.org/officeDocument/2006/relationships/notesSlide" Target="/ppt/notesSlides/notesSlide9.xml" Id="Rca29f23405d149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fc56c786ad4dd6" /><Relationship Type="http://schemas.openxmlformats.org/officeDocument/2006/relationships/notesSlide" Target="/ppt/notesSlides/notesSlide10.xml" Id="R5a809172c6f54a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858999c0854d85" /><Relationship Type="http://schemas.openxmlformats.org/officeDocument/2006/relationships/notesSlide" Target="/ppt/notesSlides/notesSlide11.xml" Id="R833bbe2d42834f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eb13b2fda194b58" /><Relationship Type="http://schemas.openxmlformats.org/officeDocument/2006/relationships/notesSlide" Target="/ppt/notesSlides/notesSlide12.xml" Id="R05d89df1d89849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8391549d9d447c2" /><Relationship Type="http://schemas.openxmlformats.org/officeDocument/2006/relationships/image" Target="/ppt/media/image.png" Id="R2f221211bcdf4d5c" /><Relationship Type="http://schemas.openxmlformats.org/officeDocument/2006/relationships/image" Target="/ppt/media/image.svg" Id="R56daeae2a00a47b6" /><Relationship Type="http://schemas.openxmlformats.org/officeDocument/2006/relationships/notesSlide" Target="/ppt/notesSlides/notesSlide13.xml" Id="R3a05b6cb5f79482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efdf9348ecf42fd" /><Relationship Type="http://schemas.openxmlformats.org/officeDocument/2006/relationships/notesSlide" Target="/ppt/notesSlides/notesSlide14.xml" Id="R19c47b39a0e24f0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5f648441dfa48ad" /><Relationship Type="http://schemas.openxmlformats.org/officeDocument/2006/relationships/notesSlide" Target="/ppt/notesSlides/notesSlide15.xml" Id="R319a3fb7124b400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05414b35e2e4573" /><Relationship Type="http://schemas.openxmlformats.org/officeDocument/2006/relationships/notesSlide" Target="/ppt/notesSlides/notesSlide16.xml" Id="Rd3f66a52bd104b2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241c8f15f14419f" /><Relationship Type="http://schemas.openxmlformats.org/officeDocument/2006/relationships/image" Target="/ppt/media/image2.png" Id="R1b4973d2837b4126" /><Relationship Type="http://schemas.openxmlformats.org/officeDocument/2006/relationships/image" Target="/ppt/media/image2.svg" Id="R5369f5d855af4d09" /><Relationship Type="http://schemas.openxmlformats.org/officeDocument/2006/relationships/notesSlide" Target="/ppt/notesSlides/notesSlide17.xml" Id="R6c01576241d2449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56fcce7e43f4f3a" /><Relationship Type="http://schemas.openxmlformats.org/officeDocument/2006/relationships/notesSlide" Target="/ppt/notesSlides/notesSlide18.xml" Id="Rb61e5a0d3b904b7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2d0d3688b4949ce" /><Relationship Type="http://schemas.openxmlformats.org/officeDocument/2006/relationships/notesSlide" Target="/ppt/notesSlides/notesSlide19.xml" Id="Rf3be1543fead44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89c13a44d554b54" /><Relationship Type="http://schemas.openxmlformats.org/officeDocument/2006/relationships/notesSlide" Target="/ppt/notesSlides/notesSlide20.xml" Id="R79d5aa4605a1451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7bf99f82b9043e9" /><Relationship Type="http://schemas.openxmlformats.org/officeDocument/2006/relationships/image" Target="/ppt/media/image3.png" Id="R895ca0e44d704b0b" /><Relationship Type="http://schemas.openxmlformats.org/officeDocument/2006/relationships/image" Target="/ppt/media/image3.svg" Id="Rcada3aabaf524379" /><Relationship Type="http://schemas.openxmlformats.org/officeDocument/2006/relationships/notesSlide" Target="/ppt/notesSlides/notesSlide21.xml" Id="Rf30f1cf1196b4c7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4f7296f68224e0f" /><Relationship Type="http://schemas.openxmlformats.org/officeDocument/2006/relationships/notesSlide" Target="/ppt/notesSlides/notesSlide22.xml" Id="Rfa64c555a1b3409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8ae92aa352a4965" /><Relationship Type="http://schemas.openxmlformats.org/officeDocument/2006/relationships/notesSlide" Target="/ppt/notesSlides/notesSlide23.xml" Id="Ra6cc0ad930b7443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fdb31004ced48bf" /><Relationship Type="http://schemas.openxmlformats.org/officeDocument/2006/relationships/notesSlide" Target="/ppt/notesSlides/notesSlide24.xml" Id="R5c0711e4fad6418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08e1debe5a3481d" /><Relationship Type="http://schemas.openxmlformats.org/officeDocument/2006/relationships/notesSlide" Target="/ppt/notesSlides/notesSlide25.xml" Id="Ra581cae8977d4546" /></Relationships>
</file>

<file path=ppt/slides/slide1.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C8D66B2-27F3-4090-BAF1-7E2FC5F4479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58B8BAAB-4FF6-429B-9C12-777AF9AD8BA6}"/>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01  •  HOOK</a:t>
            </a:r>
          </a:p>
        </p:txBody>
      </p:sp>
      <p:sp>
        <p:nvSpPr>
          <p:cNvPr id="3" name="">
            <a:extLst xmlns:a="http://schemas.openxmlformats.org/drawingml/2006/main">
              <a:ext uri="{FF2B5EF4-FFF2-40B4-BE49-F238E27FC236}">
                <a16:creationId xmlns:a16="http://schemas.microsoft.com/office/drawing/2014/main" id="{E2D82152-42DB-4C25-AB51-43B263F4D042}"/>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AI-Native Mobility Marketplace</a:t>
            </a:r>
          </a:p>
        </p:txBody>
      </p:sp>
      <p:sp>
        <p:nvSpPr>
          <p:cNvPr id="4" name="">
            <a:extLst xmlns:a="http://schemas.openxmlformats.org/drawingml/2006/main">
              <a:ext uri="{FF2B5EF4-FFF2-40B4-BE49-F238E27FC236}">
                <a16:creationId xmlns:a16="http://schemas.microsoft.com/office/drawing/2014/main" id="{DABFA03B-63FD-4EED-ADAA-626011EF1A36}"/>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E63EC5BD-CF38-4D76-A3E7-B4B9A447A859}"/>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6D2C553D-7EDC-46CF-9272-38CCB8E9B795}"/>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1 / 25</a:t>
            </a:r>
          </a:p>
        </p:txBody>
      </p:sp>
      <p:sp>
        <p:nvSpPr>
          <p:cNvPr id="7" name="">
            <a:extLst xmlns:a="http://schemas.openxmlformats.org/drawingml/2006/main">
              <a:ext uri="{FF2B5EF4-FFF2-40B4-BE49-F238E27FC236}">
                <a16:creationId xmlns:a16="http://schemas.microsoft.com/office/drawing/2014/main" id="{0B8D5EA5-F006-427E-ACB8-4A281C37D542}"/>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A 30-minute blueprint for one dependable ride request.</a:t>
            </a:r>
          </a:p>
        </p:txBody>
      </p:sp>
      <p:sp>
        <p:nvSpPr>
          <p:cNvPr id="8" name="">
            <a:extLst xmlns:a="http://schemas.openxmlformats.org/drawingml/2006/main">
              <a:ext uri="{FF2B5EF4-FFF2-40B4-BE49-F238E27FC236}">
                <a16:creationId xmlns:a16="http://schemas.microsoft.com/office/drawing/2014/main" id="{F858250D-3E6E-4B39-AB1E-35A0788564D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9" name="">
            <a:extLst xmlns:a="http://schemas.openxmlformats.org/drawingml/2006/main">
              <a:ext uri="{FF2B5EF4-FFF2-40B4-BE49-F238E27FC236}">
                <a16:creationId xmlns:a16="http://schemas.microsoft.com/office/drawing/2014/main" id="{D5411437-E73D-4F5D-8462-B63BA32297C2}"/>
              </a:ext>
            </a:extLst>
          </p:cNvPr>
          <p:cNvSpPr>
            <a:spLocks xmlns:a="http://schemas.openxmlformats.org/drawingml/2006/main" noGrp="1"/>
          </p:cNvSpPr>
          <p:nvPr/>
        </p:nvSpPr>
        <p:spPr>
          <a:xfrm xmlns:a="http://schemas.openxmlformats.org/drawingml/2006/main">
            <a:off x="838200" y="952500"/>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2D3EE"/>
                </a:solidFill>
              </a:defRPr>
            </a:pPr>
            <a:r>
              <a:rPr sz="1350" b="1">
                <a:solidFill>
                  <a:srgbClr val="22D3EE"/>
                </a:solidFill>
              </a:rPr>
              <a:t>AI-NATIVE SYSTEM DESIGN INTERVIEW SERIES</a:t>
            </a:r>
          </a:p>
        </p:txBody>
      </p:sp>
      <p:sp>
        <p:nvSpPr>
          <p:cNvPr id="10" name="">
            <a:extLst xmlns:a="http://schemas.openxmlformats.org/drawingml/2006/main">
              <a:ext uri="{FF2B5EF4-FFF2-40B4-BE49-F238E27FC236}">
                <a16:creationId xmlns:a16="http://schemas.microsoft.com/office/drawing/2014/main" id="{5E18E4DE-CBAD-44EA-ADB3-5D42BE9065DF}"/>
              </a:ext>
            </a:extLst>
          </p:cNvPr>
          <p:cNvSpPr>
            <a:spLocks xmlns:a="http://schemas.openxmlformats.org/drawingml/2006/main" noGrp="1"/>
          </p:cNvSpPr>
          <p:nvPr/>
        </p:nvSpPr>
        <p:spPr>
          <a:xfrm xmlns:a="http://schemas.openxmlformats.org/drawingml/2006/main">
            <a:off x="838200" y="1504950"/>
            <a:ext cx="67627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200" b="1">
                <a:solidFill>
                  <a:srgbClr val="F8FAFC"/>
                </a:solidFill>
              </a:defRPr>
            </a:pPr>
            <a:r>
              <a:rPr sz="4200" b="1">
                <a:solidFill>
                  <a:srgbClr val="F8FAFC"/>
                </a:solidFill>
              </a:rPr>
              <a:t>AI-Native</a:t>
            </a:r>
          </a:p>
          <a:p xmlns:a="http://schemas.openxmlformats.org/drawingml/2006/main">
            <a:pPr algn="l">
              <a:defRPr sz="4200" b="1">
                <a:solidFill>
                  <a:srgbClr val="F8FAFC"/>
                </a:solidFill>
              </a:defRPr>
            </a:pPr>
            <a:r>
              <a:rPr sz="4200" b="1">
                <a:solidFill>
                  <a:srgbClr val="F8FAFC"/>
                </a:solidFill>
              </a:rPr>
              <a:t>Mobility Marketplace</a:t>
            </a:r>
          </a:p>
        </p:txBody>
      </p:sp>
      <p:sp>
        <p:nvSpPr>
          <p:cNvPr id="11" name="">
            <a:extLst xmlns:a="http://schemas.openxmlformats.org/drawingml/2006/main">
              <a:ext uri="{FF2B5EF4-FFF2-40B4-BE49-F238E27FC236}">
                <a16:creationId xmlns:a16="http://schemas.microsoft.com/office/drawing/2014/main" id="{8DDD3F9B-8FD1-4695-A21C-ED0229E63235}"/>
              </a:ext>
            </a:extLst>
          </p:cNvPr>
          <p:cNvSpPr>
            <a:spLocks xmlns:a="http://schemas.openxmlformats.org/drawingml/2006/main" noGrp="1"/>
          </p:cNvSpPr>
          <p:nvPr/>
        </p:nvSpPr>
        <p:spPr>
          <a:xfrm xmlns:a="http://schemas.openxmlformats.org/drawingml/2006/main">
            <a:off x="876300" y="3333750"/>
            <a:ext cx="609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A8C7D9"/>
                </a:solidFill>
              </a:defRPr>
            </a:pPr>
            <a:r>
              <a:rPr sz="2100" b="0">
                <a:solidFill>
                  <a:srgbClr val="A8C7D9"/>
                </a:solidFill>
              </a:rPr>
              <a:t>A 30-minute blueprint for one dependable ride request.</a:t>
            </a:r>
          </a:p>
        </p:txBody>
      </p:sp>
      <p:sp>
        <p:nvSpPr>
          <p:cNvPr id="12" name="">
            <a:extLst xmlns:a="http://schemas.openxmlformats.org/drawingml/2006/main">
              <a:ext uri="{FF2B5EF4-FFF2-40B4-BE49-F238E27FC236}">
                <a16:creationId xmlns:a16="http://schemas.microsoft.com/office/drawing/2014/main" id="{6311608F-04C5-4324-8FEE-04E68F9E9DC2}"/>
              </a:ext>
            </a:extLst>
          </p:cNvPr>
          <p:cNvSpPr>
            <a:spLocks xmlns:a="http://schemas.openxmlformats.org/drawingml/2006/main" noGrp="1"/>
          </p:cNvSpPr>
          <p:nvPr/>
        </p:nvSpPr>
        <p:spPr>
          <a:xfrm xmlns:a="http://schemas.openxmlformats.org/drawingml/2006/main">
            <a:off x="8286750" y="1847850"/>
            <a:ext cx="1809750" cy="857250"/>
          </a:xfrm>
          <a:prstGeom xmlns:a="http://schemas.openxmlformats.org/drawingml/2006/main" prst="roundRect">
            <a:avLst>
              <a:gd name="adj" fmla="val 17778"/>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Aisha</a:t>
            </a:r>
          </a:p>
          <a:p xmlns:a="http://schemas.openxmlformats.org/drawingml/2006/main">
            <a:pPr algn="ctr">
              <a:defRPr sz="1575" b="1">
                <a:solidFill>
                  <a:srgbClr val="F8FAFC"/>
                </a:solidFill>
              </a:defRPr>
            </a:pPr>
            <a:r>
              <a:rPr sz="1575" b="1">
                <a:solidFill>
                  <a:srgbClr val="F8FAFC"/>
                </a:solidFill>
              </a:rPr>
              <a:t>Rider</a:t>
            </a:r>
          </a:p>
        </p:txBody>
      </p:sp>
      <p:sp>
        <p:nvSpPr>
          <p:cNvPr id="13" name="">
            <a:extLst xmlns:a="http://schemas.openxmlformats.org/drawingml/2006/main">
              <a:ext uri="{FF2B5EF4-FFF2-40B4-BE49-F238E27FC236}">
                <a16:creationId xmlns:a16="http://schemas.microsoft.com/office/drawing/2014/main" id="{99189F4B-D9E7-4F8A-8B6D-1DDF7424C1F1}"/>
              </a:ext>
            </a:extLst>
          </p:cNvPr>
          <p:cNvSpPr>
            <a:spLocks xmlns:a="http://schemas.openxmlformats.org/drawingml/2006/main" noGrp="1"/>
          </p:cNvSpPr>
          <p:nvPr/>
        </p:nvSpPr>
        <p:spPr>
          <a:xfrm xmlns:a="http://schemas.openxmlformats.org/drawingml/2006/main">
            <a:off x="7905750" y="3286125"/>
            <a:ext cx="2571750" cy="914400"/>
          </a:xfrm>
          <a:prstGeom xmlns:a="http://schemas.openxmlformats.org/drawingml/2006/main" prst="roundRect">
            <a:avLst>
              <a:gd name="adj" fmla="val 16667"/>
            </a:avLst>
          </a:prstGeom>
          <a:solidFill xmlns:a="http://schemas.openxmlformats.org/drawingml/2006/main">
            <a:srgbClr val="0B2942"/>
          </a:solidFill>
          <a:ln xmlns:a="http://schemas.openxmlformats.org/drawingml/2006/main" w="14288">
            <a:solidFill>
              <a:srgbClr val="34D399"/>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Marketplace</a:t>
            </a:r>
          </a:p>
          <a:p xmlns:a="http://schemas.openxmlformats.org/drawingml/2006/main">
            <a:pPr algn="ctr">
              <a:defRPr sz="1575" b="1">
                <a:solidFill>
                  <a:srgbClr val="F8FAFC"/>
                </a:solidFill>
              </a:defRPr>
            </a:pPr>
            <a:r>
              <a:rPr sz="1575" b="1">
                <a:solidFill>
                  <a:srgbClr val="F8FAFC"/>
                </a:solidFill>
              </a:rPr>
              <a:t>platform</a:t>
            </a:r>
          </a:p>
        </p:txBody>
      </p:sp>
      <p:sp>
        <p:nvSpPr>
          <p:cNvPr id="14" name="">
            <a:extLst xmlns:a="http://schemas.openxmlformats.org/drawingml/2006/main">
              <a:ext uri="{FF2B5EF4-FFF2-40B4-BE49-F238E27FC236}">
                <a16:creationId xmlns:a16="http://schemas.microsoft.com/office/drawing/2014/main" id="{3E452D53-EEB0-4425-9646-079F1C2B2018}"/>
              </a:ext>
            </a:extLst>
          </p:cNvPr>
          <p:cNvSpPr>
            <a:spLocks xmlns:a="http://schemas.openxmlformats.org/drawingml/2006/main" noGrp="1"/>
          </p:cNvSpPr>
          <p:nvPr/>
        </p:nvSpPr>
        <p:spPr>
          <a:xfrm xmlns:a="http://schemas.openxmlformats.org/drawingml/2006/main">
            <a:off x="8286750" y="4791075"/>
            <a:ext cx="1809750" cy="857250"/>
          </a:xfrm>
          <a:prstGeom xmlns:a="http://schemas.openxmlformats.org/drawingml/2006/main" prst="roundRect">
            <a:avLst>
              <a:gd name="adj" fmla="val 17778"/>
            </a:avLst>
          </a:prstGeom>
          <a:solidFill xmlns:a="http://schemas.openxmlformats.org/drawingml/2006/main">
            <a:srgbClr val="0B2942"/>
          </a:solidFill>
          <a:ln xmlns:a="http://schemas.openxmlformats.org/drawingml/2006/main" w="14288">
            <a:solidFill>
              <a:srgbClr val="FBBF24"/>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Marco</a:t>
            </a:r>
          </a:p>
          <a:p xmlns:a="http://schemas.openxmlformats.org/drawingml/2006/main">
            <a:pPr algn="ctr">
              <a:defRPr sz="1575" b="1">
                <a:solidFill>
                  <a:srgbClr val="F8FAFC"/>
                </a:solidFill>
              </a:defRPr>
            </a:pPr>
            <a:r>
              <a:rPr sz="1575" b="1">
                <a:solidFill>
                  <a:srgbClr val="F8FAFC"/>
                </a:solidFill>
              </a:rPr>
              <a:t>Driver</a:t>
            </a:r>
          </a:p>
        </p:txBody>
      </p:sp>
      <p:cxnSp>
        <p:nvCxnSpPr>
          <p:cNvPr id="33" name=""/>
          <p:cNvCxnSpPr>
            <a:stCxn xmlns:a="http://schemas.openxmlformats.org/drawingml/2006/main" id="12" idx="2"/>
            <a:endCxn xmlns:a="http://schemas.openxmlformats.org/drawingml/2006/main" id="13" idx="0"/>
          </p:cNvCxnSpPr>
          <p:nvPr/>
        </p:nvCxnSpPr>
        <p:spPr>
          <a:xfrm xmlns:a="http://schemas.openxmlformats.org/drawingml/2006/main">
            <a:off x="9191625" y="2705100"/>
            <a:ext cx="0" cy="581025"/>
          </a:xfrm>
          <a:prstGeom xmlns:a="http://schemas.openxmlformats.org/drawingml/2006/main" prst="straightConnector1">
            <a:avLst/>
          </a:prstGeom>
          <a:ln xmlns:a="http://schemas.openxmlformats.org/drawingml/2006/main" w="23813">
            <a:solidFill>
              <a:srgbClr val="22D3EE"/>
            </a:solidFill>
            <a:prstDash val="solid"/>
            <a:headEnd type="triangle" w="sm" len="sm"/>
          </a:ln>
        </p:spPr>
      </p:cxnSp>
      <p:cxnSp>
        <p:nvCxnSpPr>
          <p:cNvPr id="34" name=""/>
          <p:cNvCxnSpPr>
            <a:stCxn xmlns:a="http://schemas.openxmlformats.org/drawingml/2006/main" id="13" idx="2"/>
            <a:endCxn xmlns:a="http://schemas.openxmlformats.org/drawingml/2006/main" id="14" idx="0"/>
          </p:cNvCxnSpPr>
          <p:nvPr/>
        </p:nvCxnSpPr>
        <p:spPr>
          <a:xfrm xmlns:a="http://schemas.openxmlformats.org/drawingml/2006/main">
            <a:off x="9191625" y="4200525"/>
            <a:ext cx="0" cy="590550"/>
          </a:xfrm>
          <a:prstGeom xmlns:a="http://schemas.openxmlformats.org/drawingml/2006/main" prst="straightConnector1">
            <a:avLst/>
          </a:prstGeom>
          <a:ln xmlns:a="http://schemas.openxmlformats.org/drawingml/2006/main" w="23813">
            <a:solidFill>
              <a:srgbClr val="34D399"/>
            </a:solidFill>
            <a:prstDash val="solid"/>
            <a:headEnd type="triangle" w="sm" len="sm"/>
          </a:ln>
        </p:spPr>
      </p:cxnSp>
      <p:sp>
        <p:nvSpPr>
          <p:cNvPr id="17" name="">
            <a:extLst xmlns:a="http://schemas.openxmlformats.org/drawingml/2006/main">
              <a:ext uri="{FF2B5EF4-FFF2-40B4-BE49-F238E27FC236}">
                <a16:creationId xmlns:a16="http://schemas.microsoft.com/office/drawing/2014/main" id="{B26BE015-87FF-473B-B505-D5D2C1ED63F0}"/>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8" name="">
            <a:extLst xmlns:a="http://schemas.openxmlformats.org/drawingml/2006/main">
              <a:ext uri="{FF2B5EF4-FFF2-40B4-BE49-F238E27FC236}">
                <a16:creationId xmlns:a16="http://schemas.microsoft.com/office/drawing/2014/main" id="{9773CC95-DBA8-408B-ABCD-168083F1DFB2}"/>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system design: System design is the practice of choosing components and rules that let a product work reliably at scale.</a:t>
            </a:r>
          </a:p>
        </p:txBody>
      </p:sp>
    </p:spTree>
    <p:extLst>
      <p:ext uri="{BB962C8B-B14F-4D97-AF65-F5344CB8AC3E}">
        <p14:creationId xmlns:p14="http://schemas.microsoft.com/office/powerpoint/2010/main" val="1675836713"/>
      </p:ext>
    </p:extLst>
  </p:cSld>
</p:sld>
</file>

<file path=ppt/slides/slide2.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547FE62-715A-4CAD-B83C-5DDF20970D0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45B7030F-22BA-4AB8-A1D2-EB6032A35EFB}"/>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02  •  HOOK</a:t>
            </a:r>
          </a:p>
        </p:txBody>
      </p:sp>
      <p:sp>
        <p:nvSpPr>
          <p:cNvPr id="3" name="">
            <a:extLst xmlns:a="http://schemas.openxmlformats.org/drawingml/2006/main">
              <a:ext uri="{FF2B5EF4-FFF2-40B4-BE49-F238E27FC236}">
                <a16:creationId xmlns:a16="http://schemas.microsoft.com/office/drawing/2014/main" id="{ECFDADD5-D761-42CE-80B9-876C2BCF205A}"/>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Let’s Follow One Ride Request</a:t>
            </a:r>
          </a:p>
        </p:txBody>
      </p:sp>
      <p:sp>
        <p:nvSpPr>
          <p:cNvPr id="4" name="">
            <a:extLst xmlns:a="http://schemas.openxmlformats.org/drawingml/2006/main">
              <a:ext uri="{FF2B5EF4-FFF2-40B4-BE49-F238E27FC236}">
                <a16:creationId xmlns:a16="http://schemas.microsoft.com/office/drawing/2014/main" id="{EF67571F-8348-4E21-8A61-598C9CDACB96}"/>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D3796FF2-518B-4D6B-8378-5D9CCD0717F4}"/>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A3CC6AE8-E416-4F08-AA03-D9AA52F2C0B1}"/>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2 / 25</a:t>
            </a:r>
          </a:p>
        </p:txBody>
      </p:sp>
      <p:sp>
        <p:nvSpPr>
          <p:cNvPr id="7" name="">
            <a:extLst xmlns:a="http://schemas.openxmlformats.org/drawingml/2006/main">
              <a:ext uri="{FF2B5EF4-FFF2-40B4-BE49-F238E27FC236}">
                <a16:creationId xmlns:a16="http://schemas.microsoft.com/office/drawing/2014/main" id="{B899F0D2-2B17-4C45-A4E1-3D3FE1C8338E}"/>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A rider asks. A driver responds. The platform coordinates safely.</a:t>
            </a:r>
          </a:p>
        </p:txBody>
      </p:sp>
      <p:sp>
        <p:nvSpPr>
          <p:cNvPr id="8" name="">
            <a:extLst xmlns:a="http://schemas.openxmlformats.org/drawingml/2006/main">
              <a:ext uri="{FF2B5EF4-FFF2-40B4-BE49-F238E27FC236}">
                <a16:creationId xmlns:a16="http://schemas.microsoft.com/office/drawing/2014/main" id="{B4AD6B53-6584-4DFA-AD35-7BF009D7F5AD}"/>
              </a:ext>
            </a:extLst>
          </p:cNvPr>
          <p:cNvSpPr>
            <a:spLocks xmlns:a="http://schemas.openxmlformats.org/drawingml/2006/main" noGrp="1"/>
          </p:cNvSpPr>
          <p:nvPr/>
        </p:nvSpPr>
        <p:spPr>
          <a:xfrm xmlns:a="http://schemas.openxmlformats.org/drawingml/2006/main">
            <a:off x="1238250" y="2571750"/>
            <a:ext cx="1905000" cy="914400"/>
          </a:xfrm>
          <a:prstGeom xmlns:a="http://schemas.openxmlformats.org/drawingml/2006/main" prst="roundRect">
            <a:avLst>
              <a:gd name="adj" fmla="val 16667"/>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Aisha</a:t>
            </a:r>
          </a:p>
          <a:p xmlns:a="http://schemas.openxmlformats.org/drawingml/2006/main">
            <a:pPr algn="ctr">
              <a:defRPr sz="1350" b="1">
                <a:solidFill>
                  <a:srgbClr val="F8FAFC"/>
                </a:solidFill>
              </a:defRPr>
            </a:pPr>
            <a:r>
              <a:rPr sz="1350" b="1">
                <a:solidFill>
                  <a:srgbClr val="F8FAFC"/>
                </a:solidFill>
              </a:rPr>
              <a:t>asks for a ride</a:t>
            </a:r>
          </a:p>
        </p:txBody>
      </p:sp>
      <p:sp>
        <p:nvSpPr>
          <p:cNvPr id="9" name="">
            <a:extLst xmlns:a="http://schemas.openxmlformats.org/drawingml/2006/main">
              <a:ext uri="{FF2B5EF4-FFF2-40B4-BE49-F238E27FC236}">
                <a16:creationId xmlns:a16="http://schemas.microsoft.com/office/drawing/2014/main" id="{62DAE951-862B-4A29-94B9-7AD8941D3E77}"/>
              </a:ext>
            </a:extLst>
          </p:cNvPr>
          <p:cNvSpPr>
            <a:spLocks xmlns:a="http://schemas.openxmlformats.org/drawingml/2006/main" noGrp="1"/>
          </p:cNvSpPr>
          <p:nvPr/>
        </p:nvSpPr>
        <p:spPr>
          <a:xfrm xmlns:a="http://schemas.openxmlformats.org/drawingml/2006/main">
            <a:off x="5143500" y="2571750"/>
            <a:ext cx="2286000" cy="914400"/>
          </a:xfrm>
          <a:prstGeom xmlns:a="http://schemas.openxmlformats.org/drawingml/2006/main" prst="roundRect">
            <a:avLst>
              <a:gd name="adj" fmla="val 16667"/>
            </a:avLst>
          </a:prstGeom>
          <a:solidFill xmlns:a="http://schemas.openxmlformats.org/drawingml/2006/main">
            <a:srgbClr val="0B2942"/>
          </a:solidFill>
          <a:ln xmlns:a="http://schemas.openxmlformats.org/drawingml/2006/main" w="14288">
            <a:solidFill>
              <a:srgbClr val="34D399"/>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Marketplace</a:t>
            </a:r>
          </a:p>
          <a:p xmlns:a="http://schemas.openxmlformats.org/drawingml/2006/main">
            <a:pPr algn="ctr">
              <a:defRPr sz="1350" b="1">
                <a:solidFill>
                  <a:srgbClr val="F8FAFC"/>
                </a:solidFill>
              </a:defRPr>
            </a:pPr>
            <a:r>
              <a:rPr sz="1350" b="1">
                <a:solidFill>
                  <a:srgbClr val="F8FAFC"/>
                </a:solidFill>
              </a:rPr>
              <a:t>coordinates safely</a:t>
            </a:r>
          </a:p>
        </p:txBody>
      </p:sp>
      <p:sp>
        <p:nvSpPr>
          <p:cNvPr id="10" name="">
            <a:extLst xmlns:a="http://schemas.openxmlformats.org/drawingml/2006/main">
              <a:ext uri="{FF2B5EF4-FFF2-40B4-BE49-F238E27FC236}">
                <a16:creationId xmlns:a16="http://schemas.microsoft.com/office/drawing/2014/main" id="{297D7F27-70F8-48A3-AA83-6CF3E3D3BF00}"/>
              </a:ext>
            </a:extLst>
          </p:cNvPr>
          <p:cNvSpPr>
            <a:spLocks xmlns:a="http://schemas.openxmlformats.org/drawingml/2006/main" noGrp="1"/>
          </p:cNvSpPr>
          <p:nvPr/>
        </p:nvSpPr>
        <p:spPr>
          <a:xfrm xmlns:a="http://schemas.openxmlformats.org/drawingml/2006/main">
            <a:off x="9048750" y="2571750"/>
            <a:ext cx="1905000" cy="914400"/>
          </a:xfrm>
          <a:prstGeom xmlns:a="http://schemas.openxmlformats.org/drawingml/2006/main" prst="roundRect">
            <a:avLst>
              <a:gd name="adj" fmla="val 16667"/>
            </a:avLst>
          </a:prstGeom>
          <a:solidFill xmlns:a="http://schemas.openxmlformats.org/drawingml/2006/main">
            <a:srgbClr val="0B2942"/>
          </a:solidFill>
          <a:ln xmlns:a="http://schemas.openxmlformats.org/drawingml/2006/main" w="14288">
            <a:solidFill>
              <a:srgbClr val="FBBF24"/>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Marco</a:t>
            </a:r>
          </a:p>
          <a:p xmlns:a="http://schemas.openxmlformats.org/drawingml/2006/main">
            <a:pPr algn="ctr">
              <a:defRPr sz="1350" b="1">
                <a:solidFill>
                  <a:srgbClr val="F8FAFC"/>
                </a:solidFill>
              </a:defRPr>
            </a:pPr>
            <a:r>
              <a:rPr sz="1350" b="1">
                <a:solidFill>
                  <a:srgbClr val="F8FAFC"/>
                </a:solidFill>
              </a:rPr>
              <a:t>responds to an offer</a:t>
            </a:r>
          </a:p>
        </p:txBody>
      </p:sp>
      <p:cxnSp>
        <p:nvCxnSpPr>
          <p:cNvPr id="26" name=""/>
          <p:cNvCxnSpPr>
            <a:stCxn xmlns:a="http://schemas.openxmlformats.org/drawingml/2006/main" id="8" idx="3"/>
            <a:endCxn xmlns:a="http://schemas.openxmlformats.org/drawingml/2006/main" id="9" idx="1"/>
          </p:cNvCxnSpPr>
          <p:nvPr/>
        </p:nvCxnSpPr>
        <p:spPr>
          <a:xfrm xmlns:a="http://schemas.openxmlformats.org/drawingml/2006/main">
            <a:off x="3143250" y="3028950"/>
            <a:ext cx="2000250" cy="0"/>
          </a:xfrm>
          <a:prstGeom xmlns:a="http://schemas.openxmlformats.org/drawingml/2006/main" prst="straightConnector1">
            <a:avLst/>
          </a:prstGeom>
          <a:ln xmlns:a="http://schemas.openxmlformats.org/drawingml/2006/main" w="23813">
            <a:solidFill>
              <a:srgbClr val="22D3EE"/>
            </a:solidFill>
            <a:prstDash val="solid"/>
            <a:headEnd type="triangle" w="sm" len="sm"/>
          </a:ln>
        </p:spPr>
      </p:cxnSp>
      <p:cxnSp>
        <p:nvCxnSpPr>
          <p:cNvPr id="27" name=""/>
          <p:cNvCxnSpPr>
            <a:stCxn xmlns:a="http://schemas.openxmlformats.org/drawingml/2006/main" id="9" idx="3"/>
            <a:endCxn xmlns:a="http://schemas.openxmlformats.org/drawingml/2006/main" id="10" idx="1"/>
          </p:cNvCxnSpPr>
          <p:nvPr/>
        </p:nvCxnSpPr>
        <p:spPr>
          <a:xfrm xmlns:a="http://schemas.openxmlformats.org/drawingml/2006/main">
            <a:off x="7429500" y="3028950"/>
            <a:ext cx="1619250" cy="0"/>
          </a:xfrm>
          <a:prstGeom xmlns:a="http://schemas.openxmlformats.org/drawingml/2006/main" prst="straightConnector1">
            <a:avLst/>
          </a:prstGeom>
          <a:ln xmlns:a="http://schemas.openxmlformats.org/drawingml/2006/main" w="23813">
            <a:solidFill>
              <a:srgbClr val="34D399"/>
            </a:solidFill>
            <a:prstDash val="solid"/>
            <a:headEnd type="triangle" w="sm" len="sm"/>
          </a:ln>
        </p:spPr>
      </p:cxnSp>
      <p:sp>
        <p:nvSpPr>
          <p:cNvPr id="13" name="">
            <a:extLst xmlns:a="http://schemas.openxmlformats.org/drawingml/2006/main">
              <a:ext uri="{FF2B5EF4-FFF2-40B4-BE49-F238E27FC236}">
                <a16:creationId xmlns:a16="http://schemas.microsoft.com/office/drawing/2014/main" id="{9F9540C2-BE54-482A-BDA6-584D551E24C6}"/>
              </a:ext>
            </a:extLst>
          </p:cNvPr>
          <p:cNvSpPr>
            <a:spLocks xmlns:a="http://schemas.openxmlformats.org/drawingml/2006/main" noGrp="1"/>
          </p:cNvSpPr>
          <p:nvPr/>
        </p:nvSpPr>
        <p:spPr>
          <a:xfrm xmlns:a="http://schemas.openxmlformats.org/drawingml/2006/main">
            <a:off x="1476375" y="4238625"/>
            <a:ext cx="923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0">
                <a:solidFill>
                  <a:srgbClr val="A8C7D9"/>
                </a:solidFill>
              </a:defRPr>
            </a:pPr>
            <a:r>
              <a:rPr sz="1875" b="0">
                <a:solidFill>
                  <a:srgbClr val="A8C7D9"/>
                </a:solidFill>
              </a:rPr>
              <a:t>Actors are the people and systems that participate in a flow.</a:t>
            </a:r>
          </a:p>
        </p:txBody>
      </p:sp>
      <p:sp>
        <p:nvSpPr>
          <p:cNvPr id="14" name="">
            <a:extLst xmlns:a="http://schemas.openxmlformats.org/drawingml/2006/main">
              <a:ext uri="{FF2B5EF4-FFF2-40B4-BE49-F238E27FC236}">
                <a16:creationId xmlns:a16="http://schemas.microsoft.com/office/drawing/2014/main" id="{44E878EC-FEF7-4CCB-924B-23EA468634D5}"/>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5" name="">
            <a:extLst xmlns:a="http://schemas.openxmlformats.org/drawingml/2006/main">
              <a:ext uri="{FF2B5EF4-FFF2-40B4-BE49-F238E27FC236}">
                <a16:creationId xmlns:a16="http://schemas.microsoft.com/office/drawing/2014/main" id="{5F9D0D10-DFF5-4D01-ABA2-43929D19B11D}"/>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actor: An actor is a person or external system that participates in a product flow.</a:t>
            </a:r>
          </a:p>
        </p:txBody>
      </p:sp>
    </p:spTree>
    <p:extLst>
      <p:ext uri="{BB962C8B-B14F-4D97-AF65-F5344CB8AC3E}">
        <p14:creationId xmlns:p14="http://schemas.microsoft.com/office/powerpoint/2010/main" val="1693712965"/>
      </p:ext>
    </p:extLst>
  </p:cSld>
</p:sld>
</file>

<file path=ppt/slides/slide3.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002A142-CAE4-456C-A572-0AB3FEF8A60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40B43959-0F27-429D-8AAA-D9658CE31AF9}"/>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03  •  HOOK</a:t>
            </a:r>
          </a:p>
        </p:txBody>
      </p:sp>
      <p:sp>
        <p:nvSpPr>
          <p:cNvPr id="3" name="">
            <a:extLst xmlns:a="http://schemas.openxmlformats.org/drawingml/2006/main">
              <a:ext uri="{FF2B5EF4-FFF2-40B4-BE49-F238E27FC236}">
                <a16:creationId xmlns:a16="http://schemas.microsoft.com/office/drawing/2014/main" id="{64E02D2C-65E8-4E81-A263-C632A728111F}"/>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Why Matching Is Hard</a:t>
            </a:r>
          </a:p>
        </p:txBody>
      </p:sp>
      <p:sp>
        <p:nvSpPr>
          <p:cNvPr id="4" name="">
            <a:extLst xmlns:a="http://schemas.openxmlformats.org/drawingml/2006/main">
              <a:ext uri="{FF2B5EF4-FFF2-40B4-BE49-F238E27FC236}">
                <a16:creationId xmlns:a16="http://schemas.microsoft.com/office/drawing/2014/main" id="{448B26CF-68AE-40E7-8D02-64DE54AE38F7}"/>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AEC1801A-89F2-4AE9-B602-28DED40E51BF}"/>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4D0BBBD9-EC2B-44F9-A759-12A53AD09B90}"/>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3 / 25</a:t>
            </a:r>
          </a:p>
        </p:txBody>
      </p:sp>
      <p:sp>
        <p:nvSpPr>
          <p:cNvPr id="7" name="">
            <a:extLst xmlns:a="http://schemas.openxmlformats.org/drawingml/2006/main">
              <a:ext uri="{FF2B5EF4-FFF2-40B4-BE49-F238E27FC236}">
                <a16:creationId xmlns:a16="http://schemas.microsoft.com/office/drawing/2014/main" id="{F3A17FD8-F0EF-4A84-A807-61C32FFDD65E}"/>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Nearby is changing. Fair, fast, and safe must all hold together.</a:t>
            </a:r>
          </a:p>
        </p:txBody>
      </p:sp>
      <p:sp>
        <p:nvSpPr>
          <p:cNvPr id="8" name="">
            <a:extLst xmlns:a="http://schemas.openxmlformats.org/drawingml/2006/main">
              <a:ext uri="{FF2B5EF4-FFF2-40B4-BE49-F238E27FC236}">
                <a16:creationId xmlns:a16="http://schemas.microsoft.com/office/drawing/2014/main" id="{87BB55BC-6BB8-4C6D-A513-9A758A3465F2}"/>
              </a:ext>
            </a:extLst>
          </p:cNvPr>
          <p:cNvSpPr>
            <a:spLocks xmlns:a="http://schemas.openxmlformats.org/drawingml/2006/main" noGrp="1"/>
          </p:cNvSpPr>
          <p:nvPr/>
        </p:nvSpPr>
        <p:spPr>
          <a:xfrm xmlns:a="http://schemas.openxmlformats.org/drawingml/2006/main">
            <a:off x="933450" y="2190750"/>
            <a:ext cx="6667500" cy="2857500"/>
          </a:xfrm>
          <a:prstGeom xmlns:a="http://schemas.openxmlformats.org/drawingml/2006/main" prst="roundRect">
            <a:avLst>
              <a:gd name="adj" fmla="val 5333"/>
            </a:avLst>
          </a:prstGeom>
          <a:solidFill xmlns:a="http://schemas.openxmlformats.org/drawingml/2006/main">
            <a:srgbClr val="08263D"/>
          </a:solidFill>
          <a:ln xmlns:a="http://schemas.openxmlformats.org/drawingml/2006/main" w="14288">
            <a:solidFill>
              <a:srgbClr val="1E4A66"/>
            </a:solidFill>
            <a:prstDash val="solid"/>
          </a:ln>
        </p:spPr>
      </p:sp>
      <p:sp>
        <p:nvSpPr>
          <p:cNvPr id="9" name="">
            <a:extLst xmlns:a="http://schemas.openxmlformats.org/drawingml/2006/main">
              <a:ext uri="{FF2B5EF4-FFF2-40B4-BE49-F238E27FC236}">
                <a16:creationId xmlns:a16="http://schemas.microsoft.com/office/drawing/2014/main" id="{CC90DB04-44BC-4E3D-A685-BE1BD8475295}"/>
              </a:ext>
            </a:extLst>
          </p:cNvPr>
          <p:cNvSpPr>
            <a:spLocks xmlns:a="http://schemas.openxmlformats.org/drawingml/2006/main" noGrp="1"/>
          </p:cNvSpPr>
          <p:nvPr/>
        </p:nvSpPr>
        <p:spPr>
          <a:xfrm xmlns:a="http://schemas.openxmlformats.org/drawingml/2006/main">
            <a:off x="1143000" y="23812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A8C7D9"/>
                </a:solidFill>
              </a:defRPr>
            </a:pPr>
            <a:r>
              <a:rPr sz="1275" b="1">
                <a:solidFill>
                  <a:srgbClr val="A8C7D9"/>
                </a:solidFill>
              </a:rPr>
              <a:t>CONCERT EXIT</a:t>
            </a:r>
          </a:p>
        </p:txBody>
      </p:sp>
      <p:sp>
        <p:nvSpPr>
          <p:cNvPr id="10" name="">
            <a:extLst xmlns:a="http://schemas.openxmlformats.org/drawingml/2006/main">
              <a:ext uri="{FF2B5EF4-FFF2-40B4-BE49-F238E27FC236}">
                <a16:creationId xmlns:a16="http://schemas.microsoft.com/office/drawing/2014/main" id="{005CEF09-5815-40CE-9A93-AA73229863D0}"/>
              </a:ext>
            </a:extLst>
          </p:cNvPr>
          <p:cNvSpPr>
            <a:spLocks xmlns:a="http://schemas.openxmlformats.org/drawingml/2006/main" noGrp="1"/>
          </p:cNvSpPr>
          <p:nvPr/>
        </p:nvSpPr>
        <p:spPr>
          <a:xfrm xmlns:a="http://schemas.openxmlformats.org/drawingml/2006/main">
            <a:off x="2762250" y="3429000"/>
            <a:ext cx="857250" cy="533400"/>
          </a:xfrm>
          <a:prstGeom xmlns:a="http://schemas.openxmlformats.org/drawingml/2006/main" prst="roundRect">
            <a:avLst>
              <a:gd name="adj" fmla="val 28571"/>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Aisha</a:t>
            </a:r>
          </a:p>
        </p:txBody>
      </p:sp>
      <p:sp>
        <p:nvSpPr>
          <p:cNvPr id="11" name="">
            <a:extLst xmlns:a="http://schemas.openxmlformats.org/drawingml/2006/main">
              <a:ext uri="{FF2B5EF4-FFF2-40B4-BE49-F238E27FC236}">
                <a16:creationId xmlns:a16="http://schemas.microsoft.com/office/drawing/2014/main" id="{DE9F30E6-B3F8-47E3-B70A-94E2CA0A6EF8}"/>
              </a:ext>
            </a:extLst>
          </p:cNvPr>
          <p:cNvSpPr>
            <a:spLocks xmlns:a="http://schemas.openxmlformats.org/drawingml/2006/main" noGrp="1"/>
          </p:cNvSpPr>
          <p:nvPr/>
        </p:nvSpPr>
        <p:spPr>
          <a:xfrm xmlns:a="http://schemas.openxmlformats.org/drawingml/2006/main">
            <a:off x="4333875" y="3048000"/>
            <a:ext cx="857250" cy="533400"/>
          </a:xfrm>
          <a:prstGeom xmlns:a="http://schemas.openxmlformats.org/drawingml/2006/main" prst="roundRect">
            <a:avLst>
              <a:gd name="adj" fmla="val 28571"/>
            </a:avLst>
          </a:prstGeom>
          <a:solidFill xmlns:a="http://schemas.openxmlformats.org/drawingml/2006/main">
            <a:srgbClr val="0B2942"/>
          </a:solidFill>
          <a:ln xmlns:a="http://schemas.openxmlformats.org/drawingml/2006/main" w="14288">
            <a:solidFill>
              <a:srgbClr val="34D399"/>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Marco</a:t>
            </a:r>
          </a:p>
        </p:txBody>
      </p:sp>
      <p:sp>
        <p:nvSpPr>
          <p:cNvPr id="12" name="">
            <a:extLst xmlns:a="http://schemas.openxmlformats.org/drawingml/2006/main">
              <a:ext uri="{FF2B5EF4-FFF2-40B4-BE49-F238E27FC236}">
                <a16:creationId xmlns:a16="http://schemas.microsoft.com/office/drawing/2014/main" id="{9A85FC7F-AD28-40D8-A824-A9D624A86DBB}"/>
              </a:ext>
            </a:extLst>
          </p:cNvPr>
          <p:cNvSpPr>
            <a:spLocks xmlns:a="http://schemas.openxmlformats.org/drawingml/2006/main" noGrp="1"/>
          </p:cNvSpPr>
          <p:nvPr/>
        </p:nvSpPr>
        <p:spPr>
          <a:xfrm xmlns:a="http://schemas.openxmlformats.org/drawingml/2006/main">
            <a:off x="5715000" y="3857625"/>
            <a:ext cx="857250" cy="533400"/>
          </a:xfrm>
          <a:prstGeom xmlns:a="http://schemas.openxmlformats.org/drawingml/2006/main" prst="roundRect">
            <a:avLst>
              <a:gd name="adj" fmla="val 28571"/>
            </a:avLst>
          </a:prstGeom>
          <a:solidFill xmlns:a="http://schemas.openxmlformats.org/drawingml/2006/main">
            <a:srgbClr val="0B2942"/>
          </a:solidFill>
          <a:ln xmlns:a="http://schemas.openxmlformats.org/drawingml/2006/main" w="14288">
            <a:solidFill>
              <a:srgbClr val="FBBF24"/>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Busy</a:t>
            </a:r>
          </a:p>
        </p:txBody>
      </p:sp>
      <p:sp>
        <p:nvSpPr>
          <p:cNvPr id="13" name="">
            <a:extLst xmlns:a="http://schemas.openxmlformats.org/drawingml/2006/main">
              <a:ext uri="{FF2B5EF4-FFF2-40B4-BE49-F238E27FC236}">
                <a16:creationId xmlns:a16="http://schemas.microsoft.com/office/drawing/2014/main" id="{006017BE-DAD3-45BE-BDB8-4ED59C2FD064}"/>
              </a:ext>
            </a:extLst>
          </p:cNvPr>
          <p:cNvSpPr>
            <a:spLocks xmlns:a="http://schemas.openxmlformats.org/drawingml/2006/main" noGrp="1"/>
          </p:cNvSpPr>
          <p:nvPr/>
        </p:nvSpPr>
        <p:spPr>
          <a:xfrm xmlns:a="http://schemas.openxmlformats.org/drawingml/2006/main">
            <a:off x="6572250" y="2667000"/>
            <a:ext cx="857250" cy="533400"/>
          </a:xfrm>
          <a:prstGeom xmlns:a="http://schemas.openxmlformats.org/drawingml/2006/main" prst="roundRect">
            <a:avLst>
              <a:gd name="adj" fmla="val 28571"/>
            </a:avLst>
          </a:prstGeom>
          <a:solidFill xmlns:a="http://schemas.openxmlformats.org/drawingml/2006/main">
            <a:srgbClr val="0B2942"/>
          </a:solidFill>
          <a:ln xmlns:a="http://schemas.openxmlformats.org/drawingml/2006/main" w="14288">
            <a:solidFill>
              <a:srgbClr val="FB7185"/>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Stale</a:t>
            </a:r>
          </a:p>
        </p:txBody>
      </p:sp>
      <p:sp>
        <p:nvSpPr>
          <p:cNvPr id="14" name="">
            <a:extLst xmlns:a="http://schemas.openxmlformats.org/drawingml/2006/main">
              <a:ext uri="{FF2B5EF4-FFF2-40B4-BE49-F238E27FC236}">
                <a16:creationId xmlns:a16="http://schemas.microsoft.com/office/drawing/2014/main" id="{271E1B07-8848-4F08-8574-84F122C06332}"/>
              </a:ext>
            </a:extLst>
          </p:cNvPr>
          <p:cNvSpPr>
            <a:spLocks xmlns:a="http://schemas.openxmlformats.org/drawingml/2006/main" noGrp="1"/>
          </p:cNvSpPr>
          <p:nvPr/>
        </p:nvSpPr>
        <p:spPr>
          <a:xfrm xmlns:a="http://schemas.openxmlformats.org/drawingml/2006/main">
            <a:off x="8191500" y="1809750"/>
            <a:ext cx="3095625" cy="819150"/>
          </a:xfrm>
          <a:prstGeom xmlns:a="http://schemas.openxmlformats.org/drawingml/2006/main" prst="roundRect">
            <a:avLst>
              <a:gd name="adj" fmla="val 18605"/>
            </a:avLst>
          </a:prstGeom>
          <a:solidFill xmlns:a="http://schemas.openxmlformats.org/drawingml/2006/main">
            <a:srgbClr val="163047"/>
          </a:solidFill>
          <a:ln xmlns:a="http://schemas.openxmlformats.org/drawingml/2006/main" w="14288">
            <a:solidFill>
              <a:srgbClr val="FBBF24"/>
            </a:solidFill>
            <a:prstDash val="solid"/>
          </a:ln>
        </p:spPr>
      </p:sp>
      <p:sp>
        <p:nvSpPr>
          <p:cNvPr id="15" name="">
            <a:extLst xmlns:a="http://schemas.openxmlformats.org/drawingml/2006/main">
              <a:ext uri="{FF2B5EF4-FFF2-40B4-BE49-F238E27FC236}">
                <a16:creationId xmlns:a16="http://schemas.microsoft.com/office/drawing/2014/main" id="{91DC58AD-9EF8-41C0-857F-B5D9BEBE1F56}"/>
              </a:ext>
            </a:extLst>
          </p:cNvPr>
          <p:cNvSpPr>
            <a:spLocks xmlns:a="http://schemas.openxmlformats.org/drawingml/2006/main" noGrp="1"/>
          </p:cNvSpPr>
          <p:nvPr/>
        </p:nvSpPr>
        <p:spPr>
          <a:xfrm xmlns:a="http://schemas.openxmlformats.org/drawingml/2006/main">
            <a:off x="8401050" y="1952625"/>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BBF24"/>
                </a:solidFill>
              </a:defRPr>
            </a:pPr>
            <a:r>
              <a:rPr sz="1125" b="1">
                <a:solidFill>
                  <a:srgbClr val="FBBF24"/>
                </a:solidFill>
              </a:rPr>
              <a:t>PAUSE &amp; PREDICT</a:t>
            </a:r>
          </a:p>
        </p:txBody>
      </p:sp>
      <p:sp>
        <p:nvSpPr>
          <p:cNvPr id="16" name="">
            <a:extLst xmlns:a="http://schemas.openxmlformats.org/drawingml/2006/main">
              <a:ext uri="{FF2B5EF4-FFF2-40B4-BE49-F238E27FC236}">
                <a16:creationId xmlns:a16="http://schemas.microsoft.com/office/drawing/2014/main" id="{779C9CF5-03DD-485B-BEA9-7A26D46DB239}"/>
              </a:ext>
            </a:extLst>
          </p:cNvPr>
          <p:cNvSpPr>
            <a:spLocks xmlns:a="http://schemas.openxmlformats.org/drawingml/2006/main" noGrp="1"/>
          </p:cNvSpPr>
          <p:nvPr/>
        </p:nvSpPr>
        <p:spPr>
          <a:xfrm xmlns:a="http://schemas.openxmlformats.org/drawingml/2006/main">
            <a:off x="8401050" y="2209800"/>
            <a:ext cx="2619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8FAFC"/>
                </a:solidFill>
              </a:defRPr>
            </a:pPr>
            <a:r>
              <a:rPr sz="1350" b="1">
                <a:solidFill>
                  <a:srgbClr val="F8FAFC"/>
                </a:solidFill>
              </a:rPr>
              <a:t>Is the closest map dot always the best match?</a:t>
            </a:r>
          </a:p>
        </p:txBody>
      </p:sp>
    </p:spTree>
    <p:extLst>
      <p:ext uri="{BB962C8B-B14F-4D97-AF65-F5344CB8AC3E}">
        <p14:creationId xmlns:p14="http://schemas.microsoft.com/office/powerpoint/2010/main" val="553171023"/>
      </p:ext>
    </p:extLst>
  </p:cSld>
</p:sld>
</file>

<file path=ppt/slides/slide4.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CCE3419-C85E-4BA8-9BAD-833C31FD423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863E1A93-83B2-4D34-9F0A-A9BC05991347}"/>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04  •  REQUIREMENTS</a:t>
            </a:r>
          </a:p>
        </p:txBody>
      </p:sp>
      <p:sp>
        <p:nvSpPr>
          <p:cNvPr id="3" name="">
            <a:extLst xmlns:a="http://schemas.openxmlformats.org/drawingml/2006/main">
              <a:ext uri="{FF2B5EF4-FFF2-40B4-BE49-F238E27FC236}">
                <a16:creationId xmlns:a16="http://schemas.microsoft.com/office/drawing/2014/main" id="{047675E1-D3C4-4326-93D4-E8DAFE93A24F}"/>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What Must the Product Do?</a:t>
            </a:r>
          </a:p>
        </p:txBody>
      </p:sp>
      <p:sp>
        <p:nvSpPr>
          <p:cNvPr id="4" name="">
            <a:extLst xmlns:a="http://schemas.openxmlformats.org/drawingml/2006/main">
              <a:ext uri="{FF2B5EF4-FFF2-40B4-BE49-F238E27FC236}">
                <a16:creationId xmlns:a16="http://schemas.microsoft.com/office/drawing/2014/main" id="{767E39F3-7BF8-4B3A-97BB-3DC8DDBD75C3}"/>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6479310D-2B39-44D9-A087-DB96AF47A48A}"/>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7FD34EC5-93C5-4860-A64F-74060D3E3121}"/>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4 / 25</a:t>
            </a:r>
          </a:p>
        </p:txBody>
      </p:sp>
      <p:sp>
        <p:nvSpPr>
          <p:cNvPr id="7" name="">
            <a:extLst xmlns:a="http://schemas.openxmlformats.org/drawingml/2006/main">
              <a:ext uri="{FF2B5EF4-FFF2-40B4-BE49-F238E27FC236}">
                <a16:creationId xmlns:a16="http://schemas.microsoft.com/office/drawing/2014/main" id="{86CDAD41-1728-4E5D-BCB0-49FE3061CFB5}"/>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Quote, request, match, track, settle, and report safety concerns.</a:t>
            </a:r>
          </a:p>
        </p:txBody>
      </p:sp>
      <p:sp>
        <p:nvSpPr>
          <p:cNvPr id="8" name="">
            <a:extLst xmlns:a="http://schemas.openxmlformats.org/drawingml/2006/main">
              <a:ext uri="{FF2B5EF4-FFF2-40B4-BE49-F238E27FC236}">
                <a16:creationId xmlns:a16="http://schemas.microsoft.com/office/drawing/2014/main" id="{144C1DE5-8710-4FA1-BE0E-AC436BEA6E9B}"/>
              </a:ext>
            </a:extLst>
          </p:cNvPr>
          <p:cNvSpPr>
            <a:spLocks xmlns:a="http://schemas.openxmlformats.org/drawingml/2006/main" noGrp="1"/>
          </p:cNvSpPr>
          <p:nvPr/>
        </p:nvSpPr>
        <p:spPr>
          <a:xfrm xmlns:a="http://schemas.openxmlformats.org/drawingml/2006/main">
            <a:off x="904875" y="2857500"/>
            <a:ext cx="1381125" cy="666750"/>
          </a:xfrm>
          <a:prstGeom xmlns:a="http://schemas.openxmlformats.org/drawingml/2006/main" prst="roundRect">
            <a:avLst>
              <a:gd name="adj" fmla="val 22857"/>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Quote</a:t>
            </a:r>
          </a:p>
        </p:txBody>
      </p:sp>
      <p:sp>
        <p:nvSpPr>
          <p:cNvPr id="9" name="">
            <a:extLst xmlns:a="http://schemas.openxmlformats.org/drawingml/2006/main">
              <a:ext uri="{FF2B5EF4-FFF2-40B4-BE49-F238E27FC236}">
                <a16:creationId xmlns:a16="http://schemas.microsoft.com/office/drawing/2014/main" id="{CAFD4708-5144-4827-A0EB-676D9ABB573A}"/>
              </a:ext>
            </a:extLst>
          </p:cNvPr>
          <p:cNvSpPr>
            <a:spLocks xmlns:a="http://schemas.openxmlformats.org/drawingml/2006/main" noGrp="1"/>
          </p:cNvSpPr>
          <p:nvPr/>
        </p:nvSpPr>
        <p:spPr>
          <a:xfrm xmlns:a="http://schemas.openxmlformats.org/drawingml/2006/main">
            <a:off x="2619375" y="2857500"/>
            <a:ext cx="1381125" cy="666750"/>
          </a:xfrm>
          <a:prstGeom xmlns:a="http://schemas.openxmlformats.org/drawingml/2006/main" prst="roundRect">
            <a:avLst>
              <a:gd name="adj" fmla="val 22857"/>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Request</a:t>
            </a:r>
          </a:p>
        </p:txBody>
      </p:sp>
      <p:cxnSp>
        <p:nvCxnSpPr>
          <p:cNvPr id="31" name=""/>
          <p:cNvCxnSpPr>
            <a:stCxn xmlns:a="http://schemas.openxmlformats.org/drawingml/2006/main" id="8" idx="3"/>
            <a:endCxn xmlns:a="http://schemas.openxmlformats.org/drawingml/2006/main" id="9" idx="1"/>
          </p:cNvCxnSpPr>
          <p:nvPr/>
        </p:nvCxnSpPr>
        <p:spPr>
          <a:xfrm xmlns:a="http://schemas.openxmlformats.org/drawingml/2006/main">
            <a:off x="2286000" y="3190875"/>
            <a:ext cx="333375" cy="0"/>
          </a:xfrm>
          <a:prstGeom xmlns:a="http://schemas.openxmlformats.org/drawingml/2006/main" prst="straightConnector1">
            <a:avLst/>
          </a:prstGeom>
          <a:ln xmlns:a="http://schemas.openxmlformats.org/drawingml/2006/main" w="23813">
            <a:solidFill>
              <a:srgbClr val="22D3EE"/>
            </a:solidFill>
            <a:prstDash val="solid"/>
            <a:headEnd type="triangle" w="sm" len="sm"/>
          </a:ln>
        </p:spPr>
      </p:cxnSp>
      <p:sp>
        <p:nvSpPr>
          <p:cNvPr id="11" name="">
            <a:extLst xmlns:a="http://schemas.openxmlformats.org/drawingml/2006/main">
              <a:ext uri="{FF2B5EF4-FFF2-40B4-BE49-F238E27FC236}">
                <a16:creationId xmlns:a16="http://schemas.microsoft.com/office/drawing/2014/main" id="{FE63BEAE-0FEA-4282-88A6-A387162980ED}"/>
              </a:ext>
            </a:extLst>
          </p:cNvPr>
          <p:cNvSpPr>
            <a:spLocks xmlns:a="http://schemas.openxmlformats.org/drawingml/2006/main" noGrp="1"/>
          </p:cNvSpPr>
          <p:nvPr/>
        </p:nvSpPr>
        <p:spPr>
          <a:xfrm xmlns:a="http://schemas.openxmlformats.org/drawingml/2006/main">
            <a:off x="4333875" y="2857500"/>
            <a:ext cx="1381125" cy="666750"/>
          </a:xfrm>
          <a:prstGeom xmlns:a="http://schemas.openxmlformats.org/drawingml/2006/main" prst="roundRect">
            <a:avLst>
              <a:gd name="adj" fmla="val 22857"/>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Match</a:t>
            </a:r>
          </a:p>
        </p:txBody>
      </p:sp>
      <p:cxnSp>
        <p:nvCxnSpPr>
          <p:cNvPr id="33" name=""/>
          <p:cNvCxnSpPr>
            <a:stCxn xmlns:a="http://schemas.openxmlformats.org/drawingml/2006/main" id="9" idx="3"/>
            <a:endCxn xmlns:a="http://schemas.openxmlformats.org/drawingml/2006/main" id="11" idx="1"/>
          </p:cNvCxnSpPr>
          <p:nvPr/>
        </p:nvCxnSpPr>
        <p:spPr>
          <a:xfrm xmlns:a="http://schemas.openxmlformats.org/drawingml/2006/main">
            <a:off x="4000500" y="3190875"/>
            <a:ext cx="333375" cy="0"/>
          </a:xfrm>
          <a:prstGeom xmlns:a="http://schemas.openxmlformats.org/drawingml/2006/main" prst="straightConnector1">
            <a:avLst/>
          </a:prstGeom>
          <a:ln xmlns:a="http://schemas.openxmlformats.org/drawingml/2006/main" w="23813">
            <a:solidFill>
              <a:srgbClr val="22D3EE"/>
            </a:solidFill>
            <a:prstDash val="solid"/>
            <a:headEnd type="triangle" w="sm" len="sm"/>
          </a:ln>
        </p:spPr>
      </p:cxnSp>
      <p:sp>
        <p:nvSpPr>
          <p:cNvPr id="13" name="">
            <a:extLst xmlns:a="http://schemas.openxmlformats.org/drawingml/2006/main">
              <a:ext uri="{FF2B5EF4-FFF2-40B4-BE49-F238E27FC236}">
                <a16:creationId xmlns:a16="http://schemas.microsoft.com/office/drawing/2014/main" id="{39CD6DE8-2F8A-424C-99A3-B6DC5676F671}"/>
              </a:ext>
            </a:extLst>
          </p:cNvPr>
          <p:cNvSpPr>
            <a:spLocks xmlns:a="http://schemas.openxmlformats.org/drawingml/2006/main" noGrp="1"/>
          </p:cNvSpPr>
          <p:nvPr/>
        </p:nvSpPr>
        <p:spPr>
          <a:xfrm xmlns:a="http://schemas.openxmlformats.org/drawingml/2006/main">
            <a:off x="6048375" y="2857500"/>
            <a:ext cx="1381125" cy="666750"/>
          </a:xfrm>
          <a:prstGeom xmlns:a="http://schemas.openxmlformats.org/drawingml/2006/main" prst="roundRect">
            <a:avLst>
              <a:gd name="adj" fmla="val 22857"/>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Track</a:t>
            </a:r>
          </a:p>
        </p:txBody>
      </p:sp>
      <p:cxnSp>
        <p:nvCxnSpPr>
          <p:cNvPr id="35" name=""/>
          <p:cNvCxnSpPr>
            <a:stCxn xmlns:a="http://schemas.openxmlformats.org/drawingml/2006/main" id="11" idx="3"/>
            <a:endCxn xmlns:a="http://schemas.openxmlformats.org/drawingml/2006/main" id="13" idx="1"/>
          </p:cNvCxnSpPr>
          <p:nvPr/>
        </p:nvCxnSpPr>
        <p:spPr>
          <a:xfrm xmlns:a="http://schemas.openxmlformats.org/drawingml/2006/main">
            <a:off x="5715000" y="3190875"/>
            <a:ext cx="333375" cy="0"/>
          </a:xfrm>
          <a:prstGeom xmlns:a="http://schemas.openxmlformats.org/drawingml/2006/main" prst="straightConnector1">
            <a:avLst/>
          </a:prstGeom>
          <a:ln xmlns:a="http://schemas.openxmlformats.org/drawingml/2006/main" w="23813">
            <a:solidFill>
              <a:srgbClr val="22D3EE"/>
            </a:solidFill>
            <a:prstDash val="solid"/>
            <a:headEnd type="triangle" w="sm" len="sm"/>
          </a:ln>
        </p:spPr>
      </p:cxnSp>
      <p:sp>
        <p:nvSpPr>
          <p:cNvPr id="15" name="">
            <a:extLst xmlns:a="http://schemas.openxmlformats.org/drawingml/2006/main">
              <a:ext uri="{FF2B5EF4-FFF2-40B4-BE49-F238E27FC236}">
                <a16:creationId xmlns:a16="http://schemas.microsoft.com/office/drawing/2014/main" id="{029D2D3C-2C83-473A-AF29-799D6C77FF21}"/>
              </a:ext>
            </a:extLst>
          </p:cNvPr>
          <p:cNvSpPr>
            <a:spLocks xmlns:a="http://schemas.openxmlformats.org/drawingml/2006/main" noGrp="1"/>
          </p:cNvSpPr>
          <p:nvPr/>
        </p:nvSpPr>
        <p:spPr>
          <a:xfrm xmlns:a="http://schemas.openxmlformats.org/drawingml/2006/main">
            <a:off x="7762875" y="2857500"/>
            <a:ext cx="1381125" cy="666750"/>
          </a:xfrm>
          <a:prstGeom xmlns:a="http://schemas.openxmlformats.org/drawingml/2006/main" prst="roundRect">
            <a:avLst>
              <a:gd name="adj" fmla="val 22857"/>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Settle</a:t>
            </a:r>
          </a:p>
        </p:txBody>
      </p:sp>
      <p:cxnSp>
        <p:nvCxnSpPr>
          <p:cNvPr id="37" name=""/>
          <p:cNvCxnSpPr>
            <a:stCxn xmlns:a="http://schemas.openxmlformats.org/drawingml/2006/main" id="13" idx="3"/>
            <a:endCxn xmlns:a="http://schemas.openxmlformats.org/drawingml/2006/main" id="15" idx="1"/>
          </p:cNvCxnSpPr>
          <p:nvPr/>
        </p:nvCxnSpPr>
        <p:spPr>
          <a:xfrm xmlns:a="http://schemas.openxmlformats.org/drawingml/2006/main">
            <a:off x="7429500" y="3190875"/>
            <a:ext cx="333375" cy="0"/>
          </a:xfrm>
          <a:prstGeom xmlns:a="http://schemas.openxmlformats.org/drawingml/2006/main" prst="straightConnector1">
            <a:avLst/>
          </a:prstGeom>
          <a:ln xmlns:a="http://schemas.openxmlformats.org/drawingml/2006/main" w="23813">
            <a:solidFill>
              <a:srgbClr val="22D3EE"/>
            </a:solidFill>
            <a:prstDash val="solid"/>
            <a:headEnd type="triangle" w="sm" len="sm"/>
          </a:ln>
        </p:spPr>
      </p:cxnSp>
      <p:sp>
        <p:nvSpPr>
          <p:cNvPr id="17" name="">
            <a:extLst xmlns:a="http://schemas.openxmlformats.org/drawingml/2006/main">
              <a:ext uri="{FF2B5EF4-FFF2-40B4-BE49-F238E27FC236}">
                <a16:creationId xmlns:a16="http://schemas.microsoft.com/office/drawing/2014/main" id="{9BF12E16-8821-40D6-B38D-EA1BCAFCB220}"/>
              </a:ext>
            </a:extLst>
          </p:cNvPr>
          <p:cNvSpPr>
            <a:spLocks xmlns:a="http://schemas.openxmlformats.org/drawingml/2006/main" noGrp="1"/>
          </p:cNvSpPr>
          <p:nvPr/>
        </p:nvSpPr>
        <p:spPr>
          <a:xfrm xmlns:a="http://schemas.openxmlformats.org/drawingml/2006/main">
            <a:off x="9477375" y="2857500"/>
            <a:ext cx="1381125" cy="666750"/>
          </a:xfrm>
          <a:prstGeom xmlns:a="http://schemas.openxmlformats.org/drawingml/2006/main" prst="roundRect">
            <a:avLst>
              <a:gd name="adj" fmla="val 22857"/>
            </a:avLst>
          </a:prstGeom>
          <a:solidFill xmlns:a="http://schemas.openxmlformats.org/drawingml/2006/main">
            <a:srgbClr val="0B2942"/>
          </a:solidFill>
          <a:ln xmlns:a="http://schemas.openxmlformats.org/drawingml/2006/main" w="14288">
            <a:solidFill>
              <a:srgbClr val="FB7185"/>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Report safety</a:t>
            </a:r>
          </a:p>
        </p:txBody>
      </p:sp>
      <p:cxnSp>
        <p:nvCxnSpPr>
          <p:cNvPr id="39" name=""/>
          <p:cNvCxnSpPr>
            <a:stCxn xmlns:a="http://schemas.openxmlformats.org/drawingml/2006/main" id="15" idx="3"/>
            <a:endCxn xmlns:a="http://schemas.openxmlformats.org/drawingml/2006/main" id="17" idx="1"/>
          </p:cNvCxnSpPr>
          <p:nvPr/>
        </p:nvCxnSpPr>
        <p:spPr>
          <a:xfrm xmlns:a="http://schemas.openxmlformats.org/drawingml/2006/main">
            <a:off x="9144000" y="3190875"/>
            <a:ext cx="333375" cy="0"/>
          </a:xfrm>
          <a:prstGeom xmlns:a="http://schemas.openxmlformats.org/drawingml/2006/main" prst="straightConnector1">
            <a:avLst/>
          </a:prstGeom>
          <a:ln xmlns:a="http://schemas.openxmlformats.org/drawingml/2006/main" w="23813">
            <a:solidFill>
              <a:srgbClr val="22D3EE"/>
            </a:solidFill>
            <a:prstDash val="solid"/>
            <a:headEnd type="triangle" w="sm" len="sm"/>
          </a:ln>
        </p:spPr>
      </p:cxnSp>
      <p:sp>
        <p:nvSpPr>
          <p:cNvPr id="19" name="">
            <a:extLst xmlns:a="http://schemas.openxmlformats.org/drawingml/2006/main">
              <a:ext uri="{FF2B5EF4-FFF2-40B4-BE49-F238E27FC236}">
                <a16:creationId xmlns:a16="http://schemas.microsoft.com/office/drawing/2014/main" id="{FC2F15AC-E8F6-4249-A6A3-825BFA5BCC91}"/>
              </a:ext>
            </a:extLst>
          </p:cNvPr>
          <p:cNvSpPr>
            <a:spLocks xmlns:a="http://schemas.openxmlformats.org/drawingml/2006/main" noGrp="1"/>
          </p:cNvSpPr>
          <p:nvPr/>
        </p:nvSpPr>
        <p:spPr>
          <a:xfrm xmlns:a="http://schemas.openxmlformats.org/drawingml/2006/main">
            <a:off x="1000125" y="42100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0">
                <a:solidFill>
                  <a:srgbClr val="A8C7D9"/>
                </a:solidFill>
              </a:defRPr>
            </a:pPr>
            <a:r>
              <a:rPr sz="1800" b="0">
                <a:solidFill>
                  <a:srgbClr val="A8C7D9"/>
                </a:solidFill>
              </a:rPr>
              <a:t>Functional requirements describe what the product must do—not the technology used.</a:t>
            </a:r>
          </a:p>
        </p:txBody>
      </p:sp>
      <p:sp>
        <p:nvSpPr>
          <p:cNvPr id="20" name="">
            <a:extLst xmlns:a="http://schemas.openxmlformats.org/drawingml/2006/main">
              <a:ext uri="{FF2B5EF4-FFF2-40B4-BE49-F238E27FC236}">
                <a16:creationId xmlns:a16="http://schemas.microsoft.com/office/drawing/2014/main" id="{C0E0E26C-1CBF-4770-9CC0-C210ABA18393}"/>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21" name="">
            <a:extLst xmlns:a="http://schemas.openxmlformats.org/drawingml/2006/main">
              <a:ext uri="{FF2B5EF4-FFF2-40B4-BE49-F238E27FC236}">
                <a16:creationId xmlns:a16="http://schemas.microsoft.com/office/drawing/2014/main" id="{449E1177-0D8E-4334-BC84-6C99C3C5D664}"/>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functional requirement: A functional requirement is a specific capability the product must provide to a user or another system.</a:t>
            </a:r>
          </a:p>
        </p:txBody>
      </p:sp>
    </p:spTree>
    <p:extLst>
      <p:ext uri="{BB962C8B-B14F-4D97-AF65-F5344CB8AC3E}">
        <p14:creationId xmlns:p14="http://schemas.microsoft.com/office/powerpoint/2010/main" val="1540671550"/>
      </p:ext>
    </p:extLst>
  </p:cSld>
</p:sld>
</file>

<file path=ppt/slides/slide5.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3074E25-D65E-4C5A-B457-80333A289E2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9631A1D1-4BDB-4D27-8FF0-3F34B8E4DDAF}"/>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05  •  REQUIREMENTS</a:t>
            </a:r>
          </a:p>
        </p:txBody>
      </p:sp>
      <p:sp>
        <p:nvSpPr>
          <p:cNvPr id="3" name="">
            <a:extLst xmlns:a="http://schemas.openxmlformats.org/drawingml/2006/main">
              <a:ext uri="{FF2B5EF4-FFF2-40B4-BE49-F238E27FC236}">
                <a16:creationId xmlns:a16="http://schemas.microsoft.com/office/drawing/2014/main" id="{F934EA3C-8156-4705-940A-33F10D6D3E59}"/>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How Well Must It Work?</a:t>
            </a:r>
          </a:p>
        </p:txBody>
      </p:sp>
      <p:sp>
        <p:nvSpPr>
          <p:cNvPr id="4" name="">
            <a:extLst xmlns:a="http://schemas.openxmlformats.org/drawingml/2006/main">
              <a:ext uri="{FF2B5EF4-FFF2-40B4-BE49-F238E27FC236}">
                <a16:creationId xmlns:a16="http://schemas.microsoft.com/office/drawing/2014/main" id="{9DC20052-D492-45AE-A11E-95C16E49EAD4}"/>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2CB9EC17-B3C3-4660-AAA7-E1ADC80C7BF0}"/>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B894815A-2230-4397-920B-F7CC7F1DDE56}"/>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5 / 25</a:t>
            </a:r>
          </a:p>
        </p:txBody>
      </p:sp>
      <p:sp>
        <p:nvSpPr>
          <p:cNvPr id="7" name="">
            <a:extLst xmlns:a="http://schemas.openxmlformats.org/drawingml/2006/main">
              <a:ext uri="{FF2B5EF4-FFF2-40B4-BE49-F238E27FC236}">
                <a16:creationId xmlns:a16="http://schemas.microsoft.com/office/drawing/2014/main" id="{E6D1B6AB-72E0-4EEF-A22E-731B32A2AE04}"/>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Fast quotes, dependable matching, fresh locations, and no double charge.</a:t>
            </a:r>
          </a:p>
        </p:txBody>
      </p:sp>
      <p:sp>
        <p:nvSpPr>
          <p:cNvPr id="8" name="">
            <a:extLst xmlns:a="http://schemas.openxmlformats.org/drawingml/2006/main">
              <a:ext uri="{FF2B5EF4-FFF2-40B4-BE49-F238E27FC236}">
                <a16:creationId xmlns:a16="http://schemas.microsoft.com/office/drawing/2014/main" id="{B0163BD6-845C-4E4D-BE9C-CCD92775397A}"/>
              </a:ext>
            </a:extLst>
          </p:cNvPr>
          <p:cNvSpPr>
            <a:spLocks xmlns:a="http://schemas.openxmlformats.org/drawingml/2006/main" noGrp="1"/>
          </p:cNvSpPr>
          <p:nvPr/>
        </p:nvSpPr>
        <p:spPr>
          <a:xfrm xmlns:a="http://schemas.openxmlformats.org/drawingml/2006/main">
            <a:off x="1095375" y="2333625"/>
            <a:ext cx="242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22D3EE"/>
                </a:solidFill>
              </a:defRPr>
            </a:pPr>
            <a:r>
              <a:rPr sz="3150" b="1">
                <a:solidFill>
                  <a:srgbClr val="22D3EE"/>
                </a:solidFill>
              </a:rPr>
              <a:t>&lt; 500 ms</a:t>
            </a:r>
          </a:p>
        </p:txBody>
      </p:sp>
      <p:sp>
        <p:nvSpPr>
          <p:cNvPr id="9" name="">
            <a:extLst xmlns:a="http://schemas.openxmlformats.org/drawingml/2006/main">
              <a:ext uri="{FF2B5EF4-FFF2-40B4-BE49-F238E27FC236}">
                <a16:creationId xmlns:a16="http://schemas.microsoft.com/office/drawing/2014/main" id="{6EA80BC7-3B7F-4D44-A8B6-11935E80FEC7}"/>
              </a:ext>
            </a:extLst>
          </p:cNvPr>
          <p:cNvSpPr>
            <a:spLocks xmlns:a="http://schemas.openxmlformats.org/drawingml/2006/main" noGrp="1"/>
          </p:cNvSpPr>
          <p:nvPr/>
        </p:nvSpPr>
        <p:spPr>
          <a:xfrm xmlns:a="http://schemas.openxmlformats.org/drawingml/2006/main">
            <a:off x="1095375" y="2905125"/>
            <a:ext cx="2428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8C7D9"/>
                </a:solidFill>
              </a:defRPr>
            </a:pPr>
            <a:r>
              <a:rPr sz="1350" b="0">
                <a:solidFill>
                  <a:srgbClr val="A8C7D9"/>
                </a:solidFill>
              </a:rPr>
              <a:t>p99 quote latency</a:t>
            </a:r>
          </a:p>
        </p:txBody>
      </p:sp>
      <p:sp>
        <p:nvSpPr>
          <p:cNvPr id="10" name="">
            <a:extLst xmlns:a="http://schemas.openxmlformats.org/drawingml/2006/main">
              <a:ext uri="{FF2B5EF4-FFF2-40B4-BE49-F238E27FC236}">
                <a16:creationId xmlns:a16="http://schemas.microsoft.com/office/drawing/2014/main" id="{D757AB35-AE93-4DD3-BA1A-CD2297236B43}"/>
              </a:ext>
            </a:extLst>
          </p:cNvPr>
          <p:cNvSpPr>
            <a:spLocks xmlns:a="http://schemas.openxmlformats.org/drawingml/2006/main" noGrp="1"/>
          </p:cNvSpPr>
          <p:nvPr/>
        </p:nvSpPr>
        <p:spPr>
          <a:xfrm xmlns:a="http://schemas.openxmlformats.org/drawingml/2006/main">
            <a:off x="4095750" y="2333625"/>
            <a:ext cx="242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34D399"/>
                </a:solidFill>
              </a:defRPr>
            </a:pPr>
            <a:r>
              <a:rPr sz="3150" b="1">
                <a:solidFill>
                  <a:srgbClr val="34D399"/>
                </a:solidFill>
              </a:rPr>
              <a:t>&lt; 5 sec</a:t>
            </a:r>
          </a:p>
        </p:txBody>
      </p:sp>
      <p:sp>
        <p:nvSpPr>
          <p:cNvPr id="11" name="">
            <a:extLst xmlns:a="http://schemas.openxmlformats.org/drawingml/2006/main">
              <a:ext uri="{FF2B5EF4-FFF2-40B4-BE49-F238E27FC236}">
                <a16:creationId xmlns:a16="http://schemas.microsoft.com/office/drawing/2014/main" id="{29CE0E37-038E-420C-98CE-E9C49101ADAC}"/>
              </a:ext>
            </a:extLst>
          </p:cNvPr>
          <p:cNvSpPr>
            <a:spLocks xmlns:a="http://schemas.openxmlformats.org/drawingml/2006/main" noGrp="1"/>
          </p:cNvSpPr>
          <p:nvPr/>
        </p:nvSpPr>
        <p:spPr>
          <a:xfrm xmlns:a="http://schemas.openxmlformats.org/drawingml/2006/main">
            <a:off x="4095750" y="2905125"/>
            <a:ext cx="2428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8C7D9"/>
                </a:solidFill>
              </a:defRPr>
            </a:pPr>
            <a:r>
              <a:rPr sz="1350" b="0">
                <a:solidFill>
                  <a:srgbClr val="A8C7D9"/>
                </a:solidFill>
              </a:rPr>
              <a:t>match completion</a:t>
            </a:r>
          </a:p>
        </p:txBody>
      </p:sp>
      <p:sp>
        <p:nvSpPr>
          <p:cNvPr id="12" name="">
            <a:extLst xmlns:a="http://schemas.openxmlformats.org/drawingml/2006/main">
              <a:ext uri="{FF2B5EF4-FFF2-40B4-BE49-F238E27FC236}">
                <a16:creationId xmlns:a16="http://schemas.microsoft.com/office/drawing/2014/main" id="{7213A645-19B3-4601-85A3-BC2EEC8C04B0}"/>
              </a:ext>
            </a:extLst>
          </p:cNvPr>
          <p:cNvSpPr>
            <a:spLocks xmlns:a="http://schemas.openxmlformats.org/drawingml/2006/main" noGrp="1"/>
          </p:cNvSpPr>
          <p:nvPr/>
        </p:nvSpPr>
        <p:spPr>
          <a:xfrm xmlns:a="http://schemas.openxmlformats.org/drawingml/2006/main">
            <a:off x="7096125" y="2333625"/>
            <a:ext cx="242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BBF24"/>
                </a:solidFill>
              </a:defRPr>
            </a:pPr>
            <a:r>
              <a:rPr sz="3150" b="1">
                <a:solidFill>
                  <a:srgbClr val="FBBF24"/>
                </a:solidFill>
              </a:rPr>
              <a:t>&lt; 10 sec</a:t>
            </a:r>
          </a:p>
        </p:txBody>
      </p:sp>
      <p:sp>
        <p:nvSpPr>
          <p:cNvPr id="13" name="">
            <a:extLst xmlns:a="http://schemas.openxmlformats.org/drawingml/2006/main">
              <a:ext uri="{FF2B5EF4-FFF2-40B4-BE49-F238E27FC236}">
                <a16:creationId xmlns:a16="http://schemas.microsoft.com/office/drawing/2014/main" id="{CC78B845-B7E1-4919-B504-6B3B3FA6AEFA}"/>
              </a:ext>
            </a:extLst>
          </p:cNvPr>
          <p:cNvSpPr>
            <a:spLocks xmlns:a="http://schemas.openxmlformats.org/drawingml/2006/main" noGrp="1"/>
          </p:cNvSpPr>
          <p:nvPr/>
        </p:nvSpPr>
        <p:spPr>
          <a:xfrm xmlns:a="http://schemas.openxmlformats.org/drawingml/2006/main">
            <a:off x="7096125" y="2905125"/>
            <a:ext cx="2428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8C7D9"/>
                </a:solidFill>
              </a:defRPr>
            </a:pPr>
            <a:r>
              <a:rPr sz="1350" b="0">
                <a:solidFill>
                  <a:srgbClr val="A8C7D9"/>
                </a:solidFill>
              </a:rPr>
              <a:t>location freshness</a:t>
            </a:r>
          </a:p>
        </p:txBody>
      </p:sp>
      <p:sp>
        <p:nvSpPr>
          <p:cNvPr id="14" name="">
            <a:extLst xmlns:a="http://schemas.openxmlformats.org/drawingml/2006/main">
              <a:ext uri="{FF2B5EF4-FFF2-40B4-BE49-F238E27FC236}">
                <a16:creationId xmlns:a16="http://schemas.microsoft.com/office/drawing/2014/main" id="{3B9D3F73-5729-4EBA-B742-D6093A2A75AC}"/>
              </a:ext>
            </a:extLst>
          </p:cNvPr>
          <p:cNvSpPr>
            <a:spLocks xmlns:a="http://schemas.openxmlformats.org/drawingml/2006/main" noGrp="1"/>
          </p:cNvSpPr>
          <p:nvPr/>
        </p:nvSpPr>
        <p:spPr>
          <a:xfrm xmlns:a="http://schemas.openxmlformats.org/drawingml/2006/main">
            <a:off x="9858375" y="2333625"/>
            <a:ext cx="242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B7185"/>
                </a:solidFill>
              </a:defRPr>
            </a:pPr>
            <a:r>
              <a:rPr sz="3150" b="1">
                <a:solidFill>
                  <a:srgbClr val="FB7185"/>
                </a:solidFill>
              </a:rPr>
              <a:t>0</a:t>
            </a:r>
          </a:p>
        </p:txBody>
      </p:sp>
      <p:sp>
        <p:nvSpPr>
          <p:cNvPr id="15" name="">
            <a:extLst xmlns:a="http://schemas.openxmlformats.org/drawingml/2006/main">
              <a:ext uri="{FF2B5EF4-FFF2-40B4-BE49-F238E27FC236}">
                <a16:creationId xmlns:a16="http://schemas.microsoft.com/office/drawing/2014/main" id="{0F91B4C2-4BE6-431B-A709-74146F0C15BB}"/>
              </a:ext>
            </a:extLst>
          </p:cNvPr>
          <p:cNvSpPr>
            <a:spLocks xmlns:a="http://schemas.openxmlformats.org/drawingml/2006/main" noGrp="1"/>
          </p:cNvSpPr>
          <p:nvPr/>
        </p:nvSpPr>
        <p:spPr>
          <a:xfrm xmlns:a="http://schemas.openxmlformats.org/drawingml/2006/main">
            <a:off x="9858375" y="2905125"/>
            <a:ext cx="2428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8C7D9"/>
                </a:solidFill>
              </a:defRPr>
            </a:pPr>
            <a:r>
              <a:rPr sz="1350" b="0">
                <a:solidFill>
                  <a:srgbClr val="A8C7D9"/>
                </a:solidFill>
              </a:rPr>
              <a:t>double charges</a:t>
            </a:r>
          </a:p>
        </p:txBody>
      </p:sp>
      <p:sp>
        <p:nvSpPr>
          <p:cNvPr id="16" name="">
            <a:extLst xmlns:a="http://schemas.openxmlformats.org/drawingml/2006/main">
              <a:ext uri="{FF2B5EF4-FFF2-40B4-BE49-F238E27FC236}">
                <a16:creationId xmlns:a16="http://schemas.microsoft.com/office/drawing/2014/main" id="{1AF16463-38AC-4E0E-A348-4006F0A5CB9B}"/>
              </a:ext>
            </a:extLst>
          </p:cNvPr>
          <p:cNvSpPr>
            <a:spLocks xmlns:a="http://schemas.openxmlformats.org/drawingml/2006/main" noGrp="1"/>
          </p:cNvSpPr>
          <p:nvPr/>
        </p:nvSpPr>
        <p:spPr>
          <a:xfrm xmlns:a="http://schemas.openxmlformats.org/drawingml/2006/main">
            <a:off x="1619250" y="400050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0">
                <a:solidFill>
                  <a:srgbClr val="A8C7D9"/>
                </a:solidFill>
              </a:defRPr>
            </a:pPr>
            <a:r>
              <a:rPr sz="1950" b="0">
                <a:solidFill>
                  <a:srgbClr val="A8C7D9"/>
                </a:solidFill>
              </a:rPr>
              <a:t>A quality target makes “fast” and “reliable” measurable.</a:t>
            </a:r>
          </a:p>
        </p:txBody>
      </p:sp>
      <p:sp>
        <p:nvSpPr>
          <p:cNvPr id="17" name="">
            <a:extLst xmlns:a="http://schemas.openxmlformats.org/drawingml/2006/main">
              <a:ext uri="{FF2B5EF4-FFF2-40B4-BE49-F238E27FC236}">
                <a16:creationId xmlns:a16="http://schemas.microsoft.com/office/drawing/2014/main" id="{1178AF60-4F1D-4C1D-8718-9AE8C383C278}"/>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8" name="">
            <a:extLst xmlns:a="http://schemas.openxmlformats.org/drawingml/2006/main">
              <a:ext uri="{FF2B5EF4-FFF2-40B4-BE49-F238E27FC236}">
                <a16:creationId xmlns:a16="http://schemas.microsoft.com/office/drawing/2014/main" id="{5103E719-6C18-411C-B32F-762195DBC837}"/>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non-functional requirement: A non-functional requirement describes a quality target such as speed, reliability, or security.  •  p99 latency: P99 latency is the response time below which 99 percent of requests complete.  •  availability: Availability is the proportion of time a system can successfully serve intended requests.</a:t>
            </a:r>
          </a:p>
        </p:txBody>
      </p:sp>
    </p:spTree>
    <p:extLst>
      <p:ext uri="{BB962C8B-B14F-4D97-AF65-F5344CB8AC3E}">
        <p14:creationId xmlns:p14="http://schemas.microsoft.com/office/powerpoint/2010/main" val="1408097360"/>
      </p:ext>
    </p:extLst>
  </p:cSld>
</p:sld>
</file>

<file path=ppt/slides/slide6.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B91E482-A4AA-4242-9C9D-C2E7472881F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98BDCAEA-A670-46C2-95D8-8868EB2A1F61}"/>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06  •  REQUIREMENTS</a:t>
            </a:r>
          </a:p>
        </p:txBody>
      </p:sp>
      <p:sp>
        <p:nvSpPr>
          <p:cNvPr id="3" name="">
            <a:extLst xmlns:a="http://schemas.openxmlformats.org/drawingml/2006/main">
              <a:ext uri="{FF2B5EF4-FFF2-40B4-BE49-F238E27FC236}">
                <a16:creationId xmlns:a16="http://schemas.microsoft.com/office/drawing/2014/main" id="{BF9E46E9-FCC0-43B0-93BD-7B3B42BC4554}"/>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Consistency Is a Promise</a:t>
            </a:r>
          </a:p>
        </p:txBody>
      </p:sp>
      <p:sp>
        <p:nvSpPr>
          <p:cNvPr id="4" name="">
            <a:extLst xmlns:a="http://schemas.openxmlformats.org/drawingml/2006/main">
              <a:ext uri="{FF2B5EF4-FFF2-40B4-BE49-F238E27FC236}">
                <a16:creationId xmlns:a16="http://schemas.microsoft.com/office/drawing/2014/main" id="{4022ECF6-6DB5-44D5-9AF6-514912BAE66D}"/>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BF638C7F-2A05-4C29-8D55-BD9AF2376776}"/>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91203E30-1CC6-4E9A-99D9-9BD603443C07}"/>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6 / 25</a:t>
            </a:r>
          </a:p>
        </p:txBody>
      </p:sp>
      <p:sp>
        <p:nvSpPr>
          <p:cNvPr id="7" name="">
            <a:extLst xmlns:a="http://schemas.openxmlformats.org/drawingml/2006/main">
              <a:ext uri="{FF2B5EF4-FFF2-40B4-BE49-F238E27FC236}">
                <a16:creationId xmlns:a16="http://schemas.microsoft.com/office/drawing/2014/main" id="{5B9B8D63-E4FD-420F-AD2F-F8C213DCD00A}"/>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Payment needs one shared truth. A map dot can catch up moments later.</a:t>
            </a:r>
          </a:p>
        </p:txBody>
      </p:sp>
      <p:sp>
        <p:nvSpPr>
          <p:cNvPr id="8" name="">
            <a:extLst xmlns:a="http://schemas.openxmlformats.org/drawingml/2006/main">
              <a:ext uri="{FF2B5EF4-FFF2-40B4-BE49-F238E27FC236}">
                <a16:creationId xmlns:a16="http://schemas.microsoft.com/office/drawing/2014/main" id="{14958B9C-23B1-4843-A28B-FCEDBB12277E}"/>
              </a:ext>
            </a:extLst>
          </p:cNvPr>
          <p:cNvSpPr>
            <a:spLocks xmlns:a="http://schemas.openxmlformats.org/drawingml/2006/main" noGrp="1"/>
          </p:cNvSpPr>
          <p:nvPr/>
        </p:nvSpPr>
        <p:spPr>
          <a:xfrm xmlns:a="http://schemas.openxmlformats.org/drawingml/2006/main">
            <a:off x="1428750" y="2571750"/>
            <a:ext cx="3714750" cy="1476375"/>
          </a:xfrm>
          <a:prstGeom xmlns:a="http://schemas.openxmlformats.org/drawingml/2006/main" prst="roundRect">
            <a:avLst>
              <a:gd name="adj" fmla="val 10323"/>
            </a:avLst>
          </a:prstGeom>
          <a:solidFill xmlns:a="http://schemas.openxmlformats.org/drawingml/2006/main">
            <a:srgbClr val="0B2942"/>
          </a:solidFill>
          <a:ln xmlns:a="http://schemas.openxmlformats.org/drawingml/2006/main" w="14288">
            <a:solidFill>
              <a:srgbClr val="34D399"/>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Strong consistency</a:t>
            </a:r>
          </a:p>
          <a:p xmlns:a="http://schemas.openxmlformats.org/drawingml/2006/main">
            <a:pPr algn="ctr">
              <a:defRPr sz="1350" b="1">
                <a:solidFill>
                  <a:srgbClr val="F8FAFC"/>
                </a:solidFill>
              </a:defRPr>
            </a:pPr>
            <a:r>
              <a:rPr sz="1350" b="1">
                <a:solidFill>
                  <a:srgbClr val="F8FAFC"/>
                </a:solidFill>
              </a:rPr>
              <a:t>One shared payment truth</a:t>
            </a:r>
          </a:p>
        </p:txBody>
      </p:sp>
      <p:sp>
        <p:nvSpPr>
          <p:cNvPr id="9" name="">
            <a:extLst xmlns:a="http://schemas.openxmlformats.org/drawingml/2006/main">
              <a:ext uri="{FF2B5EF4-FFF2-40B4-BE49-F238E27FC236}">
                <a16:creationId xmlns:a16="http://schemas.microsoft.com/office/drawing/2014/main" id="{A9D4172C-19B3-45DF-943D-A80ED04DFBE1}"/>
              </a:ext>
            </a:extLst>
          </p:cNvPr>
          <p:cNvSpPr>
            <a:spLocks xmlns:a="http://schemas.openxmlformats.org/drawingml/2006/main" noGrp="1"/>
          </p:cNvSpPr>
          <p:nvPr/>
        </p:nvSpPr>
        <p:spPr>
          <a:xfrm xmlns:a="http://schemas.openxmlformats.org/drawingml/2006/main">
            <a:off x="7000875" y="2571750"/>
            <a:ext cx="3714750" cy="1476375"/>
          </a:xfrm>
          <a:prstGeom xmlns:a="http://schemas.openxmlformats.org/drawingml/2006/main" prst="roundRect">
            <a:avLst>
              <a:gd name="adj" fmla="val 10323"/>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Eventual consistency</a:t>
            </a:r>
          </a:p>
          <a:p xmlns:a="http://schemas.openxmlformats.org/drawingml/2006/main">
            <a:pPr algn="ctr">
              <a:defRPr sz="1350" b="1">
                <a:solidFill>
                  <a:srgbClr val="F8FAFC"/>
                </a:solidFill>
              </a:defRPr>
            </a:pPr>
            <a:r>
              <a:rPr sz="1350" b="1">
                <a:solidFill>
                  <a:srgbClr val="F8FAFC"/>
                </a:solidFill>
              </a:rPr>
              <a:t>Map dots catch up shortly</a:t>
            </a:r>
          </a:p>
        </p:txBody>
      </p:sp>
      <p:sp>
        <p:nvSpPr>
          <p:cNvPr id="10" name="">
            <a:extLst xmlns:a="http://schemas.openxmlformats.org/drawingml/2006/main">
              <a:ext uri="{FF2B5EF4-FFF2-40B4-BE49-F238E27FC236}">
                <a16:creationId xmlns:a16="http://schemas.microsoft.com/office/drawing/2014/main" id="{29037E3A-382A-4F15-8B95-E2F440DE2E51}"/>
              </a:ext>
            </a:extLst>
          </p:cNvPr>
          <p:cNvSpPr>
            <a:spLocks xmlns:a="http://schemas.openxmlformats.org/drawingml/2006/main" noGrp="1"/>
          </p:cNvSpPr>
          <p:nvPr/>
        </p:nvSpPr>
        <p:spPr>
          <a:xfrm xmlns:a="http://schemas.openxmlformats.org/drawingml/2006/main">
            <a:off x="1809750" y="44767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0">
                <a:solidFill>
                  <a:srgbClr val="A8C7D9"/>
                </a:solidFill>
              </a:defRPr>
            </a:pPr>
            <a:r>
              <a:rPr sz="1875" b="0">
                <a:solidFill>
                  <a:srgbClr val="A8C7D9"/>
                </a:solidFill>
              </a:rPr>
              <a:t>Use the strongest promise only where a wrong answer is unacceptable.</a:t>
            </a:r>
          </a:p>
        </p:txBody>
      </p:sp>
      <p:sp>
        <p:nvSpPr>
          <p:cNvPr id="11" name="">
            <a:extLst xmlns:a="http://schemas.openxmlformats.org/drawingml/2006/main">
              <a:ext uri="{FF2B5EF4-FFF2-40B4-BE49-F238E27FC236}">
                <a16:creationId xmlns:a16="http://schemas.microsoft.com/office/drawing/2014/main" id="{4DDD28F4-E0A4-4D20-92FD-B9C825399856}"/>
              </a:ext>
            </a:extLst>
          </p:cNvPr>
          <p:cNvSpPr>
            <a:spLocks xmlns:a="http://schemas.openxmlformats.org/drawingml/2006/main" noGrp="1"/>
          </p:cNvSpPr>
          <p:nvPr/>
        </p:nvSpPr>
        <p:spPr>
          <a:xfrm xmlns:a="http://schemas.openxmlformats.org/drawingml/2006/main">
            <a:off x="8191500" y="1809750"/>
            <a:ext cx="3095625" cy="819150"/>
          </a:xfrm>
          <a:prstGeom xmlns:a="http://schemas.openxmlformats.org/drawingml/2006/main" prst="roundRect">
            <a:avLst>
              <a:gd name="adj" fmla="val 18605"/>
            </a:avLst>
          </a:prstGeom>
          <a:solidFill xmlns:a="http://schemas.openxmlformats.org/drawingml/2006/main">
            <a:srgbClr val="163047"/>
          </a:solidFill>
          <a:ln xmlns:a="http://schemas.openxmlformats.org/drawingml/2006/main" w="14288">
            <a:solidFill>
              <a:srgbClr val="FBBF24"/>
            </a:solidFill>
            <a:prstDash val="solid"/>
          </a:ln>
        </p:spPr>
      </p:sp>
      <p:sp>
        <p:nvSpPr>
          <p:cNvPr id="12" name="">
            <a:extLst xmlns:a="http://schemas.openxmlformats.org/drawingml/2006/main">
              <a:ext uri="{FF2B5EF4-FFF2-40B4-BE49-F238E27FC236}">
                <a16:creationId xmlns:a16="http://schemas.microsoft.com/office/drawing/2014/main" id="{A2CE39BA-B393-4D86-8CA4-FC3EFE5EDDF6}"/>
              </a:ext>
            </a:extLst>
          </p:cNvPr>
          <p:cNvSpPr>
            <a:spLocks xmlns:a="http://schemas.openxmlformats.org/drawingml/2006/main" noGrp="1"/>
          </p:cNvSpPr>
          <p:nvPr/>
        </p:nvSpPr>
        <p:spPr>
          <a:xfrm xmlns:a="http://schemas.openxmlformats.org/drawingml/2006/main">
            <a:off x="8401050" y="1952625"/>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BBF24"/>
                </a:solidFill>
              </a:defRPr>
            </a:pPr>
            <a:r>
              <a:rPr sz="1125" b="1">
                <a:solidFill>
                  <a:srgbClr val="FBBF24"/>
                </a:solidFill>
              </a:rPr>
              <a:t>PAUSE &amp; PREDICT</a:t>
            </a:r>
          </a:p>
        </p:txBody>
      </p:sp>
      <p:sp>
        <p:nvSpPr>
          <p:cNvPr id="13" name="">
            <a:extLst xmlns:a="http://schemas.openxmlformats.org/drawingml/2006/main">
              <a:ext uri="{FF2B5EF4-FFF2-40B4-BE49-F238E27FC236}">
                <a16:creationId xmlns:a16="http://schemas.microsoft.com/office/drawing/2014/main" id="{DE4A5E75-81C8-42A9-8AFA-377F0EFF2109}"/>
              </a:ext>
            </a:extLst>
          </p:cNvPr>
          <p:cNvSpPr>
            <a:spLocks xmlns:a="http://schemas.openxmlformats.org/drawingml/2006/main" noGrp="1"/>
          </p:cNvSpPr>
          <p:nvPr/>
        </p:nvSpPr>
        <p:spPr>
          <a:xfrm xmlns:a="http://schemas.openxmlformats.org/drawingml/2006/main">
            <a:off x="8401050" y="2209800"/>
            <a:ext cx="2619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8FAFC"/>
                </a:solidFill>
              </a:defRPr>
            </a:pPr>
            <a:r>
              <a:rPr sz="1350" b="1">
                <a:solidFill>
                  <a:srgbClr val="F8FAFC"/>
                </a:solidFill>
              </a:rPr>
              <a:t>Would you make every location update globally consistent?</a:t>
            </a:r>
          </a:p>
        </p:txBody>
      </p:sp>
      <p:sp>
        <p:nvSpPr>
          <p:cNvPr id="14" name="">
            <a:extLst xmlns:a="http://schemas.openxmlformats.org/drawingml/2006/main">
              <a:ext uri="{FF2B5EF4-FFF2-40B4-BE49-F238E27FC236}">
                <a16:creationId xmlns:a16="http://schemas.microsoft.com/office/drawing/2014/main" id="{B40F672A-85C8-45BE-B197-B41300686F54}"/>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5" name="">
            <a:extLst xmlns:a="http://schemas.openxmlformats.org/drawingml/2006/main">
              <a:ext uri="{FF2B5EF4-FFF2-40B4-BE49-F238E27FC236}">
                <a16:creationId xmlns:a16="http://schemas.microsoft.com/office/drawing/2014/main" id="{2445D402-9B97-47D7-A0C0-46DE0CE6C454}"/>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strong consistency: Strong consistency means a completed write is immediately reflected by later reads that require the same truth.  •  eventual consistency: Eventual consistency means copies may briefly differ but converge when updates finish propagating.</a:t>
            </a:r>
          </a:p>
        </p:txBody>
      </p:sp>
    </p:spTree>
    <p:extLst>
      <p:ext uri="{BB962C8B-B14F-4D97-AF65-F5344CB8AC3E}">
        <p14:creationId xmlns:p14="http://schemas.microsoft.com/office/powerpoint/2010/main" val="2057180132"/>
      </p:ext>
    </p:extLst>
  </p:cSld>
</p:sld>
</file>

<file path=ppt/slides/slide7.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189CEB2-25E8-4515-874D-89BF1910389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45290F36-95DD-4FD7-AAB7-80BFC69F53FF}"/>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07  •  CAPACITY</a:t>
            </a:r>
          </a:p>
        </p:txBody>
      </p:sp>
      <p:sp>
        <p:nvSpPr>
          <p:cNvPr id="3" name="">
            <a:extLst xmlns:a="http://schemas.openxmlformats.org/drawingml/2006/main">
              <a:ext uri="{FF2B5EF4-FFF2-40B4-BE49-F238E27FC236}">
                <a16:creationId xmlns:a16="http://schemas.microsoft.com/office/drawing/2014/main" id="{BA9B5185-E664-49DE-8D0F-8FDF3BB7A45B}"/>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Capacity Starts with Questions</a:t>
            </a:r>
          </a:p>
        </p:txBody>
      </p:sp>
      <p:sp>
        <p:nvSpPr>
          <p:cNvPr id="4" name="">
            <a:extLst xmlns:a="http://schemas.openxmlformats.org/drawingml/2006/main">
              <a:ext uri="{FF2B5EF4-FFF2-40B4-BE49-F238E27FC236}">
                <a16:creationId xmlns:a16="http://schemas.microsoft.com/office/drawing/2014/main" id="{D7B57942-10C7-4C51-B3BD-0055EED13132}"/>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53EADBC0-89D0-4276-B739-B0032EBF927B}"/>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7F4D3CA6-F37A-469E-93AB-BD1C3053596B}"/>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7 / 25</a:t>
            </a:r>
          </a:p>
        </p:txBody>
      </p:sp>
      <p:sp>
        <p:nvSpPr>
          <p:cNvPr id="7" name="">
            <a:extLst xmlns:a="http://schemas.openxmlformats.org/drawingml/2006/main">
              <a:ext uri="{FF2B5EF4-FFF2-40B4-BE49-F238E27FC236}">
                <a16:creationId xmlns:a16="http://schemas.microsoft.com/office/drawing/2014/main" id="{988EF96D-4A99-4793-811A-80735F77DB75}"/>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How many rides? How many moving drivers? How large is a peak?</a:t>
            </a:r>
          </a:p>
        </p:txBody>
      </p:sp>
      <p:sp>
        <p:nvSpPr>
          <p:cNvPr id="8" name="">
            <a:extLst xmlns:a="http://schemas.openxmlformats.org/drawingml/2006/main">
              <a:ext uri="{FF2B5EF4-FFF2-40B4-BE49-F238E27FC236}">
                <a16:creationId xmlns:a16="http://schemas.microsoft.com/office/drawing/2014/main" id="{89B10387-936E-456E-B263-F6BAD0DFC93F}"/>
              </a:ext>
            </a:extLst>
          </p:cNvPr>
          <p:cNvSpPr>
            <a:spLocks xmlns:a="http://schemas.openxmlformats.org/drawingml/2006/main" noGrp="1"/>
          </p:cNvSpPr>
          <p:nvPr/>
        </p:nvSpPr>
        <p:spPr>
          <a:xfrm xmlns:a="http://schemas.openxmlformats.org/drawingml/2006/main">
            <a:off x="1066800" y="228600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a:solidFill>
                  <a:srgbClr val="22D3EE"/>
                </a:solidFill>
              </a:defRPr>
            </a:pPr>
            <a:r>
              <a:rPr sz="2325" b="1">
                <a:solidFill>
                  <a:srgbClr val="22D3EE"/>
                </a:solidFill>
              </a:rPr>
              <a:t>Capacity = transparent assumptions + simple arithmetic</a:t>
            </a:r>
          </a:p>
        </p:txBody>
      </p:sp>
      <p:sp>
        <p:nvSpPr>
          <p:cNvPr id="9" name="">
            <a:extLst xmlns:a="http://schemas.openxmlformats.org/drawingml/2006/main">
              <a:ext uri="{FF2B5EF4-FFF2-40B4-BE49-F238E27FC236}">
                <a16:creationId xmlns:a16="http://schemas.microsoft.com/office/drawing/2014/main" id="{943199B9-806E-41AB-819E-5DE369B191C3}"/>
              </a:ext>
            </a:extLst>
          </p:cNvPr>
          <p:cNvSpPr>
            <a:spLocks xmlns:a="http://schemas.openxmlformats.org/drawingml/2006/main" noGrp="1"/>
          </p:cNvSpPr>
          <p:nvPr/>
        </p:nvSpPr>
        <p:spPr>
          <a:xfrm xmlns:a="http://schemas.openxmlformats.org/drawingml/2006/main">
            <a:off x="1190625" y="3429000"/>
            <a:ext cx="2095500" cy="742950"/>
          </a:xfrm>
          <a:prstGeom xmlns:a="http://schemas.openxmlformats.org/drawingml/2006/main" prst="roundRect">
            <a:avLst>
              <a:gd name="adj" fmla="val 20513"/>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How many riders?</a:t>
            </a:r>
          </a:p>
        </p:txBody>
      </p:sp>
      <p:sp>
        <p:nvSpPr>
          <p:cNvPr id="10" name="">
            <a:extLst xmlns:a="http://schemas.openxmlformats.org/drawingml/2006/main">
              <a:ext uri="{FF2B5EF4-FFF2-40B4-BE49-F238E27FC236}">
                <a16:creationId xmlns:a16="http://schemas.microsoft.com/office/drawing/2014/main" id="{E99CC8C8-B292-4081-8986-6A5655198083}"/>
              </a:ext>
            </a:extLst>
          </p:cNvPr>
          <p:cNvSpPr>
            <a:spLocks xmlns:a="http://schemas.openxmlformats.org/drawingml/2006/main" noGrp="1"/>
          </p:cNvSpPr>
          <p:nvPr/>
        </p:nvSpPr>
        <p:spPr>
          <a:xfrm xmlns:a="http://schemas.openxmlformats.org/drawingml/2006/main">
            <a:off x="3762375" y="3429000"/>
            <a:ext cx="2095500" cy="742950"/>
          </a:xfrm>
          <a:prstGeom xmlns:a="http://schemas.openxmlformats.org/drawingml/2006/main" prst="roundRect">
            <a:avLst>
              <a:gd name="adj" fmla="val 20513"/>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How often do they act?</a:t>
            </a:r>
          </a:p>
        </p:txBody>
      </p:sp>
      <p:sp>
        <p:nvSpPr>
          <p:cNvPr id="11" name="">
            <a:extLst xmlns:a="http://schemas.openxmlformats.org/drawingml/2006/main">
              <a:ext uri="{FF2B5EF4-FFF2-40B4-BE49-F238E27FC236}">
                <a16:creationId xmlns:a16="http://schemas.microsoft.com/office/drawing/2014/main" id="{CB4C166C-F68F-45CD-9327-FEE02DA36D03}"/>
              </a:ext>
            </a:extLst>
          </p:cNvPr>
          <p:cNvSpPr>
            <a:spLocks xmlns:a="http://schemas.openxmlformats.org/drawingml/2006/main" noGrp="1"/>
          </p:cNvSpPr>
          <p:nvPr/>
        </p:nvSpPr>
        <p:spPr>
          <a:xfrm xmlns:a="http://schemas.openxmlformats.org/drawingml/2006/main">
            <a:off x="6334125" y="3429000"/>
            <a:ext cx="2095500" cy="742950"/>
          </a:xfrm>
          <a:prstGeom xmlns:a="http://schemas.openxmlformats.org/drawingml/2006/main" prst="roundRect">
            <a:avLst>
              <a:gd name="adj" fmla="val 20513"/>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How large is a message?</a:t>
            </a:r>
          </a:p>
        </p:txBody>
      </p:sp>
      <p:sp>
        <p:nvSpPr>
          <p:cNvPr id="12" name="">
            <a:extLst xmlns:a="http://schemas.openxmlformats.org/drawingml/2006/main">
              <a:ext uri="{FF2B5EF4-FFF2-40B4-BE49-F238E27FC236}">
                <a16:creationId xmlns:a16="http://schemas.microsoft.com/office/drawing/2014/main" id="{F9E1C718-9647-4CA9-BE86-E2CD3B3252FE}"/>
              </a:ext>
            </a:extLst>
          </p:cNvPr>
          <p:cNvSpPr>
            <a:spLocks xmlns:a="http://schemas.openxmlformats.org/drawingml/2006/main" noGrp="1"/>
          </p:cNvSpPr>
          <p:nvPr/>
        </p:nvSpPr>
        <p:spPr>
          <a:xfrm xmlns:a="http://schemas.openxmlformats.org/drawingml/2006/main">
            <a:off x="8905875" y="3429000"/>
            <a:ext cx="2095500" cy="742950"/>
          </a:xfrm>
          <a:prstGeom xmlns:a="http://schemas.openxmlformats.org/drawingml/2006/main" prst="roundRect">
            <a:avLst>
              <a:gd name="adj" fmla="val 20513"/>
            </a:avLst>
          </a:prstGeom>
          <a:solidFill xmlns:a="http://schemas.openxmlformats.org/drawingml/2006/main">
            <a:srgbClr val="0B2942"/>
          </a:solidFill>
          <a:ln xmlns:a="http://schemas.openxmlformats.org/drawingml/2006/main" w="14288">
            <a:solidFill>
              <a:srgbClr val="FBBF24"/>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What is the peak?</a:t>
            </a:r>
          </a:p>
        </p:txBody>
      </p:sp>
      <p:sp>
        <p:nvSpPr>
          <p:cNvPr id="13" name="">
            <a:extLst xmlns:a="http://schemas.openxmlformats.org/drawingml/2006/main">
              <a:ext uri="{FF2B5EF4-FFF2-40B4-BE49-F238E27FC236}">
                <a16:creationId xmlns:a16="http://schemas.microsoft.com/office/drawing/2014/main" id="{9D9452BA-5DD9-4373-9ABB-FB7C42BA212B}"/>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4" name="">
            <a:extLst xmlns:a="http://schemas.openxmlformats.org/drawingml/2006/main">
              <a:ext uri="{FF2B5EF4-FFF2-40B4-BE49-F238E27FC236}">
                <a16:creationId xmlns:a16="http://schemas.microsoft.com/office/drawing/2014/main" id="{DF4D47DF-DA44-4CF3-A7CF-10B0A012D704}"/>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capacity estimate: A capacity estimate is a transparent approximation of expected requests, data, and storage needs.</a:t>
            </a:r>
          </a:p>
        </p:txBody>
      </p:sp>
    </p:spTree>
    <p:extLst>
      <p:ext uri="{BB962C8B-B14F-4D97-AF65-F5344CB8AC3E}">
        <p14:creationId xmlns:p14="http://schemas.microsoft.com/office/powerpoint/2010/main" val="2132365227"/>
      </p:ext>
    </p:extLst>
  </p:cSld>
</p:sld>
</file>

<file path=ppt/slides/slide8.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DD8AC4D-A3D0-4142-B4CE-E3A1296D5E9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4ADFAE42-FB8E-4010-A06C-B634A8B42461}"/>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08  •  CAPACITY</a:t>
            </a:r>
          </a:p>
        </p:txBody>
      </p:sp>
      <p:sp>
        <p:nvSpPr>
          <p:cNvPr id="3" name="">
            <a:extLst xmlns:a="http://schemas.openxmlformats.org/drawingml/2006/main">
              <a:ext uri="{FF2B5EF4-FFF2-40B4-BE49-F238E27FC236}">
                <a16:creationId xmlns:a16="http://schemas.microsoft.com/office/drawing/2014/main" id="{321AD5A0-76E4-47D5-B1C3-77D798F293F5}"/>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Ride Request Math</a:t>
            </a:r>
          </a:p>
        </p:txBody>
      </p:sp>
      <p:sp>
        <p:nvSpPr>
          <p:cNvPr id="4" name="">
            <a:extLst xmlns:a="http://schemas.openxmlformats.org/drawingml/2006/main">
              <a:ext uri="{FF2B5EF4-FFF2-40B4-BE49-F238E27FC236}">
                <a16:creationId xmlns:a16="http://schemas.microsoft.com/office/drawing/2014/main" id="{D2D11B71-D8E1-4885-805D-917198C9B729}"/>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06A5C441-3960-43DB-A62F-5AC24A56D53E}"/>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E7648828-56FE-43EC-AA61-C28E7D7C9F63}"/>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8 / 25</a:t>
            </a:r>
          </a:p>
        </p:txBody>
      </p:sp>
      <p:sp>
        <p:nvSpPr>
          <p:cNvPr id="7" name="">
            <a:extLst xmlns:a="http://schemas.openxmlformats.org/drawingml/2006/main">
              <a:ext uri="{FF2B5EF4-FFF2-40B4-BE49-F238E27FC236}">
                <a16:creationId xmlns:a16="http://schemas.microsoft.com/office/drawing/2014/main" id="{0C095193-6F4F-4F06-ADEC-DC9CEB89F6E5}"/>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2 million trips per day → 23 per second average → 230 per second at peak.</a:t>
            </a:r>
          </a:p>
        </p:txBody>
      </p:sp>
      <p:sp>
        <p:nvSpPr>
          <p:cNvPr id="8" name="">
            <a:extLst xmlns:a="http://schemas.openxmlformats.org/drawingml/2006/main">
              <a:ext uri="{FF2B5EF4-FFF2-40B4-BE49-F238E27FC236}">
                <a16:creationId xmlns:a16="http://schemas.microsoft.com/office/drawing/2014/main" id="{973A85B9-032D-4EC7-A995-409457573CFE}"/>
              </a:ext>
            </a:extLst>
          </p:cNvPr>
          <p:cNvSpPr>
            <a:spLocks xmlns:a="http://schemas.openxmlformats.org/drawingml/2006/main" noGrp="1"/>
          </p:cNvSpPr>
          <p:nvPr/>
        </p:nvSpPr>
        <p:spPr>
          <a:xfrm xmlns:a="http://schemas.openxmlformats.org/drawingml/2006/main">
            <a:off x="1428750" y="2333625"/>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F8FAFC"/>
                </a:solidFill>
              </a:defRPr>
            </a:pPr>
            <a:r>
              <a:rPr sz="2625" b="1">
                <a:solidFill>
                  <a:srgbClr val="F8FAFC"/>
                </a:solidFill>
              </a:rPr>
              <a:t>2,000,000 trips / day</a:t>
            </a:r>
          </a:p>
        </p:txBody>
      </p:sp>
      <p:sp>
        <p:nvSpPr>
          <p:cNvPr id="9" name="">
            <a:extLst xmlns:a="http://schemas.openxmlformats.org/drawingml/2006/main">
              <a:ext uri="{FF2B5EF4-FFF2-40B4-BE49-F238E27FC236}">
                <a16:creationId xmlns:a16="http://schemas.microsoft.com/office/drawing/2014/main" id="{95E49D18-C11B-4E9A-A03B-ACDF99E85D1A}"/>
              </a:ext>
            </a:extLst>
          </p:cNvPr>
          <p:cNvSpPr>
            <a:spLocks xmlns:a="http://schemas.openxmlformats.org/drawingml/2006/main" noGrp="1"/>
          </p:cNvSpPr>
          <p:nvPr/>
        </p:nvSpPr>
        <p:spPr>
          <a:xfrm xmlns:a="http://schemas.openxmlformats.org/drawingml/2006/main">
            <a:off x="4667250" y="23336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0">
                <a:solidFill>
                  <a:srgbClr val="A8C7D9"/>
                </a:solidFill>
              </a:defRPr>
            </a:pPr>
            <a:r>
              <a:rPr sz="2250" b="0">
                <a:solidFill>
                  <a:srgbClr val="A8C7D9"/>
                </a:solidFill>
              </a:rPr>
              <a:t>÷ 86,400 seconds</a:t>
            </a:r>
          </a:p>
        </p:txBody>
      </p:sp>
      <p:sp>
        <p:nvSpPr>
          <p:cNvPr id="10" name="">
            <a:extLst xmlns:a="http://schemas.openxmlformats.org/drawingml/2006/main">
              <a:ext uri="{FF2B5EF4-FFF2-40B4-BE49-F238E27FC236}">
                <a16:creationId xmlns:a16="http://schemas.microsoft.com/office/drawing/2014/main" id="{D2E7C9FA-6110-4CC8-A6F9-367437303BE3}"/>
              </a:ext>
            </a:extLst>
          </p:cNvPr>
          <p:cNvSpPr>
            <a:spLocks xmlns:a="http://schemas.openxmlformats.org/drawingml/2006/main" noGrp="1"/>
          </p:cNvSpPr>
          <p:nvPr/>
        </p:nvSpPr>
        <p:spPr>
          <a:xfrm xmlns:a="http://schemas.openxmlformats.org/drawingml/2006/main">
            <a:off x="7524750" y="23336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22D3EE"/>
                </a:solidFill>
              </a:defRPr>
            </a:pPr>
            <a:r>
              <a:rPr sz="2625" b="1">
                <a:solidFill>
                  <a:srgbClr val="22D3EE"/>
                </a:solidFill>
              </a:rPr>
              <a:t>≈ 23 / sec</a:t>
            </a:r>
          </a:p>
        </p:txBody>
      </p:sp>
      <p:sp>
        <p:nvSpPr>
          <p:cNvPr id="11" name="">
            <a:extLst xmlns:a="http://schemas.openxmlformats.org/drawingml/2006/main">
              <a:ext uri="{FF2B5EF4-FFF2-40B4-BE49-F238E27FC236}">
                <a16:creationId xmlns:a16="http://schemas.microsoft.com/office/drawing/2014/main" id="{1EB5199D-3D4E-4BD9-9B65-B8D61027FEFB}"/>
              </a:ext>
            </a:extLst>
          </p:cNvPr>
          <p:cNvSpPr>
            <a:spLocks xmlns:a="http://schemas.openxmlformats.org/drawingml/2006/main" noGrp="1"/>
          </p:cNvSpPr>
          <p:nvPr/>
        </p:nvSpPr>
        <p:spPr>
          <a:xfrm xmlns:a="http://schemas.openxmlformats.org/drawingml/2006/main">
            <a:off x="3381375" y="36195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0">
                <a:solidFill>
                  <a:srgbClr val="A8C7D9"/>
                </a:solidFill>
              </a:defRPr>
            </a:pPr>
            <a:r>
              <a:rPr sz="2550" b="0">
                <a:solidFill>
                  <a:srgbClr val="A8C7D9"/>
                </a:solidFill>
              </a:rPr>
              <a:t>× 10 peak</a:t>
            </a:r>
          </a:p>
        </p:txBody>
      </p:sp>
      <p:sp>
        <p:nvSpPr>
          <p:cNvPr id="12" name="">
            <a:extLst xmlns:a="http://schemas.openxmlformats.org/drawingml/2006/main">
              <a:ext uri="{FF2B5EF4-FFF2-40B4-BE49-F238E27FC236}">
                <a16:creationId xmlns:a16="http://schemas.microsoft.com/office/drawing/2014/main" id="{F5338507-2DB3-45FC-B7CA-76AF7A947934}"/>
              </a:ext>
            </a:extLst>
          </p:cNvPr>
          <p:cNvSpPr>
            <a:spLocks xmlns:a="http://schemas.openxmlformats.org/drawingml/2006/main" noGrp="1"/>
          </p:cNvSpPr>
          <p:nvPr/>
        </p:nvSpPr>
        <p:spPr>
          <a:xfrm xmlns:a="http://schemas.openxmlformats.org/drawingml/2006/main">
            <a:off x="5715000" y="3619500"/>
            <a:ext cx="466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34D399"/>
                </a:solidFill>
              </a:defRPr>
            </a:pPr>
            <a:r>
              <a:rPr sz="2775" b="1">
                <a:solidFill>
                  <a:srgbClr val="34D399"/>
                </a:solidFill>
              </a:rPr>
              <a:t>≈ 230 trip creations / sec</a:t>
            </a:r>
          </a:p>
        </p:txBody>
      </p:sp>
      <p:sp>
        <p:nvSpPr>
          <p:cNvPr id="13" name="">
            <a:extLst xmlns:a="http://schemas.openxmlformats.org/drawingml/2006/main">
              <a:ext uri="{FF2B5EF4-FFF2-40B4-BE49-F238E27FC236}">
                <a16:creationId xmlns:a16="http://schemas.microsoft.com/office/drawing/2014/main" id="{7C00C661-44EC-40C9-9450-C1D0D12ADC8C}"/>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4" name="">
            <a:extLst xmlns:a="http://schemas.openxmlformats.org/drawingml/2006/main">
              <a:ext uri="{FF2B5EF4-FFF2-40B4-BE49-F238E27FC236}">
                <a16:creationId xmlns:a16="http://schemas.microsoft.com/office/drawing/2014/main" id="{DDA7E8CE-2D08-4EF4-A151-237C4FE72D0A}"/>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throughput: Throughput is the amount of work a system completes in a fixed time, often requests per second.  •  peak load: Peak load is the highest expected demand period used to size a system safely.</a:t>
            </a:r>
          </a:p>
        </p:txBody>
      </p:sp>
    </p:spTree>
    <p:extLst>
      <p:ext uri="{BB962C8B-B14F-4D97-AF65-F5344CB8AC3E}">
        <p14:creationId xmlns:p14="http://schemas.microsoft.com/office/powerpoint/2010/main" val="366708000"/>
      </p:ext>
    </p:extLst>
  </p:cSld>
</p:sld>
</file>

<file path=ppt/slides/slide9.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620059D-F355-4857-A27C-58F7262BE62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0C70BC97-D6EC-4ABA-BC78-BD914F4A1B6A}"/>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09  •  CAPACITY</a:t>
            </a:r>
          </a:p>
        </p:txBody>
      </p:sp>
      <p:sp>
        <p:nvSpPr>
          <p:cNvPr id="3" name="">
            <a:extLst xmlns:a="http://schemas.openxmlformats.org/drawingml/2006/main">
              <a:ext uri="{FF2B5EF4-FFF2-40B4-BE49-F238E27FC236}">
                <a16:creationId xmlns:a16="http://schemas.microsoft.com/office/drawing/2014/main" id="{9CC870ED-E417-4C77-B4FD-5CB2BDF75EEC}"/>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Location Updates Change the Scale</a:t>
            </a:r>
          </a:p>
        </p:txBody>
      </p:sp>
      <p:sp>
        <p:nvSpPr>
          <p:cNvPr id="4" name="">
            <a:extLst xmlns:a="http://schemas.openxmlformats.org/drawingml/2006/main">
              <a:ext uri="{FF2B5EF4-FFF2-40B4-BE49-F238E27FC236}">
                <a16:creationId xmlns:a16="http://schemas.microsoft.com/office/drawing/2014/main" id="{04549A73-8193-4417-8A8E-1479202C7957}"/>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6654B467-CB29-4362-B8BA-B1F040411B0D}"/>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8DB9B584-D2C6-4AF6-BA4D-F79EB7C5E178}"/>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9 / 25</a:t>
            </a:r>
          </a:p>
        </p:txBody>
      </p:sp>
      <p:sp>
        <p:nvSpPr>
          <p:cNvPr id="7" name="">
            <a:extLst xmlns:a="http://schemas.openxmlformats.org/drawingml/2006/main">
              <a:ext uri="{FF2B5EF4-FFF2-40B4-BE49-F238E27FC236}">
                <a16:creationId xmlns:a16="http://schemas.microsoft.com/office/drawing/2014/main" id="{35C547DE-0DF9-43B0-A198-F0973C899F13}"/>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1 million active drivers, each reporting every four seconds.</a:t>
            </a:r>
          </a:p>
        </p:txBody>
      </p:sp>
      <p:sp>
        <p:nvSpPr>
          <p:cNvPr id="8" name="">
            <a:extLst xmlns:a="http://schemas.openxmlformats.org/drawingml/2006/main">
              <a:ext uri="{FF2B5EF4-FFF2-40B4-BE49-F238E27FC236}">
                <a16:creationId xmlns:a16="http://schemas.microsoft.com/office/drawing/2014/main" id="{3B80F893-C21F-4FDF-993B-947CB82D4D5C}"/>
              </a:ext>
            </a:extLst>
          </p:cNvPr>
          <p:cNvSpPr>
            <a:spLocks xmlns:a="http://schemas.openxmlformats.org/drawingml/2006/main" noGrp="1"/>
          </p:cNvSpPr>
          <p:nvPr/>
        </p:nvSpPr>
        <p:spPr>
          <a:xfrm xmlns:a="http://schemas.openxmlformats.org/drawingml/2006/main">
            <a:off x="1190625" y="2333625"/>
            <a:ext cx="242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22D3EE"/>
                </a:solidFill>
              </a:defRPr>
            </a:pPr>
            <a:r>
              <a:rPr sz="3150" b="1">
                <a:solidFill>
                  <a:srgbClr val="22D3EE"/>
                </a:solidFill>
              </a:rPr>
              <a:t>1M</a:t>
            </a:r>
          </a:p>
        </p:txBody>
      </p:sp>
      <p:sp>
        <p:nvSpPr>
          <p:cNvPr id="9" name="">
            <a:extLst xmlns:a="http://schemas.openxmlformats.org/drawingml/2006/main">
              <a:ext uri="{FF2B5EF4-FFF2-40B4-BE49-F238E27FC236}">
                <a16:creationId xmlns:a16="http://schemas.microsoft.com/office/drawing/2014/main" id="{F1ED2A9C-1AB2-406E-B825-9CA5A881E342}"/>
              </a:ext>
            </a:extLst>
          </p:cNvPr>
          <p:cNvSpPr>
            <a:spLocks xmlns:a="http://schemas.openxmlformats.org/drawingml/2006/main" noGrp="1"/>
          </p:cNvSpPr>
          <p:nvPr/>
        </p:nvSpPr>
        <p:spPr>
          <a:xfrm xmlns:a="http://schemas.openxmlformats.org/drawingml/2006/main">
            <a:off x="1190625" y="2905125"/>
            <a:ext cx="2428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8C7D9"/>
                </a:solidFill>
              </a:defRPr>
            </a:pPr>
            <a:r>
              <a:rPr sz="1350" b="0">
                <a:solidFill>
                  <a:srgbClr val="A8C7D9"/>
                </a:solidFill>
              </a:rPr>
              <a:t>active drivers</a:t>
            </a:r>
          </a:p>
        </p:txBody>
      </p:sp>
      <p:sp>
        <p:nvSpPr>
          <p:cNvPr id="10" name="">
            <a:extLst xmlns:a="http://schemas.openxmlformats.org/drawingml/2006/main">
              <a:ext uri="{FF2B5EF4-FFF2-40B4-BE49-F238E27FC236}">
                <a16:creationId xmlns:a16="http://schemas.microsoft.com/office/drawing/2014/main" id="{3842517C-C266-4622-BAF8-870F570B477B}"/>
              </a:ext>
            </a:extLst>
          </p:cNvPr>
          <p:cNvSpPr>
            <a:spLocks xmlns:a="http://schemas.openxmlformats.org/drawingml/2006/main" noGrp="1"/>
          </p:cNvSpPr>
          <p:nvPr/>
        </p:nvSpPr>
        <p:spPr>
          <a:xfrm xmlns:a="http://schemas.openxmlformats.org/drawingml/2006/main">
            <a:off x="3810000" y="24765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0">
                <a:solidFill>
                  <a:srgbClr val="A8C7D9"/>
                </a:solidFill>
              </a:defRPr>
            </a:pPr>
            <a:r>
              <a:rPr sz="2400" b="0">
                <a:solidFill>
                  <a:srgbClr val="A8C7D9"/>
                </a:solidFill>
              </a:rPr>
              <a:t>÷ 4 sec</a:t>
            </a:r>
          </a:p>
        </p:txBody>
      </p:sp>
      <p:sp>
        <p:nvSpPr>
          <p:cNvPr id="11" name="">
            <a:extLst xmlns:a="http://schemas.openxmlformats.org/drawingml/2006/main">
              <a:ext uri="{FF2B5EF4-FFF2-40B4-BE49-F238E27FC236}">
                <a16:creationId xmlns:a16="http://schemas.microsoft.com/office/drawing/2014/main" id="{E011DA79-1880-450F-8BFE-1DE1A0F7327F}"/>
              </a:ext>
            </a:extLst>
          </p:cNvPr>
          <p:cNvSpPr>
            <a:spLocks xmlns:a="http://schemas.openxmlformats.org/drawingml/2006/main" noGrp="1"/>
          </p:cNvSpPr>
          <p:nvPr/>
        </p:nvSpPr>
        <p:spPr>
          <a:xfrm xmlns:a="http://schemas.openxmlformats.org/drawingml/2006/main">
            <a:off x="5619750" y="2333625"/>
            <a:ext cx="242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34D399"/>
                </a:solidFill>
              </a:defRPr>
            </a:pPr>
            <a:r>
              <a:rPr sz="3150" b="1">
                <a:solidFill>
                  <a:srgbClr val="34D399"/>
                </a:solidFill>
              </a:rPr>
              <a:t>250K / sec</a:t>
            </a:r>
          </a:p>
        </p:txBody>
      </p:sp>
      <p:sp>
        <p:nvSpPr>
          <p:cNvPr id="12" name="">
            <a:extLst xmlns:a="http://schemas.openxmlformats.org/drawingml/2006/main">
              <a:ext uri="{FF2B5EF4-FFF2-40B4-BE49-F238E27FC236}">
                <a16:creationId xmlns:a16="http://schemas.microsoft.com/office/drawing/2014/main" id="{9CCE7884-6FF2-40F5-8A97-7B56A1144336}"/>
              </a:ext>
            </a:extLst>
          </p:cNvPr>
          <p:cNvSpPr>
            <a:spLocks xmlns:a="http://schemas.openxmlformats.org/drawingml/2006/main" noGrp="1"/>
          </p:cNvSpPr>
          <p:nvPr/>
        </p:nvSpPr>
        <p:spPr>
          <a:xfrm xmlns:a="http://schemas.openxmlformats.org/drawingml/2006/main">
            <a:off x="5619750" y="2905125"/>
            <a:ext cx="2428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8C7D9"/>
                </a:solidFill>
              </a:defRPr>
            </a:pPr>
            <a:r>
              <a:rPr sz="1350" b="0">
                <a:solidFill>
                  <a:srgbClr val="A8C7D9"/>
                </a:solidFill>
              </a:rPr>
              <a:t>location events</a:t>
            </a:r>
          </a:p>
        </p:txBody>
      </p:sp>
      <p:sp>
        <p:nvSpPr>
          <p:cNvPr id="13" name="">
            <a:extLst xmlns:a="http://schemas.openxmlformats.org/drawingml/2006/main">
              <a:ext uri="{FF2B5EF4-FFF2-40B4-BE49-F238E27FC236}">
                <a16:creationId xmlns:a16="http://schemas.microsoft.com/office/drawing/2014/main" id="{344DEA4E-6894-4912-9CB8-E38C702CCD6E}"/>
              </a:ext>
            </a:extLst>
          </p:cNvPr>
          <p:cNvSpPr>
            <a:spLocks xmlns:a="http://schemas.openxmlformats.org/drawingml/2006/main" noGrp="1"/>
          </p:cNvSpPr>
          <p:nvPr/>
        </p:nvSpPr>
        <p:spPr>
          <a:xfrm xmlns:a="http://schemas.openxmlformats.org/drawingml/2006/main">
            <a:off x="8715375" y="2333625"/>
            <a:ext cx="2428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BBF24"/>
                </a:solidFill>
              </a:defRPr>
            </a:pPr>
            <a:r>
              <a:rPr sz="3150" b="1">
                <a:solidFill>
                  <a:srgbClr val="FBBF24"/>
                </a:solidFill>
              </a:rPr>
              <a:t>25 MB / sec</a:t>
            </a:r>
          </a:p>
        </p:txBody>
      </p:sp>
      <p:sp>
        <p:nvSpPr>
          <p:cNvPr id="14" name="">
            <a:extLst xmlns:a="http://schemas.openxmlformats.org/drawingml/2006/main">
              <a:ext uri="{FF2B5EF4-FFF2-40B4-BE49-F238E27FC236}">
                <a16:creationId xmlns:a16="http://schemas.microsoft.com/office/drawing/2014/main" id="{4861DD0A-6E7C-458C-AA30-CACEFC68A750}"/>
              </a:ext>
            </a:extLst>
          </p:cNvPr>
          <p:cNvSpPr>
            <a:spLocks xmlns:a="http://schemas.openxmlformats.org/drawingml/2006/main" noGrp="1"/>
          </p:cNvSpPr>
          <p:nvPr/>
        </p:nvSpPr>
        <p:spPr>
          <a:xfrm xmlns:a="http://schemas.openxmlformats.org/drawingml/2006/main">
            <a:off x="8715375" y="2905125"/>
            <a:ext cx="2428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A8C7D9"/>
                </a:solidFill>
              </a:defRPr>
            </a:pPr>
            <a:r>
              <a:rPr sz="1350" b="0">
                <a:solidFill>
                  <a:srgbClr val="A8C7D9"/>
                </a:solidFill>
              </a:rPr>
              <a:t>raw payload</a:t>
            </a:r>
          </a:p>
        </p:txBody>
      </p:sp>
      <p:sp>
        <p:nvSpPr>
          <p:cNvPr id="15" name="">
            <a:extLst xmlns:a="http://schemas.openxmlformats.org/drawingml/2006/main">
              <a:ext uri="{FF2B5EF4-FFF2-40B4-BE49-F238E27FC236}">
                <a16:creationId xmlns:a16="http://schemas.microsoft.com/office/drawing/2014/main" id="{ABC63105-D70C-4322-B377-3F0F666AB7C2}"/>
              </a:ext>
            </a:extLst>
          </p:cNvPr>
          <p:cNvSpPr>
            <a:spLocks xmlns:a="http://schemas.openxmlformats.org/drawingml/2006/main" noGrp="1"/>
          </p:cNvSpPr>
          <p:nvPr/>
        </p:nvSpPr>
        <p:spPr>
          <a:xfrm xmlns:a="http://schemas.openxmlformats.org/drawingml/2006/main">
            <a:off x="1762125" y="409575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0">
                <a:solidFill>
                  <a:srgbClr val="A8C7D9"/>
                </a:solidFill>
              </a:defRPr>
            </a:pPr>
            <a:r>
              <a:rPr sz="2025" b="0">
                <a:solidFill>
                  <a:srgbClr val="A8C7D9"/>
                </a:solidFill>
              </a:rPr>
              <a:t>Location updates are a stream, not ordinary account edits.</a:t>
            </a:r>
          </a:p>
        </p:txBody>
      </p:sp>
      <p:sp>
        <p:nvSpPr>
          <p:cNvPr id="16" name="">
            <a:extLst xmlns:a="http://schemas.openxmlformats.org/drawingml/2006/main">
              <a:ext uri="{FF2B5EF4-FFF2-40B4-BE49-F238E27FC236}">
                <a16:creationId xmlns:a16="http://schemas.microsoft.com/office/drawing/2014/main" id="{6139BEEC-91F8-47FB-A0A0-8F76B5ADF801}"/>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7" name="">
            <a:extLst xmlns:a="http://schemas.openxmlformats.org/drawingml/2006/main">
              <a:ext uri="{FF2B5EF4-FFF2-40B4-BE49-F238E27FC236}">
                <a16:creationId xmlns:a16="http://schemas.microsoft.com/office/drawing/2014/main" id="{D46DF0AB-E5EE-46F3-98A6-F8CEAB6E4EE6}"/>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event: An event is an immutable record that something happened at a particular time.</a:t>
            </a:r>
          </a:p>
        </p:txBody>
      </p:sp>
    </p:spTree>
    <p:extLst>
      <p:ext uri="{BB962C8B-B14F-4D97-AF65-F5344CB8AC3E}">
        <p14:creationId xmlns:p14="http://schemas.microsoft.com/office/powerpoint/2010/main" val="1162222174"/>
      </p:ext>
    </p:extLst>
  </p:cSld>
</p:sld>
</file>

<file path=ppt/slides/slide10.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CE9BB10-F687-4999-8DD4-1780602994C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04B6BEBB-5C88-4693-BD02-FB94DE2A5C23}"/>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10  •  CAPACITY</a:t>
            </a:r>
          </a:p>
        </p:txBody>
      </p:sp>
      <p:sp>
        <p:nvSpPr>
          <p:cNvPr id="3" name="">
            <a:extLst xmlns:a="http://schemas.openxmlformats.org/drawingml/2006/main">
              <a:ext uri="{FF2B5EF4-FFF2-40B4-BE49-F238E27FC236}">
                <a16:creationId xmlns:a16="http://schemas.microsoft.com/office/drawing/2014/main" id="{2DD0CF6F-D3FD-40A8-9010-613FB216ECE7}"/>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Storage Follows the Data</a:t>
            </a:r>
          </a:p>
        </p:txBody>
      </p:sp>
      <p:sp>
        <p:nvSpPr>
          <p:cNvPr id="4" name="">
            <a:extLst xmlns:a="http://schemas.openxmlformats.org/drawingml/2006/main">
              <a:ext uri="{FF2B5EF4-FFF2-40B4-BE49-F238E27FC236}">
                <a16:creationId xmlns:a16="http://schemas.microsoft.com/office/drawing/2014/main" id="{284DCE91-F324-4677-878E-2FD97AEC46D6}"/>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5821E9C5-7AAA-4EA6-91C7-B42072593BE8}"/>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48196495-CEE5-47E0-8E36-32C556DE0783}"/>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10 / 25</a:t>
            </a:r>
          </a:p>
        </p:txBody>
      </p:sp>
      <p:sp>
        <p:nvSpPr>
          <p:cNvPr id="7" name="">
            <a:extLst xmlns:a="http://schemas.openxmlformats.org/drawingml/2006/main">
              <a:ext uri="{FF2B5EF4-FFF2-40B4-BE49-F238E27FC236}">
                <a16:creationId xmlns:a16="http://schemas.microsoft.com/office/drawing/2014/main" id="{06C9F804-E0AB-4A11-8371-1B50D0313B19}"/>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Live positions expire quickly. Raw history is cheaper in object storage.</a:t>
            </a:r>
          </a:p>
        </p:txBody>
      </p:sp>
      <p:sp>
        <p:nvSpPr>
          <p:cNvPr id="8" name="">
            <a:extLst xmlns:a="http://schemas.openxmlformats.org/drawingml/2006/main">
              <a:ext uri="{FF2B5EF4-FFF2-40B4-BE49-F238E27FC236}">
                <a16:creationId xmlns:a16="http://schemas.microsoft.com/office/drawing/2014/main" id="{AFCEAC86-CA18-4EFA-AC29-D8B4752B2CE6}"/>
              </a:ext>
            </a:extLst>
          </p:cNvPr>
          <p:cNvSpPr>
            <a:spLocks xmlns:a="http://schemas.openxmlformats.org/drawingml/2006/main" noGrp="1"/>
          </p:cNvSpPr>
          <p:nvPr/>
        </p:nvSpPr>
        <p:spPr>
          <a:xfrm xmlns:a="http://schemas.openxmlformats.org/drawingml/2006/main">
            <a:off x="1333500" y="2476500"/>
            <a:ext cx="2095500" cy="1095375"/>
          </a:xfrm>
          <a:prstGeom xmlns:a="http://schemas.openxmlformats.org/drawingml/2006/main" prst="roundRect">
            <a:avLst>
              <a:gd name="adj" fmla="val 13913"/>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HOT</a:t>
            </a:r>
          </a:p>
          <a:p xmlns:a="http://schemas.openxmlformats.org/drawingml/2006/main">
            <a:pPr algn="ctr">
              <a:defRPr sz="1350" b="1">
                <a:solidFill>
                  <a:srgbClr val="F8FAFC"/>
                </a:solidFill>
              </a:defRPr>
            </a:pPr>
            <a:r>
              <a:rPr sz="1350" b="1">
                <a:solidFill>
                  <a:srgbClr val="F8FAFC"/>
                </a:solidFill>
              </a:rPr>
              <a:t>live H3 position • TTL</a:t>
            </a:r>
          </a:p>
        </p:txBody>
      </p:sp>
      <p:sp>
        <p:nvSpPr>
          <p:cNvPr id="9" name="">
            <a:extLst xmlns:a="http://schemas.openxmlformats.org/drawingml/2006/main">
              <a:ext uri="{FF2B5EF4-FFF2-40B4-BE49-F238E27FC236}">
                <a16:creationId xmlns:a16="http://schemas.microsoft.com/office/drawing/2014/main" id="{2B6E565B-9494-46DF-8301-8AD94B470FFE}"/>
              </a:ext>
            </a:extLst>
          </p:cNvPr>
          <p:cNvSpPr>
            <a:spLocks xmlns:a="http://schemas.openxmlformats.org/drawingml/2006/main" noGrp="1"/>
          </p:cNvSpPr>
          <p:nvPr/>
        </p:nvSpPr>
        <p:spPr>
          <a:xfrm xmlns:a="http://schemas.openxmlformats.org/drawingml/2006/main">
            <a:off x="5048250" y="2476500"/>
            <a:ext cx="2095500" cy="1095375"/>
          </a:xfrm>
          <a:prstGeom xmlns:a="http://schemas.openxmlformats.org/drawingml/2006/main" prst="roundRect">
            <a:avLst>
              <a:gd name="adj" fmla="val 13913"/>
            </a:avLst>
          </a:prstGeom>
          <a:solidFill xmlns:a="http://schemas.openxmlformats.org/drawingml/2006/main">
            <a:srgbClr val="0B2942"/>
          </a:solidFill>
          <a:ln xmlns:a="http://schemas.openxmlformats.org/drawingml/2006/main" w="14288">
            <a:solidFill>
              <a:srgbClr val="34D399"/>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DURABLE</a:t>
            </a:r>
          </a:p>
          <a:p xmlns:a="http://schemas.openxmlformats.org/drawingml/2006/main">
            <a:pPr algn="ctr">
              <a:defRPr sz="1350" b="1">
                <a:solidFill>
                  <a:srgbClr val="F8FAFC"/>
                </a:solidFill>
              </a:defRPr>
            </a:pPr>
            <a:r>
              <a:rPr sz="1350" b="1">
                <a:solidFill>
                  <a:srgbClr val="F8FAFC"/>
                </a:solidFill>
              </a:rPr>
              <a:t>trip + payment truth</a:t>
            </a:r>
          </a:p>
        </p:txBody>
      </p:sp>
      <p:sp>
        <p:nvSpPr>
          <p:cNvPr id="10" name="">
            <a:extLst xmlns:a="http://schemas.openxmlformats.org/drawingml/2006/main">
              <a:ext uri="{FF2B5EF4-FFF2-40B4-BE49-F238E27FC236}">
                <a16:creationId xmlns:a16="http://schemas.microsoft.com/office/drawing/2014/main" id="{623FBAED-4038-4A1C-A503-8E032FF6C4A8}"/>
              </a:ext>
            </a:extLst>
          </p:cNvPr>
          <p:cNvSpPr>
            <a:spLocks xmlns:a="http://schemas.openxmlformats.org/drawingml/2006/main" noGrp="1"/>
          </p:cNvSpPr>
          <p:nvPr/>
        </p:nvSpPr>
        <p:spPr>
          <a:xfrm xmlns:a="http://schemas.openxmlformats.org/drawingml/2006/main">
            <a:off x="8763000" y="2476500"/>
            <a:ext cx="2095500" cy="1095375"/>
          </a:xfrm>
          <a:prstGeom xmlns:a="http://schemas.openxmlformats.org/drawingml/2006/main" prst="roundRect">
            <a:avLst>
              <a:gd name="adj" fmla="val 13913"/>
            </a:avLst>
          </a:prstGeom>
          <a:solidFill xmlns:a="http://schemas.openxmlformats.org/drawingml/2006/main">
            <a:srgbClr val="0B2942"/>
          </a:solidFill>
          <a:ln xmlns:a="http://schemas.openxmlformats.org/drawingml/2006/main" w="14288">
            <a:solidFill>
              <a:srgbClr val="FBBF24"/>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CHEAP</a:t>
            </a:r>
          </a:p>
          <a:p xmlns:a="http://schemas.openxmlformats.org/drawingml/2006/main">
            <a:pPr algn="ctr">
              <a:defRPr sz="1350" b="1">
                <a:solidFill>
                  <a:srgbClr val="F8FAFC"/>
                </a:solidFill>
              </a:defRPr>
            </a:pPr>
            <a:r>
              <a:rPr sz="1350" b="1">
                <a:solidFill>
                  <a:srgbClr val="F8FAFC"/>
                </a:solidFill>
              </a:rPr>
              <a:t>raw route history</a:t>
            </a:r>
          </a:p>
        </p:txBody>
      </p:sp>
      <p:cxnSp>
        <p:nvCxnSpPr>
          <p:cNvPr id="28" name=""/>
          <p:cNvCxnSpPr>
            <a:stCxn xmlns:a="http://schemas.openxmlformats.org/drawingml/2006/main" id="8" idx="3"/>
            <a:endCxn xmlns:a="http://schemas.openxmlformats.org/drawingml/2006/main" id="9" idx="1"/>
          </p:cNvCxnSpPr>
          <p:nvPr/>
        </p:nvCxnSpPr>
        <p:spPr>
          <a:xfrm xmlns:a="http://schemas.openxmlformats.org/drawingml/2006/main">
            <a:off x="3429000" y="3024188"/>
            <a:ext cx="1619250" cy="0"/>
          </a:xfrm>
          <a:prstGeom xmlns:a="http://schemas.openxmlformats.org/drawingml/2006/main" prst="straightConnector1">
            <a:avLst/>
          </a:prstGeom>
          <a:ln xmlns:a="http://schemas.openxmlformats.org/drawingml/2006/main" w="23813">
            <a:solidFill>
              <a:srgbClr val="1E4A66"/>
            </a:solidFill>
            <a:prstDash val="solid"/>
            <a:headEnd type="triangle" w="sm" len="sm"/>
          </a:ln>
        </p:spPr>
      </p:cxnSp>
      <p:cxnSp>
        <p:nvCxnSpPr>
          <p:cNvPr id="29" name=""/>
          <p:cNvCxnSpPr>
            <a:stCxn xmlns:a="http://schemas.openxmlformats.org/drawingml/2006/main" id="9" idx="3"/>
            <a:endCxn xmlns:a="http://schemas.openxmlformats.org/drawingml/2006/main" id="10" idx="1"/>
          </p:cNvCxnSpPr>
          <p:nvPr/>
        </p:nvCxnSpPr>
        <p:spPr>
          <a:xfrm xmlns:a="http://schemas.openxmlformats.org/drawingml/2006/main">
            <a:off x="7143750" y="3024188"/>
            <a:ext cx="1619250" cy="0"/>
          </a:xfrm>
          <a:prstGeom xmlns:a="http://schemas.openxmlformats.org/drawingml/2006/main" prst="straightConnector1">
            <a:avLst/>
          </a:prstGeom>
          <a:ln xmlns:a="http://schemas.openxmlformats.org/drawingml/2006/main" w="23813">
            <a:solidFill>
              <a:srgbClr val="1E4A66"/>
            </a:solidFill>
            <a:prstDash val="solid"/>
            <a:headEnd type="triangle" w="sm" len="sm"/>
          </a:ln>
        </p:spPr>
      </p:cxnSp>
      <p:sp>
        <p:nvSpPr>
          <p:cNvPr id="13" name="">
            <a:extLst xmlns:a="http://schemas.openxmlformats.org/drawingml/2006/main">
              <a:ext uri="{FF2B5EF4-FFF2-40B4-BE49-F238E27FC236}">
                <a16:creationId xmlns:a16="http://schemas.microsoft.com/office/drawing/2014/main" id="{A02D6C49-7347-4176-9E40-90F50848B6E6}"/>
              </a:ext>
            </a:extLst>
          </p:cNvPr>
          <p:cNvSpPr>
            <a:spLocks xmlns:a="http://schemas.openxmlformats.org/drawingml/2006/main" noGrp="1"/>
          </p:cNvSpPr>
          <p:nvPr/>
        </p:nvSpPr>
        <p:spPr>
          <a:xfrm xmlns:a="http://schemas.openxmlformats.org/drawingml/2006/main">
            <a:off x="8191500" y="1809750"/>
            <a:ext cx="3095625" cy="819150"/>
          </a:xfrm>
          <a:prstGeom xmlns:a="http://schemas.openxmlformats.org/drawingml/2006/main" prst="roundRect">
            <a:avLst>
              <a:gd name="adj" fmla="val 18605"/>
            </a:avLst>
          </a:prstGeom>
          <a:solidFill xmlns:a="http://schemas.openxmlformats.org/drawingml/2006/main">
            <a:srgbClr val="163047"/>
          </a:solidFill>
          <a:ln xmlns:a="http://schemas.openxmlformats.org/drawingml/2006/main" w="14288">
            <a:solidFill>
              <a:srgbClr val="FBBF24"/>
            </a:solidFill>
            <a:prstDash val="solid"/>
          </a:ln>
        </p:spPr>
      </p:sp>
      <p:sp>
        <p:nvSpPr>
          <p:cNvPr id="14" name="">
            <a:extLst xmlns:a="http://schemas.openxmlformats.org/drawingml/2006/main">
              <a:ext uri="{FF2B5EF4-FFF2-40B4-BE49-F238E27FC236}">
                <a16:creationId xmlns:a16="http://schemas.microsoft.com/office/drawing/2014/main" id="{80A8BDA1-8F98-41B2-BD21-0606AF41271E}"/>
              </a:ext>
            </a:extLst>
          </p:cNvPr>
          <p:cNvSpPr>
            <a:spLocks xmlns:a="http://schemas.openxmlformats.org/drawingml/2006/main" noGrp="1"/>
          </p:cNvSpPr>
          <p:nvPr/>
        </p:nvSpPr>
        <p:spPr>
          <a:xfrm xmlns:a="http://schemas.openxmlformats.org/drawingml/2006/main">
            <a:off x="8401050" y="1952625"/>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BBF24"/>
                </a:solidFill>
              </a:defRPr>
            </a:pPr>
            <a:r>
              <a:rPr sz="1125" b="1">
                <a:solidFill>
                  <a:srgbClr val="FBBF24"/>
                </a:solidFill>
              </a:rPr>
              <a:t>PAUSE &amp; PREDICT</a:t>
            </a:r>
          </a:p>
        </p:txBody>
      </p:sp>
      <p:sp>
        <p:nvSpPr>
          <p:cNvPr id="15" name="">
            <a:extLst xmlns:a="http://schemas.openxmlformats.org/drawingml/2006/main">
              <a:ext uri="{FF2B5EF4-FFF2-40B4-BE49-F238E27FC236}">
                <a16:creationId xmlns:a16="http://schemas.microsoft.com/office/drawing/2014/main" id="{D1C12D89-ABA4-4958-8590-826A7BC2E0E9}"/>
              </a:ext>
            </a:extLst>
          </p:cNvPr>
          <p:cNvSpPr>
            <a:spLocks xmlns:a="http://schemas.openxmlformats.org/drawingml/2006/main" noGrp="1"/>
          </p:cNvSpPr>
          <p:nvPr/>
        </p:nvSpPr>
        <p:spPr>
          <a:xfrm xmlns:a="http://schemas.openxmlformats.org/drawingml/2006/main">
            <a:off x="8401050" y="2209800"/>
            <a:ext cx="2619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8FAFC"/>
                </a:solidFill>
              </a:defRPr>
            </a:pPr>
            <a:r>
              <a:rPr sz="1350" b="1">
                <a:solidFill>
                  <a:srgbClr val="F8FAFC"/>
                </a:solidFill>
              </a:rPr>
              <a:t>Where should the last 10 seconds of location live?</a:t>
            </a:r>
          </a:p>
        </p:txBody>
      </p:sp>
      <p:sp>
        <p:nvSpPr>
          <p:cNvPr id="16" name="">
            <a:extLst xmlns:a="http://schemas.openxmlformats.org/drawingml/2006/main">
              <a:ext uri="{FF2B5EF4-FFF2-40B4-BE49-F238E27FC236}">
                <a16:creationId xmlns:a16="http://schemas.microsoft.com/office/drawing/2014/main" id="{D6273471-7EE9-45FF-97F6-F4835E4BB27B}"/>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7" name="">
            <a:extLst xmlns:a="http://schemas.openxmlformats.org/drawingml/2006/main">
              <a:ext uri="{FF2B5EF4-FFF2-40B4-BE49-F238E27FC236}">
                <a16:creationId xmlns:a16="http://schemas.microsoft.com/office/drawing/2014/main" id="{063B53E3-4771-4D88-B84E-393BDA3740E1}"/>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replication: Replication keeps multiple copies of data so a failure of one copy does not make it unavailable.</a:t>
            </a:r>
          </a:p>
        </p:txBody>
      </p:sp>
    </p:spTree>
    <p:extLst>
      <p:ext uri="{BB962C8B-B14F-4D97-AF65-F5344CB8AC3E}">
        <p14:creationId xmlns:p14="http://schemas.microsoft.com/office/powerpoint/2010/main" val="1664000614"/>
      </p:ext>
    </p:extLst>
  </p:cSld>
</p:sld>
</file>

<file path=ppt/slides/slide11.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99FE340-15A4-4EDE-9337-38C7B1D482B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25ACEF75-ACB0-47F9-A41F-73F588D4FBC7}"/>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11  •  ARCHITECTURE</a:t>
            </a:r>
          </a:p>
        </p:txBody>
      </p:sp>
      <p:sp>
        <p:nvSpPr>
          <p:cNvPr id="3" name="">
            <a:extLst xmlns:a="http://schemas.openxmlformats.org/drawingml/2006/main">
              <a:ext uri="{FF2B5EF4-FFF2-40B4-BE49-F238E27FC236}">
                <a16:creationId xmlns:a16="http://schemas.microsoft.com/office/drawing/2014/main" id="{0C2F3394-A853-4B72-BE07-7C9C3368F5CC}"/>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System Context: Who Connects?</a:t>
            </a:r>
          </a:p>
        </p:txBody>
      </p:sp>
      <p:sp>
        <p:nvSpPr>
          <p:cNvPr id="4" name="">
            <a:extLst xmlns:a="http://schemas.openxmlformats.org/drawingml/2006/main">
              <a:ext uri="{FF2B5EF4-FFF2-40B4-BE49-F238E27FC236}">
                <a16:creationId xmlns:a16="http://schemas.microsoft.com/office/drawing/2014/main" id="{80FDC865-3816-4FFE-8488-8B498A270CE9}"/>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448C10C6-E7E7-43CD-930E-360B8E21D1A6}"/>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4B19BB87-27C6-4CB7-ACC9-FAE5B58D1D40}"/>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11 / 25</a:t>
            </a:r>
          </a:p>
        </p:txBody>
      </p:sp>
      <p:sp>
        <p:nvSpPr>
          <p:cNvPr id="7" name="">
            <a:extLst xmlns:a="http://schemas.openxmlformats.org/drawingml/2006/main">
              <a:ext uri="{FF2B5EF4-FFF2-40B4-BE49-F238E27FC236}">
                <a16:creationId xmlns:a16="http://schemas.microsoft.com/office/drawing/2014/main" id="{132BF864-1470-420F-A375-C0724788EA8A}"/>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Rider and driver apps connect to maps, payments, and safety services through the platform.</a:t>
            </a:r>
          </a:p>
        </p:txBody>
      </p:sp>
      <p:sp>
        <p:nvSpPr>
          <p:cNvPr id="8" name="">
            <a:extLst xmlns:a="http://schemas.openxmlformats.org/drawingml/2006/main">
              <a:ext uri="{FF2B5EF4-FFF2-40B4-BE49-F238E27FC236}">
                <a16:creationId xmlns:a16="http://schemas.microsoft.com/office/drawing/2014/main" id="{21A8DF95-899F-4E66-B850-040A5AB12771}"/>
              </a:ext>
            </a:extLst>
          </p:cNvPr>
          <p:cNvSpPr>
            <a:spLocks xmlns:a="http://schemas.openxmlformats.org/drawingml/2006/main" noGrp="1"/>
          </p:cNvSpPr>
          <p:nvPr/>
        </p:nvSpPr>
        <p:spPr>
          <a:xfrm xmlns:a="http://schemas.openxmlformats.org/drawingml/2006/main">
            <a:off x="1047750" y="2714625"/>
            <a:ext cx="1619250" cy="762000"/>
          </a:xfrm>
          <a:prstGeom xmlns:a="http://schemas.openxmlformats.org/drawingml/2006/main" prst="roundRect">
            <a:avLst>
              <a:gd name="adj" fmla="val 20000"/>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Rider app</a:t>
            </a:r>
          </a:p>
        </p:txBody>
      </p:sp>
      <p:sp>
        <p:nvSpPr>
          <p:cNvPr id="9" name="">
            <a:extLst xmlns:a="http://schemas.openxmlformats.org/drawingml/2006/main">
              <a:ext uri="{FF2B5EF4-FFF2-40B4-BE49-F238E27FC236}">
                <a16:creationId xmlns:a16="http://schemas.microsoft.com/office/drawing/2014/main" id="{DEE770EF-E92D-4B0B-86D1-D82F29B5E50D}"/>
              </a:ext>
            </a:extLst>
          </p:cNvPr>
          <p:cNvSpPr>
            <a:spLocks xmlns:a="http://schemas.openxmlformats.org/drawingml/2006/main" noGrp="1"/>
          </p:cNvSpPr>
          <p:nvPr/>
        </p:nvSpPr>
        <p:spPr>
          <a:xfrm xmlns:a="http://schemas.openxmlformats.org/drawingml/2006/main">
            <a:off x="4762500" y="2476500"/>
            <a:ext cx="2762250" cy="1143000"/>
          </a:xfrm>
          <a:prstGeom xmlns:a="http://schemas.openxmlformats.org/drawingml/2006/main" prst="roundRect">
            <a:avLst>
              <a:gd name="adj" fmla="val 13333"/>
            </a:avLst>
          </a:prstGeom>
          <a:solidFill xmlns:a="http://schemas.openxmlformats.org/drawingml/2006/main">
            <a:srgbClr val="0B2942"/>
          </a:solidFill>
          <a:ln xmlns:a="http://schemas.openxmlformats.org/drawingml/2006/main" w="14288">
            <a:solidFill>
              <a:srgbClr val="34D399"/>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Mobility platform</a:t>
            </a:r>
          </a:p>
        </p:txBody>
      </p:sp>
      <p:sp>
        <p:nvSpPr>
          <p:cNvPr id="10" name="">
            <a:extLst xmlns:a="http://schemas.openxmlformats.org/drawingml/2006/main">
              <a:ext uri="{FF2B5EF4-FFF2-40B4-BE49-F238E27FC236}">
                <a16:creationId xmlns:a16="http://schemas.microsoft.com/office/drawing/2014/main" id="{DFB5C7CD-0436-4C2A-B1C5-C71018069FD3}"/>
              </a:ext>
            </a:extLst>
          </p:cNvPr>
          <p:cNvSpPr>
            <a:spLocks xmlns:a="http://schemas.openxmlformats.org/drawingml/2006/main" noGrp="1"/>
          </p:cNvSpPr>
          <p:nvPr/>
        </p:nvSpPr>
        <p:spPr>
          <a:xfrm xmlns:a="http://schemas.openxmlformats.org/drawingml/2006/main">
            <a:off x="9525000" y="2714625"/>
            <a:ext cx="1619250" cy="762000"/>
          </a:xfrm>
          <a:prstGeom xmlns:a="http://schemas.openxmlformats.org/drawingml/2006/main" prst="roundRect">
            <a:avLst>
              <a:gd name="adj" fmla="val 20000"/>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Driver app</a:t>
            </a:r>
          </a:p>
        </p:txBody>
      </p:sp>
      <p:cxnSp>
        <p:nvCxnSpPr>
          <p:cNvPr id="29" name=""/>
          <p:cNvCxnSpPr>
            <a:stCxn xmlns:a="http://schemas.openxmlformats.org/drawingml/2006/main" id="8" idx="3"/>
            <a:endCxn xmlns:a="http://schemas.openxmlformats.org/drawingml/2006/main" id="9" idx="1"/>
          </p:cNvCxnSpPr>
          <p:nvPr/>
        </p:nvCxnSpPr>
        <p:spPr>
          <a:xfrm xmlns:a="http://schemas.openxmlformats.org/drawingml/2006/main" flipV="1">
            <a:off x="2667000" y="3048000"/>
            <a:ext cx="2095500" cy="47625"/>
          </a:xfrm>
          <a:prstGeom xmlns:a="http://schemas.openxmlformats.org/drawingml/2006/main" prst="bentConnector3">
            <a:avLst>
              <a:gd name="adj1" fmla="val 50000"/>
            </a:avLst>
          </a:prstGeom>
          <a:ln xmlns:a="http://schemas.openxmlformats.org/drawingml/2006/main" w="23813">
            <a:solidFill>
              <a:srgbClr val="22D3EE"/>
            </a:solidFill>
            <a:prstDash val="solid"/>
            <a:headEnd type="triangle" w="sm" len="sm"/>
          </a:ln>
        </p:spPr>
      </p:cxnSp>
      <p:cxnSp>
        <p:nvCxnSpPr>
          <p:cNvPr id="30" name=""/>
          <p:cNvCxnSpPr>
            <a:stCxn xmlns:a="http://schemas.openxmlformats.org/drawingml/2006/main" id="9" idx="3"/>
            <a:endCxn xmlns:a="http://schemas.openxmlformats.org/drawingml/2006/main" id="10" idx="1"/>
          </p:cNvCxnSpPr>
          <p:nvPr/>
        </p:nvCxnSpPr>
        <p:spPr>
          <a:xfrm xmlns:a="http://schemas.openxmlformats.org/drawingml/2006/main">
            <a:off x="7524750" y="3048000"/>
            <a:ext cx="2000250" cy="47625"/>
          </a:xfrm>
          <a:prstGeom xmlns:a="http://schemas.openxmlformats.org/drawingml/2006/main" prst="bentConnector3">
            <a:avLst>
              <a:gd name="adj1" fmla="val 50000"/>
            </a:avLst>
          </a:prstGeom>
          <a:ln xmlns:a="http://schemas.openxmlformats.org/drawingml/2006/main" w="23813">
            <a:solidFill>
              <a:srgbClr val="22D3EE"/>
            </a:solidFill>
            <a:prstDash val="solid"/>
            <a:headEnd type="triangle" w="sm" len="sm"/>
          </a:ln>
        </p:spPr>
      </p:cxnSp>
      <p:sp>
        <p:nvSpPr>
          <p:cNvPr id="13" name="">
            <a:extLst xmlns:a="http://schemas.openxmlformats.org/drawingml/2006/main">
              <a:ext uri="{FF2B5EF4-FFF2-40B4-BE49-F238E27FC236}">
                <a16:creationId xmlns:a16="http://schemas.microsoft.com/office/drawing/2014/main" id="{620D8CFB-E282-414A-B85E-1250629774F7}"/>
              </a:ext>
            </a:extLst>
          </p:cNvPr>
          <p:cNvSpPr>
            <a:spLocks xmlns:a="http://schemas.openxmlformats.org/drawingml/2006/main" noGrp="1"/>
          </p:cNvSpPr>
          <p:nvPr/>
        </p:nvSpPr>
        <p:spPr>
          <a:xfrm xmlns:a="http://schemas.openxmlformats.org/drawingml/2006/main">
            <a:off x="4667250" y="4429125"/>
            <a:ext cx="1381125" cy="571500"/>
          </a:xfrm>
          <a:prstGeom xmlns:a="http://schemas.openxmlformats.org/drawingml/2006/main" prst="roundRect">
            <a:avLst>
              <a:gd name="adj" fmla="val 26667"/>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Routing</a:t>
            </a:r>
          </a:p>
        </p:txBody>
      </p:sp>
      <p:cxnSp>
        <p:nvCxnSpPr>
          <p:cNvPr id="32" name=""/>
          <p:cNvCxnSpPr>
            <a:stCxn xmlns:a="http://schemas.openxmlformats.org/drawingml/2006/main" id="9" idx="2"/>
            <a:endCxn xmlns:a="http://schemas.openxmlformats.org/drawingml/2006/main" id="13" idx="0"/>
          </p:cNvCxnSpPr>
          <p:nvPr/>
        </p:nvCxnSpPr>
        <p:spPr>
          <a:xfrm xmlns:a="http://schemas.openxmlformats.org/drawingml/2006/main" flipH="1">
            <a:off x="5357813" y="3619500"/>
            <a:ext cx="785813" cy="809625"/>
          </a:xfrm>
          <a:prstGeom xmlns:a="http://schemas.openxmlformats.org/drawingml/2006/main" prst="bentConnector4">
            <a:avLst>
              <a:gd name="adj1" fmla="val 0"/>
              <a:gd name="adj2" fmla="val 50000"/>
            </a:avLst>
          </a:prstGeom>
          <a:ln xmlns:a="http://schemas.openxmlformats.org/drawingml/2006/main" w="23813">
            <a:solidFill>
              <a:srgbClr val="1E4A66"/>
            </a:solidFill>
            <a:prstDash val="dash"/>
            <a:headEnd type="triangle" w="sm" len="sm"/>
          </a:ln>
        </p:spPr>
      </p:cxnSp>
      <p:sp>
        <p:nvSpPr>
          <p:cNvPr id="15" name="">
            <a:extLst xmlns:a="http://schemas.openxmlformats.org/drawingml/2006/main">
              <a:ext uri="{FF2B5EF4-FFF2-40B4-BE49-F238E27FC236}">
                <a16:creationId xmlns:a16="http://schemas.microsoft.com/office/drawing/2014/main" id="{87B424EA-68A2-4B65-88C8-ED5D542FA063}"/>
              </a:ext>
            </a:extLst>
          </p:cNvPr>
          <p:cNvSpPr>
            <a:spLocks xmlns:a="http://schemas.openxmlformats.org/drawingml/2006/main" noGrp="1"/>
          </p:cNvSpPr>
          <p:nvPr/>
        </p:nvSpPr>
        <p:spPr>
          <a:xfrm xmlns:a="http://schemas.openxmlformats.org/drawingml/2006/main">
            <a:off x="6334125" y="4429125"/>
            <a:ext cx="1381125" cy="571500"/>
          </a:xfrm>
          <a:prstGeom xmlns:a="http://schemas.openxmlformats.org/drawingml/2006/main" prst="roundRect">
            <a:avLst>
              <a:gd name="adj" fmla="val 26667"/>
            </a:avLst>
          </a:prstGeom>
          <a:solidFill xmlns:a="http://schemas.openxmlformats.org/drawingml/2006/main">
            <a:srgbClr val="0B2942"/>
          </a:solidFill>
          <a:ln xmlns:a="http://schemas.openxmlformats.org/drawingml/2006/main" w="14288">
            <a:solidFill>
              <a:srgbClr val="FBBF24"/>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Payments</a:t>
            </a:r>
          </a:p>
        </p:txBody>
      </p:sp>
      <p:cxnSp>
        <p:nvCxnSpPr>
          <p:cNvPr id="34" name=""/>
          <p:cNvCxnSpPr>
            <a:stCxn xmlns:a="http://schemas.openxmlformats.org/drawingml/2006/main" id="9" idx="2"/>
            <a:endCxn xmlns:a="http://schemas.openxmlformats.org/drawingml/2006/main" id="15" idx="0"/>
          </p:cNvCxnSpPr>
          <p:nvPr/>
        </p:nvCxnSpPr>
        <p:spPr>
          <a:xfrm xmlns:a="http://schemas.openxmlformats.org/drawingml/2006/main">
            <a:off x="6143625" y="3619500"/>
            <a:ext cx="881063" cy="809625"/>
          </a:xfrm>
          <a:prstGeom xmlns:a="http://schemas.openxmlformats.org/drawingml/2006/main" prst="bentConnector4">
            <a:avLst>
              <a:gd name="adj1" fmla="val 0"/>
              <a:gd name="adj2" fmla="val 50000"/>
            </a:avLst>
          </a:prstGeom>
          <a:ln xmlns:a="http://schemas.openxmlformats.org/drawingml/2006/main" w="23813">
            <a:solidFill>
              <a:srgbClr val="1E4A66"/>
            </a:solidFill>
            <a:prstDash val="dash"/>
            <a:headEnd type="triangle" w="sm" len="sm"/>
          </a:ln>
        </p:spPr>
      </p:cxnSp>
      <p:sp>
        <p:nvSpPr>
          <p:cNvPr id="17" name="">
            <a:extLst xmlns:a="http://schemas.openxmlformats.org/drawingml/2006/main">
              <a:ext uri="{FF2B5EF4-FFF2-40B4-BE49-F238E27FC236}">
                <a16:creationId xmlns:a16="http://schemas.microsoft.com/office/drawing/2014/main" id="{4851C601-70F2-41FB-8BCA-B410112108FD}"/>
              </a:ext>
            </a:extLst>
          </p:cNvPr>
          <p:cNvSpPr>
            <a:spLocks xmlns:a="http://schemas.openxmlformats.org/drawingml/2006/main" noGrp="1"/>
          </p:cNvSpPr>
          <p:nvPr/>
        </p:nvSpPr>
        <p:spPr>
          <a:xfrm xmlns:a="http://schemas.openxmlformats.org/drawingml/2006/main">
            <a:off x="8001000" y="4429125"/>
            <a:ext cx="1381125" cy="571500"/>
          </a:xfrm>
          <a:prstGeom xmlns:a="http://schemas.openxmlformats.org/drawingml/2006/main" prst="roundRect">
            <a:avLst>
              <a:gd name="adj" fmla="val 26667"/>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Safety</a:t>
            </a:r>
          </a:p>
        </p:txBody>
      </p:sp>
      <p:cxnSp>
        <p:nvCxnSpPr>
          <p:cNvPr id="36" name=""/>
          <p:cNvCxnSpPr>
            <a:stCxn xmlns:a="http://schemas.openxmlformats.org/drawingml/2006/main" id="9" idx="2"/>
            <a:endCxn xmlns:a="http://schemas.openxmlformats.org/drawingml/2006/main" id="17" idx="0"/>
          </p:cNvCxnSpPr>
          <p:nvPr/>
        </p:nvCxnSpPr>
        <p:spPr>
          <a:xfrm xmlns:a="http://schemas.openxmlformats.org/drawingml/2006/main">
            <a:off x="6143625" y="3619500"/>
            <a:ext cx="2547938" cy="809625"/>
          </a:xfrm>
          <a:prstGeom xmlns:a="http://schemas.openxmlformats.org/drawingml/2006/main" prst="bentConnector4">
            <a:avLst>
              <a:gd name="adj1" fmla="val 0"/>
              <a:gd name="adj2" fmla="val 50000"/>
            </a:avLst>
          </a:prstGeom>
          <a:ln xmlns:a="http://schemas.openxmlformats.org/drawingml/2006/main" w="23813">
            <a:solidFill>
              <a:srgbClr val="1E4A66"/>
            </a:solidFill>
            <a:prstDash val="dash"/>
            <a:headEnd type="triangle" w="sm" len="sm"/>
          </a:ln>
        </p:spPr>
      </p:cxnSp>
    </p:spTree>
    <p:extLst>
      <p:ext uri="{BB962C8B-B14F-4D97-AF65-F5344CB8AC3E}">
        <p14:creationId xmlns:p14="http://schemas.microsoft.com/office/powerpoint/2010/main" val="1816545939"/>
      </p:ext>
    </p:extLst>
  </p:cSld>
</p:sld>
</file>

<file path=ppt/slides/slide12.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0730780-15A4-448F-B31A-DDC4D41D3E4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D8588B18-AA73-4800-A685-3481AE6AEE1E}"/>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12  •  ARCHITECTURE</a:t>
            </a:r>
          </a:p>
        </p:txBody>
      </p:sp>
      <p:sp>
        <p:nvSpPr>
          <p:cNvPr id="3" name="">
            <a:extLst xmlns:a="http://schemas.openxmlformats.org/drawingml/2006/main">
              <a:ext uri="{FF2B5EF4-FFF2-40B4-BE49-F238E27FC236}">
                <a16:creationId xmlns:a16="http://schemas.microsoft.com/office/drawing/2014/main" id="{AABE2168-F2D5-4F85-8806-0EF7DDF72E6D}"/>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Regional Architecture: Start at the Edge</a:t>
            </a:r>
          </a:p>
        </p:txBody>
      </p:sp>
      <p:sp>
        <p:nvSpPr>
          <p:cNvPr id="4" name="">
            <a:extLst xmlns:a="http://schemas.openxmlformats.org/drawingml/2006/main">
              <a:ext uri="{FF2B5EF4-FFF2-40B4-BE49-F238E27FC236}">
                <a16:creationId xmlns:a16="http://schemas.microsoft.com/office/drawing/2014/main" id="{1E4AAA6A-1311-4BC3-A38B-0C6576F5F2EF}"/>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9BA8ED06-D699-4224-9D0C-D6DE65EC36F7}"/>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5C2BCABA-6DF6-4AFA-9EC5-51C3B47AEC2D}"/>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12 / 25</a:t>
            </a:r>
          </a:p>
        </p:txBody>
      </p:sp>
      <p:sp>
        <p:nvSpPr>
          <p:cNvPr id="7" name="">
            <a:extLst xmlns:a="http://schemas.openxmlformats.org/drawingml/2006/main">
              <a:ext uri="{FF2B5EF4-FFF2-40B4-BE49-F238E27FC236}">
                <a16:creationId xmlns:a16="http://schemas.microsoft.com/office/drawing/2014/main" id="{BFFAD38B-8D1B-418F-A9A7-CABB4BFA4068}"/>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Apps → API edge → focused services inside one regional shard.</a:t>
            </a:r>
          </a:p>
        </p:txBody>
      </p:sp>
      <p:sp>
        <p:nvSpPr>
          <p:cNvPr id="8" name="">
            <a:extLst xmlns:a="http://schemas.openxmlformats.org/drawingml/2006/main">
              <a:ext uri="{FF2B5EF4-FFF2-40B4-BE49-F238E27FC236}">
                <a16:creationId xmlns:a16="http://schemas.microsoft.com/office/drawing/2014/main" id="{3D97F8C0-B83D-48E8-BC0B-06B16B8F6C14}"/>
              </a:ext>
            </a:extLst>
          </p:cNvPr>
          <p:cNvSpPr>
            <a:spLocks xmlns:a="http://schemas.openxmlformats.org/drawingml/2006/main" noGrp="1"/>
          </p:cNvSpPr>
          <p:nvPr/>
        </p:nvSpPr>
        <p:spPr>
          <a:xfrm xmlns:a="http://schemas.openxmlformats.org/drawingml/2006/main">
            <a:off x="1047750" y="2952750"/>
            <a:ext cx="1619250" cy="762000"/>
          </a:xfrm>
          <a:prstGeom xmlns:a="http://schemas.openxmlformats.org/drawingml/2006/main" prst="roundRect">
            <a:avLst>
              <a:gd name="adj" fmla="val 20000"/>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Apps</a:t>
            </a:r>
          </a:p>
        </p:txBody>
      </p:sp>
      <p:sp>
        <p:nvSpPr>
          <p:cNvPr id="9" name="">
            <a:extLst xmlns:a="http://schemas.openxmlformats.org/drawingml/2006/main">
              <a:ext uri="{FF2B5EF4-FFF2-40B4-BE49-F238E27FC236}">
                <a16:creationId xmlns:a16="http://schemas.microsoft.com/office/drawing/2014/main" id="{92D88291-CCC3-4F38-8150-CC7075B699E8}"/>
              </a:ext>
            </a:extLst>
          </p:cNvPr>
          <p:cNvSpPr>
            <a:spLocks xmlns:a="http://schemas.openxmlformats.org/drawingml/2006/main" noGrp="1"/>
          </p:cNvSpPr>
          <p:nvPr/>
        </p:nvSpPr>
        <p:spPr>
          <a:xfrm xmlns:a="http://schemas.openxmlformats.org/drawingml/2006/main">
            <a:off x="4048125" y="2952750"/>
            <a:ext cx="2286000" cy="762000"/>
          </a:xfrm>
          <a:prstGeom xmlns:a="http://schemas.openxmlformats.org/drawingml/2006/main" prst="roundRect">
            <a:avLst>
              <a:gd name="adj" fmla="val 20000"/>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API + realtime edge</a:t>
            </a:r>
          </a:p>
        </p:txBody>
      </p:sp>
      <p:sp>
        <p:nvSpPr>
          <p:cNvPr id="10" name="">
            <a:extLst xmlns:a="http://schemas.openxmlformats.org/drawingml/2006/main">
              <a:ext uri="{FF2B5EF4-FFF2-40B4-BE49-F238E27FC236}">
                <a16:creationId xmlns:a16="http://schemas.microsoft.com/office/drawing/2014/main" id="{696EF0F3-F7E4-4872-A48F-E4A661646B33}"/>
              </a:ext>
            </a:extLst>
          </p:cNvPr>
          <p:cNvSpPr>
            <a:spLocks xmlns:a="http://schemas.openxmlformats.org/drawingml/2006/main" noGrp="1"/>
          </p:cNvSpPr>
          <p:nvPr/>
        </p:nvSpPr>
        <p:spPr>
          <a:xfrm xmlns:a="http://schemas.openxmlformats.org/drawingml/2006/main">
            <a:off x="7810500" y="2571750"/>
            <a:ext cx="2476500" cy="1428750"/>
          </a:xfrm>
          <a:prstGeom xmlns:a="http://schemas.openxmlformats.org/drawingml/2006/main" prst="roundRect">
            <a:avLst>
              <a:gd name="adj" fmla="val 10667"/>
            </a:avLst>
          </a:prstGeom>
          <a:solidFill xmlns:a="http://schemas.openxmlformats.org/drawingml/2006/main">
            <a:srgbClr val="0B2942"/>
          </a:solidFill>
          <a:ln xmlns:a="http://schemas.openxmlformats.org/drawingml/2006/main" w="14288">
            <a:solidFill>
              <a:srgbClr val="34D399"/>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Focused services</a:t>
            </a:r>
          </a:p>
          <a:p xmlns:a="http://schemas.openxmlformats.org/drawingml/2006/main">
            <a:pPr algn="ctr">
              <a:defRPr sz="1350" b="1">
                <a:solidFill>
                  <a:srgbClr val="F8FAFC"/>
                </a:solidFill>
              </a:defRPr>
            </a:pPr>
            <a:r>
              <a:rPr sz="1350" b="1">
                <a:solidFill>
                  <a:srgbClr val="F8FAFC"/>
                </a:solidFill>
              </a:rPr>
              <a:t>trip • location • dispatch</a:t>
            </a:r>
          </a:p>
        </p:txBody>
      </p:sp>
      <p:cxnSp>
        <p:nvCxnSpPr>
          <p:cNvPr id="26" name=""/>
          <p:cNvCxnSpPr>
            <a:stCxn xmlns:a="http://schemas.openxmlformats.org/drawingml/2006/main" id="8" idx="3"/>
            <a:endCxn xmlns:a="http://schemas.openxmlformats.org/drawingml/2006/main" id="9" idx="1"/>
          </p:cNvCxnSpPr>
          <p:nvPr/>
        </p:nvCxnSpPr>
        <p:spPr>
          <a:xfrm xmlns:a="http://schemas.openxmlformats.org/drawingml/2006/main">
            <a:off x="2667000" y="3333750"/>
            <a:ext cx="1381125" cy="0"/>
          </a:xfrm>
          <a:prstGeom xmlns:a="http://schemas.openxmlformats.org/drawingml/2006/main" prst="straightConnector1">
            <a:avLst/>
          </a:prstGeom>
          <a:ln xmlns:a="http://schemas.openxmlformats.org/drawingml/2006/main" w="23813">
            <a:solidFill>
              <a:srgbClr val="22D3EE"/>
            </a:solidFill>
            <a:prstDash val="solid"/>
            <a:headEnd type="triangle" w="sm" len="sm"/>
          </a:ln>
        </p:spPr>
      </p:cxnSp>
      <p:cxnSp>
        <p:nvCxnSpPr>
          <p:cNvPr id="27" name=""/>
          <p:cNvCxnSpPr>
            <a:stCxn xmlns:a="http://schemas.openxmlformats.org/drawingml/2006/main" id="9" idx="3"/>
            <a:endCxn xmlns:a="http://schemas.openxmlformats.org/drawingml/2006/main" id="10" idx="1"/>
          </p:cNvCxnSpPr>
          <p:nvPr/>
        </p:nvCxnSpPr>
        <p:spPr>
          <a:xfrm xmlns:a="http://schemas.openxmlformats.org/drawingml/2006/main" flipV="1">
            <a:off x="6334125" y="3286125"/>
            <a:ext cx="1476375" cy="47625"/>
          </a:xfrm>
          <a:prstGeom xmlns:a="http://schemas.openxmlformats.org/drawingml/2006/main" prst="bentConnector3">
            <a:avLst>
              <a:gd name="adj1" fmla="val 50000"/>
            </a:avLst>
          </a:prstGeom>
          <a:ln xmlns:a="http://schemas.openxmlformats.org/drawingml/2006/main" w="23813">
            <a:solidFill>
              <a:srgbClr val="22D3EE"/>
            </a:solidFill>
            <a:prstDash val="solid"/>
            <a:headEnd type="triangle" w="sm" len="sm"/>
          </a:ln>
        </p:spPr>
      </p:cxnSp>
      <p:sp>
        <p:nvSpPr>
          <p:cNvPr id="13" name="">
            <a:extLst xmlns:a="http://schemas.openxmlformats.org/drawingml/2006/main">
              <a:ext uri="{FF2B5EF4-FFF2-40B4-BE49-F238E27FC236}">
                <a16:creationId xmlns:a16="http://schemas.microsoft.com/office/drawing/2014/main" id="{9B76828E-FAEA-48B4-8811-0635FCDE366C}"/>
              </a:ext>
            </a:extLst>
          </p:cNvPr>
          <p:cNvSpPr>
            <a:spLocks xmlns:a="http://schemas.openxmlformats.org/drawingml/2006/main" noGrp="1"/>
          </p:cNvSpPr>
          <p:nvPr/>
        </p:nvSpPr>
        <p:spPr>
          <a:xfrm xmlns:a="http://schemas.openxmlformats.org/drawingml/2006/main">
            <a:off x="2047875" y="4619625"/>
            <a:ext cx="800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0">
                <a:solidFill>
                  <a:srgbClr val="A8C7D9"/>
                </a:solidFill>
              </a:defRPr>
            </a:pPr>
            <a:r>
              <a:rPr sz="1950" b="0">
                <a:solidFill>
                  <a:srgbClr val="A8C7D9"/>
                </a:solidFill>
              </a:rPr>
              <a:t>One regional shard contains failure and recovery work.</a:t>
            </a:r>
          </a:p>
        </p:txBody>
      </p:sp>
      <p:sp>
        <p:nvSpPr>
          <p:cNvPr id="14" name="">
            <a:extLst xmlns:a="http://schemas.openxmlformats.org/drawingml/2006/main">
              <a:ext uri="{FF2B5EF4-FFF2-40B4-BE49-F238E27FC236}">
                <a16:creationId xmlns:a16="http://schemas.microsoft.com/office/drawing/2014/main" id="{3152997A-4254-41DD-8111-D5EC9B02FE80}"/>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5" name="">
            <a:extLst xmlns:a="http://schemas.openxmlformats.org/drawingml/2006/main">
              <a:ext uri="{FF2B5EF4-FFF2-40B4-BE49-F238E27FC236}">
                <a16:creationId xmlns:a16="http://schemas.microsoft.com/office/drawing/2014/main" id="{D52D4F66-F0FA-4893-B845-9FC2D690D53E}"/>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API edge: An API edge is the controlled entry layer that authenticates, routes, and protects client requests.  •  service: A service is a focused deployable component responsible for one bounded business capability.  •  regional shard: A regional shard is an isolated deployment and data partition that serves a geographic area independently.</a:t>
            </a:r>
          </a:p>
        </p:txBody>
      </p:sp>
    </p:spTree>
    <p:extLst>
      <p:ext uri="{BB962C8B-B14F-4D97-AF65-F5344CB8AC3E}">
        <p14:creationId xmlns:p14="http://schemas.microsoft.com/office/powerpoint/2010/main" val="1614890461"/>
      </p:ext>
    </p:extLst>
  </p:cSld>
</p:sld>
</file>

<file path=ppt/slides/slide13.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20C0C16-11CF-4CE9-8EE6-C42A0F0747D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1087C71B-AD4F-4FF9-A855-97A7FF639DD3}"/>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13  •  ARCHITECTURE</a:t>
            </a:r>
          </a:p>
        </p:txBody>
      </p:sp>
      <p:sp>
        <p:nvSpPr>
          <p:cNvPr id="3" name="">
            <a:extLst xmlns:a="http://schemas.openxmlformats.org/drawingml/2006/main">
              <a:ext uri="{FF2B5EF4-FFF2-40B4-BE49-F238E27FC236}">
                <a16:creationId xmlns:a16="http://schemas.microsoft.com/office/drawing/2014/main" id="{F17E903E-0DBA-4D65-8166-A1CBC5EA0B53}"/>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Regional Architecture: Add Durable Truth</a:t>
            </a:r>
          </a:p>
        </p:txBody>
      </p:sp>
      <p:sp>
        <p:nvSpPr>
          <p:cNvPr id="4" name="">
            <a:extLst xmlns:a="http://schemas.openxmlformats.org/drawingml/2006/main">
              <a:ext uri="{FF2B5EF4-FFF2-40B4-BE49-F238E27FC236}">
                <a16:creationId xmlns:a16="http://schemas.microsoft.com/office/drawing/2014/main" id="{146D75D5-9D52-481A-8259-50D7E7E2B982}"/>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82104190-63A1-426C-966B-8B14F248493D}"/>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235766F3-3AB1-4B43-A689-D76F4991D099}"/>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13 / 25</a:t>
            </a:r>
          </a:p>
        </p:txBody>
      </p:sp>
      <p:sp>
        <p:nvSpPr>
          <p:cNvPr id="7" name="">
            <a:extLst xmlns:a="http://schemas.openxmlformats.org/drawingml/2006/main">
              <a:ext uri="{FF2B5EF4-FFF2-40B4-BE49-F238E27FC236}">
                <a16:creationId xmlns:a16="http://schemas.microsoft.com/office/drawing/2014/main" id="{0D8626F6-393B-47A6-A8D6-BCA3C950B8F4}"/>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Trips and payments use a database. Changes are shared through an event log.</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f221211bcdf4d5c">
            <a:extLst>
              <a:ext uri="{96DAC541-7B7A-43D3-8B79-37D633B846F1}">
                <asvg:svgBlip xmlns:asvg="http://schemas.microsoft.com/office/drawing/2016/SVG/main" r:embed="R56daeae2a00a47b6"/>
              </a:ext>
            </a:extLst>
          </a:blip>
          <a:stretch xmlns:a="http://schemas.openxmlformats.org/drawingml/2006/main"/>
        </p:blipFill>
        <p:spPr>
          <a:xfrm xmlns:a="http://schemas.openxmlformats.org/drawingml/2006/main">
            <a:off x="733425" y="1943100"/>
            <a:ext cx="10668000" cy="3429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A99D914-A4C6-4882-94F8-700A50EB2096}"/>
              </a:ext>
            </a:extLst>
          </p:cNvPr>
          <p:cNvSpPr>
            <a:spLocks xmlns:a="http://schemas.openxmlformats.org/drawingml/2006/main" noGrp="1"/>
          </p:cNvSpPr>
          <p:nvPr/>
        </p:nvSpPr>
        <p:spPr>
          <a:xfrm xmlns:a="http://schemas.openxmlformats.org/drawingml/2006/main">
            <a:off x="1095375" y="5429250"/>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0">
                <a:solidFill>
                  <a:srgbClr val="A8C7D9"/>
                </a:solidFill>
              </a:defRPr>
            </a:pPr>
            <a:r>
              <a:rPr sz="1575" b="0">
                <a:solidFill>
                  <a:srgbClr val="A8C7D9"/>
                </a:solidFill>
              </a:rPr>
              <a:t>A regional boundary keeps the high-volume location path separate from trip truth.</a:t>
            </a:r>
          </a:p>
        </p:txBody>
      </p:sp>
      <p:sp>
        <p:nvSpPr>
          <p:cNvPr id="10" name="">
            <a:extLst xmlns:a="http://schemas.openxmlformats.org/drawingml/2006/main">
              <a:ext uri="{FF2B5EF4-FFF2-40B4-BE49-F238E27FC236}">
                <a16:creationId xmlns:a16="http://schemas.microsoft.com/office/drawing/2014/main" id="{B92035B4-FC06-4F67-8E08-C70F3C12E58F}"/>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1" name="">
            <a:extLst xmlns:a="http://schemas.openxmlformats.org/drawingml/2006/main">
              <a:ext uri="{FF2B5EF4-FFF2-40B4-BE49-F238E27FC236}">
                <a16:creationId xmlns:a16="http://schemas.microsoft.com/office/drawing/2014/main" id="{CFE1B79F-85A9-4196-99A9-A193E97F7A1A}"/>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database: A database is a durable system for storing and querying authoritative application state.  •  event log: An event log is a durable ordered record of changes that other components can consume independently.</a:t>
            </a:r>
          </a:p>
        </p:txBody>
      </p:sp>
    </p:spTree>
    <p:extLst>
      <p:ext uri="{BB962C8B-B14F-4D97-AF65-F5344CB8AC3E}">
        <p14:creationId xmlns:p14="http://schemas.microsoft.com/office/powerpoint/2010/main" val="1261682317"/>
      </p:ext>
    </p:extLst>
  </p:cSld>
</p:sld>
</file>

<file path=ppt/slides/slide14.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10B4FDF-0011-4586-9BC2-38E4D25CEA8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FB87A672-7853-4B34-8ACF-A91004FA43F5}"/>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14  •  ARCHITECTURE</a:t>
            </a:r>
          </a:p>
        </p:txBody>
      </p:sp>
      <p:sp>
        <p:nvSpPr>
          <p:cNvPr id="3" name="">
            <a:extLst xmlns:a="http://schemas.openxmlformats.org/drawingml/2006/main">
              <a:ext uri="{FF2B5EF4-FFF2-40B4-BE49-F238E27FC236}">
                <a16:creationId xmlns:a16="http://schemas.microsoft.com/office/drawing/2014/main" id="{14DE84A3-75AC-457E-91E5-FF82C46E0AC3}"/>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Why Events Matter</a:t>
            </a:r>
          </a:p>
        </p:txBody>
      </p:sp>
      <p:sp>
        <p:nvSpPr>
          <p:cNvPr id="4" name="">
            <a:extLst xmlns:a="http://schemas.openxmlformats.org/drawingml/2006/main">
              <a:ext uri="{FF2B5EF4-FFF2-40B4-BE49-F238E27FC236}">
                <a16:creationId xmlns:a16="http://schemas.microsoft.com/office/drawing/2014/main" id="{0C17ABEB-9FDB-4314-929F-9BE290ADAA3D}"/>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780C1304-4E86-44A6-8010-83181239B2FC}"/>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C5873544-A329-4D96-9F93-984BF9A61E6E}"/>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14 / 25</a:t>
            </a:r>
          </a:p>
        </p:txBody>
      </p:sp>
      <p:sp>
        <p:nvSpPr>
          <p:cNvPr id="7" name="">
            <a:extLst xmlns:a="http://schemas.openxmlformats.org/drawingml/2006/main">
              <a:ext uri="{FF2B5EF4-FFF2-40B4-BE49-F238E27FC236}">
                <a16:creationId xmlns:a16="http://schemas.microsoft.com/office/drawing/2014/main" id="{677EAFC3-A8B3-4504-8F91-9BDF844CB2A9}"/>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Write the trip change and its outgoing record together; publish afterward.</a:t>
            </a:r>
          </a:p>
        </p:txBody>
      </p:sp>
      <p:sp>
        <p:nvSpPr>
          <p:cNvPr id="8" name="">
            <a:extLst xmlns:a="http://schemas.openxmlformats.org/drawingml/2006/main">
              <a:ext uri="{FF2B5EF4-FFF2-40B4-BE49-F238E27FC236}">
                <a16:creationId xmlns:a16="http://schemas.microsoft.com/office/drawing/2014/main" id="{DC7313B9-9BD8-4ABF-9916-78CAF4B921CE}"/>
              </a:ext>
            </a:extLst>
          </p:cNvPr>
          <p:cNvSpPr>
            <a:spLocks xmlns:a="http://schemas.openxmlformats.org/drawingml/2006/main" noGrp="1"/>
          </p:cNvSpPr>
          <p:nvPr/>
        </p:nvSpPr>
        <p:spPr>
          <a:xfrm xmlns:a="http://schemas.openxmlformats.org/drawingml/2006/main">
            <a:off x="1190625" y="2333625"/>
            <a:ext cx="4524375" cy="1095375"/>
          </a:xfrm>
          <a:prstGeom xmlns:a="http://schemas.openxmlformats.org/drawingml/2006/main" prst="roundRect">
            <a:avLst>
              <a:gd name="adj" fmla="val 13913"/>
            </a:avLst>
          </a:prstGeom>
          <a:solidFill xmlns:a="http://schemas.openxmlformats.org/drawingml/2006/main">
            <a:srgbClr val="0B2942"/>
          </a:solidFill>
          <a:ln xmlns:a="http://schemas.openxmlformats.org/drawingml/2006/main" w="14288">
            <a:solidFill>
              <a:srgbClr val="34D399"/>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Authoritative truth</a:t>
            </a:r>
          </a:p>
          <a:p xmlns:a="http://schemas.openxmlformats.org/drawingml/2006/main">
            <a:pPr algn="ctr">
              <a:defRPr sz="1350" b="1">
                <a:solidFill>
                  <a:srgbClr val="F8FAFC"/>
                </a:solidFill>
              </a:defRPr>
            </a:pPr>
            <a:r>
              <a:rPr sz="1350" b="1">
                <a:solidFill>
                  <a:srgbClr val="F8FAFC"/>
                </a:solidFill>
              </a:rPr>
              <a:t>Trips + payments • serializable transitions</a:t>
            </a:r>
          </a:p>
        </p:txBody>
      </p:sp>
      <p:sp>
        <p:nvSpPr>
          <p:cNvPr id="9" name="">
            <a:extLst xmlns:a="http://schemas.openxmlformats.org/drawingml/2006/main">
              <a:ext uri="{FF2B5EF4-FFF2-40B4-BE49-F238E27FC236}">
                <a16:creationId xmlns:a16="http://schemas.microsoft.com/office/drawing/2014/main" id="{B462F1DD-38A4-43B1-B3C4-5AC78D5F074D}"/>
              </a:ext>
            </a:extLst>
          </p:cNvPr>
          <p:cNvSpPr>
            <a:spLocks xmlns:a="http://schemas.openxmlformats.org/drawingml/2006/main" noGrp="1"/>
          </p:cNvSpPr>
          <p:nvPr/>
        </p:nvSpPr>
        <p:spPr>
          <a:xfrm xmlns:a="http://schemas.openxmlformats.org/drawingml/2006/main">
            <a:off x="6477000" y="2333625"/>
            <a:ext cx="4524375" cy="1095375"/>
          </a:xfrm>
          <a:prstGeom xmlns:a="http://schemas.openxmlformats.org/drawingml/2006/main" prst="roundRect">
            <a:avLst>
              <a:gd name="adj" fmla="val 13913"/>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Approximate telemetry</a:t>
            </a:r>
          </a:p>
          <a:p xmlns:a="http://schemas.openxmlformats.org/drawingml/2006/main">
            <a:pPr algn="ctr">
              <a:defRPr sz="1350" b="1">
                <a:solidFill>
                  <a:srgbClr val="F8FAFC"/>
                </a:solidFill>
              </a:defRPr>
            </a:pPr>
            <a:r>
              <a:rPr sz="1350" b="1">
                <a:solidFill>
                  <a:srgbClr val="F8FAFC"/>
                </a:solidFill>
              </a:rPr>
              <a:t>Locations + predictions • eventual catch-up</a:t>
            </a:r>
          </a:p>
        </p:txBody>
      </p:sp>
      <p:sp>
        <p:nvSpPr>
          <p:cNvPr id="10" name="">
            <a:extLst xmlns:a="http://schemas.openxmlformats.org/drawingml/2006/main">
              <a:ext uri="{FF2B5EF4-FFF2-40B4-BE49-F238E27FC236}">
                <a16:creationId xmlns:a16="http://schemas.microsoft.com/office/drawing/2014/main" id="{07EEF398-ADA5-44D7-8EBD-3208C27AD551}"/>
              </a:ext>
            </a:extLst>
          </p:cNvPr>
          <p:cNvSpPr>
            <a:spLocks xmlns:a="http://schemas.openxmlformats.org/drawingml/2006/main" noGrp="1"/>
          </p:cNvSpPr>
          <p:nvPr/>
        </p:nvSpPr>
        <p:spPr>
          <a:xfrm xmlns:a="http://schemas.openxmlformats.org/drawingml/2006/main">
            <a:off x="1285875" y="400050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0">
                <a:solidFill>
                  <a:srgbClr val="A8C7D9"/>
                </a:solidFill>
              </a:defRPr>
            </a:pPr>
            <a:r>
              <a:rPr sz="2025" b="0">
                <a:solidFill>
                  <a:srgbClr val="A8C7D9"/>
                </a:solidFill>
              </a:rPr>
              <a:t>Different data earns different storage and consistency choices.</a:t>
            </a:r>
          </a:p>
        </p:txBody>
      </p:sp>
      <p:sp>
        <p:nvSpPr>
          <p:cNvPr id="11" name="">
            <a:extLst xmlns:a="http://schemas.openxmlformats.org/drawingml/2006/main">
              <a:ext uri="{FF2B5EF4-FFF2-40B4-BE49-F238E27FC236}">
                <a16:creationId xmlns:a16="http://schemas.microsoft.com/office/drawing/2014/main" id="{11B094A4-5F60-493A-B6E7-2E1FB911B388}"/>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2" name="">
            <a:extLst xmlns:a="http://schemas.openxmlformats.org/drawingml/2006/main">
              <a:ext uri="{FF2B5EF4-FFF2-40B4-BE49-F238E27FC236}">
                <a16:creationId xmlns:a16="http://schemas.microsoft.com/office/drawing/2014/main" id="{42D67C1A-23B1-4D05-91B0-995D7A5C08AB}"/>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outbox: An outbox is a durable record written with business state so its event can be published reliably after the transaction.</a:t>
            </a:r>
          </a:p>
        </p:txBody>
      </p:sp>
    </p:spTree>
    <p:extLst>
      <p:ext uri="{BB962C8B-B14F-4D97-AF65-F5344CB8AC3E}">
        <p14:creationId xmlns:p14="http://schemas.microsoft.com/office/powerpoint/2010/main" val="1621064343"/>
      </p:ext>
    </p:extLst>
  </p:cSld>
</p:sld>
</file>

<file path=ppt/slides/slide15.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6AEADD8-A773-45A2-97E5-5BF9274F0B5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B2359793-6FDB-467E-8884-8BD7D3F55E0B}"/>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15  •  ARCHITECTURE</a:t>
            </a:r>
          </a:p>
        </p:txBody>
      </p:sp>
      <p:sp>
        <p:nvSpPr>
          <p:cNvPr id="3" name="">
            <a:extLst xmlns:a="http://schemas.openxmlformats.org/drawingml/2006/main">
              <a:ext uri="{FF2B5EF4-FFF2-40B4-BE49-F238E27FC236}">
                <a16:creationId xmlns:a16="http://schemas.microsoft.com/office/drawing/2014/main" id="{CDD38FDA-FD81-4AC7-8D07-C943ABE92C7E}"/>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Data Ownership Prevents Confusion</a:t>
            </a:r>
          </a:p>
        </p:txBody>
      </p:sp>
      <p:sp>
        <p:nvSpPr>
          <p:cNvPr id="4" name="">
            <a:extLst xmlns:a="http://schemas.openxmlformats.org/drawingml/2006/main">
              <a:ext uri="{FF2B5EF4-FFF2-40B4-BE49-F238E27FC236}">
                <a16:creationId xmlns:a16="http://schemas.microsoft.com/office/drawing/2014/main" id="{DEA8737C-1B89-4575-AC2D-73662760F88B}"/>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725470F6-C666-4D4E-B61C-0B969A289120}"/>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582A5DB3-8310-4E48-945B-E5CEAF093E7D}"/>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15 / 25</a:t>
            </a:r>
          </a:p>
        </p:txBody>
      </p:sp>
      <p:sp>
        <p:nvSpPr>
          <p:cNvPr id="7" name="">
            <a:extLst xmlns:a="http://schemas.openxmlformats.org/drawingml/2006/main">
              <a:ext uri="{FF2B5EF4-FFF2-40B4-BE49-F238E27FC236}">
                <a16:creationId xmlns:a16="http://schemas.microsoft.com/office/drawing/2014/main" id="{DBF739F5-1B18-4C71-B0AC-8E6466BB17AF}"/>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The trip component owns trip truth. Location handles fresh positions. Payment owns settlement.</a:t>
            </a:r>
          </a:p>
        </p:txBody>
      </p:sp>
      <p:sp>
        <p:nvSpPr>
          <p:cNvPr id="8" name="">
            <a:extLst xmlns:a="http://schemas.openxmlformats.org/drawingml/2006/main">
              <a:ext uri="{FF2B5EF4-FFF2-40B4-BE49-F238E27FC236}">
                <a16:creationId xmlns:a16="http://schemas.microsoft.com/office/drawing/2014/main" id="{9D99AB3C-4612-4505-A4F1-CA40E6D0FA53}"/>
              </a:ext>
            </a:extLst>
          </p:cNvPr>
          <p:cNvSpPr>
            <a:spLocks xmlns:a="http://schemas.openxmlformats.org/drawingml/2006/main" noGrp="1"/>
          </p:cNvSpPr>
          <p:nvPr/>
        </p:nvSpPr>
        <p:spPr>
          <a:xfrm xmlns:a="http://schemas.openxmlformats.org/drawingml/2006/main">
            <a:off x="857250" y="2857500"/>
            <a:ext cx="1619250" cy="876300"/>
          </a:xfrm>
          <a:prstGeom xmlns:a="http://schemas.openxmlformats.org/drawingml/2006/main" prst="roundRect">
            <a:avLst>
              <a:gd name="adj" fmla="val 17391"/>
            </a:avLst>
          </a:prstGeom>
          <a:solidFill xmlns:a="http://schemas.openxmlformats.org/drawingml/2006/main">
            <a:srgbClr val="0B2942"/>
          </a:solidFill>
          <a:ln xmlns:a="http://schemas.openxmlformats.org/drawingml/2006/main" w="14288">
            <a:solidFill>
              <a:srgbClr val="34D399"/>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Trip</a:t>
            </a:r>
          </a:p>
          <a:p xmlns:a="http://schemas.openxmlformats.org/drawingml/2006/main">
            <a:pPr algn="ctr">
              <a:defRPr sz="1575" b="1">
                <a:solidFill>
                  <a:srgbClr val="F8FAFC"/>
                </a:solidFill>
              </a:defRPr>
            </a:pPr>
            <a:r>
              <a:rPr sz="1575" b="1">
                <a:solidFill>
                  <a:srgbClr val="F8FAFC"/>
                </a:solidFill>
              </a:rPr>
              <a:t>state</a:t>
            </a:r>
          </a:p>
        </p:txBody>
      </p:sp>
      <p:sp>
        <p:nvSpPr>
          <p:cNvPr id="9" name="">
            <a:extLst xmlns:a="http://schemas.openxmlformats.org/drawingml/2006/main">
              <a:ext uri="{FF2B5EF4-FFF2-40B4-BE49-F238E27FC236}">
                <a16:creationId xmlns:a16="http://schemas.microsoft.com/office/drawing/2014/main" id="{83EF91E8-B3D0-4245-9540-48EE52FE996C}"/>
              </a:ext>
            </a:extLst>
          </p:cNvPr>
          <p:cNvSpPr>
            <a:spLocks xmlns:a="http://schemas.openxmlformats.org/drawingml/2006/main" noGrp="1"/>
          </p:cNvSpPr>
          <p:nvPr/>
        </p:nvSpPr>
        <p:spPr>
          <a:xfrm xmlns:a="http://schemas.openxmlformats.org/drawingml/2006/main">
            <a:off x="2952750" y="2857500"/>
            <a:ext cx="1619250" cy="876300"/>
          </a:xfrm>
          <a:prstGeom xmlns:a="http://schemas.openxmlformats.org/drawingml/2006/main" prst="roundRect">
            <a:avLst>
              <a:gd name="adj" fmla="val 17391"/>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Location</a:t>
            </a:r>
          </a:p>
          <a:p xmlns:a="http://schemas.openxmlformats.org/drawingml/2006/main">
            <a:pPr algn="ctr">
              <a:defRPr sz="1575" b="1">
                <a:solidFill>
                  <a:srgbClr val="F8FAFC"/>
                </a:solidFill>
              </a:defRPr>
            </a:pPr>
            <a:r>
              <a:rPr sz="1575" b="1">
                <a:solidFill>
                  <a:srgbClr val="F8FAFC"/>
                </a:solidFill>
              </a:rPr>
              <a:t>stream</a:t>
            </a:r>
          </a:p>
        </p:txBody>
      </p:sp>
      <p:sp>
        <p:nvSpPr>
          <p:cNvPr id="10" name="">
            <a:extLst xmlns:a="http://schemas.openxmlformats.org/drawingml/2006/main">
              <a:ext uri="{FF2B5EF4-FFF2-40B4-BE49-F238E27FC236}">
                <a16:creationId xmlns:a16="http://schemas.microsoft.com/office/drawing/2014/main" id="{C0CED61A-4FBA-4F6D-B192-4C2963E1CA19}"/>
              </a:ext>
            </a:extLst>
          </p:cNvPr>
          <p:cNvSpPr>
            <a:spLocks xmlns:a="http://schemas.openxmlformats.org/drawingml/2006/main" noGrp="1"/>
          </p:cNvSpPr>
          <p:nvPr/>
        </p:nvSpPr>
        <p:spPr>
          <a:xfrm xmlns:a="http://schemas.openxmlformats.org/drawingml/2006/main">
            <a:off x="5048250" y="2857500"/>
            <a:ext cx="1619250" cy="876300"/>
          </a:xfrm>
          <a:prstGeom xmlns:a="http://schemas.openxmlformats.org/drawingml/2006/main" prst="roundRect">
            <a:avLst>
              <a:gd name="adj" fmla="val 17391"/>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Dispatch</a:t>
            </a:r>
          </a:p>
          <a:p xmlns:a="http://schemas.openxmlformats.org/drawingml/2006/main">
            <a:pPr algn="ctr">
              <a:defRPr sz="1575" b="1">
                <a:solidFill>
                  <a:srgbClr val="F8FAFC"/>
                </a:solidFill>
              </a:defRPr>
            </a:pPr>
            <a:r>
              <a:rPr sz="1575" b="1">
                <a:solidFill>
                  <a:srgbClr val="F8FAFC"/>
                </a:solidFill>
              </a:rPr>
              <a:t>choice</a:t>
            </a:r>
          </a:p>
        </p:txBody>
      </p:sp>
      <p:sp>
        <p:nvSpPr>
          <p:cNvPr id="11" name="">
            <a:extLst xmlns:a="http://schemas.openxmlformats.org/drawingml/2006/main">
              <a:ext uri="{FF2B5EF4-FFF2-40B4-BE49-F238E27FC236}">
                <a16:creationId xmlns:a16="http://schemas.microsoft.com/office/drawing/2014/main" id="{ABE89E62-A583-4925-846C-A40FD2306F7B}"/>
              </a:ext>
            </a:extLst>
          </p:cNvPr>
          <p:cNvSpPr>
            <a:spLocks xmlns:a="http://schemas.openxmlformats.org/drawingml/2006/main" noGrp="1"/>
          </p:cNvSpPr>
          <p:nvPr/>
        </p:nvSpPr>
        <p:spPr>
          <a:xfrm xmlns:a="http://schemas.openxmlformats.org/drawingml/2006/main">
            <a:off x="7143750" y="2857500"/>
            <a:ext cx="1619250" cy="876300"/>
          </a:xfrm>
          <a:prstGeom xmlns:a="http://schemas.openxmlformats.org/drawingml/2006/main" prst="roundRect">
            <a:avLst>
              <a:gd name="adj" fmla="val 17391"/>
            </a:avLst>
          </a:prstGeom>
          <a:solidFill xmlns:a="http://schemas.openxmlformats.org/drawingml/2006/main">
            <a:srgbClr val="0B2942"/>
          </a:solidFill>
          <a:ln xmlns:a="http://schemas.openxmlformats.org/drawingml/2006/main" w="14288">
            <a:solidFill>
              <a:srgbClr val="FBBF24"/>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Payment</a:t>
            </a:r>
          </a:p>
          <a:p xmlns:a="http://schemas.openxmlformats.org/drawingml/2006/main">
            <a:pPr algn="ctr">
              <a:defRPr sz="1575" b="1">
                <a:solidFill>
                  <a:srgbClr val="F8FAFC"/>
                </a:solidFill>
              </a:defRPr>
            </a:pPr>
            <a:r>
              <a:rPr sz="1575" b="1">
                <a:solidFill>
                  <a:srgbClr val="F8FAFC"/>
                </a:solidFill>
              </a:rPr>
              <a:t>ledger</a:t>
            </a:r>
          </a:p>
        </p:txBody>
      </p:sp>
      <p:sp>
        <p:nvSpPr>
          <p:cNvPr id="12" name="">
            <a:extLst xmlns:a="http://schemas.openxmlformats.org/drawingml/2006/main">
              <a:ext uri="{FF2B5EF4-FFF2-40B4-BE49-F238E27FC236}">
                <a16:creationId xmlns:a16="http://schemas.microsoft.com/office/drawing/2014/main" id="{1AEFC5B6-C0A3-4ACD-BE52-6225E6B128FF}"/>
              </a:ext>
            </a:extLst>
          </p:cNvPr>
          <p:cNvSpPr>
            <a:spLocks xmlns:a="http://schemas.openxmlformats.org/drawingml/2006/main" noGrp="1"/>
          </p:cNvSpPr>
          <p:nvPr/>
        </p:nvSpPr>
        <p:spPr>
          <a:xfrm xmlns:a="http://schemas.openxmlformats.org/drawingml/2006/main">
            <a:off x="9239250" y="2857500"/>
            <a:ext cx="1619250" cy="876300"/>
          </a:xfrm>
          <a:prstGeom xmlns:a="http://schemas.openxmlformats.org/drawingml/2006/main" prst="roundRect">
            <a:avLst>
              <a:gd name="adj" fmla="val 17391"/>
            </a:avLst>
          </a:prstGeom>
          <a:solidFill xmlns:a="http://schemas.openxmlformats.org/drawingml/2006/main">
            <a:srgbClr val="0B2942"/>
          </a:solidFill>
          <a:ln xmlns:a="http://schemas.openxmlformats.org/drawingml/2006/main" w="14288">
            <a:solidFill>
              <a:srgbClr val="FB7185"/>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Safety</a:t>
            </a:r>
          </a:p>
          <a:p xmlns:a="http://schemas.openxmlformats.org/drawingml/2006/main">
            <a:pPr algn="ctr">
              <a:defRPr sz="1575" b="1">
                <a:solidFill>
                  <a:srgbClr val="F8FAFC"/>
                </a:solidFill>
              </a:defRPr>
            </a:pPr>
            <a:r>
              <a:rPr sz="1575" b="1">
                <a:solidFill>
                  <a:srgbClr val="F8FAFC"/>
                </a:solidFill>
              </a:rPr>
              <a:t>workflow</a:t>
            </a:r>
          </a:p>
        </p:txBody>
      </p:sp>
      <p:sp>
        <p:nvSpPr>
          <p:cNvPr id="13" name="">
            <a:extLst xmlns:a="http://schemas.openxmlformats.org/drawingml/2006/main">
              <a:ext uri="{FF2B5EF4-FFF2-40B4-BE49-F238E27FC236}">
                <a16:creationId xmlns:a16="http://schemas.microsoft.com/office/drawing/2014/main" id="{00FC9592-575B-4AE5-98AE-902619EFD53A}"/>
              </a:ext>
            </a:extLst>
          </p:cNvPr>
          <p:cNvSpPr>
            <a:spLocks xmlns:a="http://schemas.openxmlformats.org/drawingml/2006/main" noGrp="1"/>
          </p:cNvSpPr>
          <p:nvPr/>
        </p:nvSpPr>
        <p:spPr>
          <a:xfrm xmlns:a="http://schemas.openxmlformats.org/drawingml/2006/main">
            <a:off x="1190625" y="433387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0">
                <a:solidFill>
                  <a:srgbClr val="A8C7D9"/>
                </a:solidFill>
              </a:defRPr>
            </a:pPr>
            <a:r>
              <a:rPr sz="1950" b="0">
                <a:solidFill>
                  <a:srgbClr val="A8C7D9"/>
                </a:solidFill>
              </a:rPr>
              <a:t>Focused owners reduce blast radius and make failures explainable.</a:t>
            </a:r>
          </a:p>
        </p:txBody>
      </p:sp>
    </p:spTree>
    <p:extLst>
      <p:ext uri="{BB962C8B-B14F-4D97-AF65-F5344CB8AC3E}">
        <p14:creationId xmlns:p14="http://schemas.microsoft.com/office/powerpoint/2010/main" val="1330989257"/>
      </p:ext>
    </p:extLst>
  </p:cSld>
</p:sld>
</file>

<file path=ppt/slides/slide16.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A145EAD-61C2-4BFB-AA57-A1703A7D79B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C1972439-8C81-4B21-B83F-7993050C568D}"/>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16  •  DISPATCH</a:t>
            </a:r>
          </a:p>
        </p:txBody>
      </p:sp>
      <p:sp>
        <p:nvSpPr>
          <p:cNvPr id="3" name="">
            <a:extLst xmlns:a="http://schemas.openxmlformats.org/drawingml/2006/main">
              <a:ext uri="{FF2B5EF4-FFF2-40B4-BE49-F238E27FC236}">
                <a16:creationId xmlns:a16="http://schemas.microsoft.com/office/drawing/2014/main" id="{8DB2CCF7-6C96-4DB6-850B-B3175AE7E328}"/>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H3 Cells: a Map Made Searchable</a:t>
            </a:r>
          </a:p>
        </p:txBody>
      </p:sp>
      <p:sp>
        <p:nvSpPr>
          <p:cNvPr id="4" name="">
            <a:extLst xmlns:a="http://schemas.openxmlformats.org/drawingml/2006/main">
              <a:ext uri="{FF2B5EF4-FFF2-40B4-BE49-F238E27FC236}">
                <a16:creationId xmlns:a16="http://schemas.microsoft.com/office/drawing/2014/main" id="{F2486912-E523-4F05-A949-B026831CB17C}"/>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4C4AC817-682F-4DEC-820D-AD48A7122868}"/>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E2502BF0-F102-4D22-A793-D6E743CC5D7D}"/>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16 / 25</a:t>
            </a:r>
          </a:p>
        </p:txBody>
      </p:sp>
      <p:sp>
        <p:nvSpPr>
          <p:cNvPr id="7" name="">
            <a:extLst xmlns:a="http://schemas.openxmlformats.org/drawingml/2006/main">
              <a:ext uri="{FF2B5EF4-FFF2-40B4-BE49-F238E27FC236}">
                <a16:creationId xmlns:a16="http://schemas.microsoft.com/office/drawing/2014/main" id="{B5AF0C58-820E-4321-85DC-9ECEE4E18757}"/>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Split the map into small hexagons, then search outward in rings.</a:t>
            </a:r>
          </a:p>
        </p:txBody>
      </p:sp>
      <p:sp>
        <p:nvSpPr>
          <p:cNvPr id="8" name="">
            <a:extLst xmlns:a="http://schemas.openxmlformats.org/drawingml/2006/main">
              <a:ext uri="{FF2B5EF4-FFF2-40B4-BE49-F238E27FC236}">
                <a16:creationId xmlns:a16="http://schemas.microsoft.com/office/drawing/2014/main" id="{C89C950D-5C64-4FBF-8C91-9754E7856BE3}"/>
              </a:ext>
            </a:extLst>
          </p:cNvPr>
          <p:cNvSpPr>
            <a:spLocks xmlns:a="http://schemas.openxmlformats.org/drawingml/2006/main" noGrp="1"/>
          </p:cNvSpPr>
          <p:nvPr/>
        </p:nvSpPr>
        <p:spPr>
          <a:xfrm xmlns:a="http://schemas.openxmlformats.org/drawingml/2006/main">
            <a:off x="1571625" y="2047875"/>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22D3EE"/>
                </a:solidFill>
              </a:defRPr>
            </a:pPr>
            <a:r>
              <a:rPr sz="2100" b="1">
                <a:solidFill>
                  <a:srgbClr val="22D3EE"/>
                </a:solidFill>
              </a:rPr>
              <a:t>H3 cell = a small addressable hexagon on a map</a:t>
            </a:r>
          </a:p>
        </p:txBody>
      </p:sp>
      <p:sp>
        <p:nvSpPr>
          <p:cNvPr id="9" name="">
            <a:extLst xmlns:a="http://schemas.openxmlformats.org/drawingml/2006/main">
              <a:ext uri="{FF2B5EF4-FFF2-40B4-BE49-F238E27FC236}">
                <a16:creationId xmlns:a16="http://schemas.microsoft.com/office/drawing/2014/main" id="{C1346BAD-025D-458D-8270-5F20C5424135}"/>
              </a:ext>
            </a:extLst>
          </p:cNvPr>
          <p:cNvSpPr>
            <a:spLocks xmlns:a="http://schemas.openxmlformats.org/drawingml/2006/main" noGrp="1"/>
          </p:cNvSpPr>
          <p:nvPr/>
        </p:nvSpPr>
        <p:spPr>
          <a:xfrm xmlns:a="http://schemas.openxmlformats.org/drawingml/2006/main">
            <a:off x="2476500" y="2857500"/>
            <a:ext cx="1143000" cy="666750"/>
          </a:xfrm>
          <a:prstGeom xmlns:a="http://schemas.openxmlformats.org/drawingml/2006/main" prst="hexagon">
            <a:avLst/>
          </a:prstGeom>
          <a:solidFill xmlns:a="http://schemas.openxmlformats.org/drawingml/2006/main">
            <a:srgbClr val="0B2942"/>
          </a:solidFill>
          <a:ln xmlns:a="http://schemas.openxmlformats.org/drawingml/2006/main" w="19050">
            <a:solidFill>
              <a:srgbClr val="1E4A66"/>
            </a:solidFill>
            <a:prstDash val="solid"/>
          </a:ln>
        </p:spPr>
      </p:sp>
      <p:sp>
        <p:nvSpPr>
          <p:cNvPr id="10" name="">
            <a:extLst xmlns:a="http://schemas.openxmlformats.org/drawingml/2006/main">
              <a:ext uri="{FF2B5EF4-FFF2-40B4-BE49-F238E27FC236}">
                <a16:creationId xmlns:a16="http://schemas.microsoft.com/office/drawing/2014/main" id="{40FB5C0F-A33F-4C94-933B-5D29377E6B34}"/>
              </a:ext>
            </a:extLst>
          </p:cNvPr>
          <p:cNvSpPr>
            <a:spLocks xmlns:a="http://schemas.openxmlformats.org/drawingml/2006/main" noGrp="1"/>
          </p:cNvSpPr>
          <p:nvPr/>
        </p:nvSpPr>
        <p:spPr>
          <a:xfrm xmlns:a="http://schemas.openxmlformats.org/drawingml/2006/main">
            <a:off x="3810000" y="2857500"/>
            <a:ext cx="1143000" cy="666750"/>
          </a:xfrm>
          <a:prstGeom xmlns:a="http://schemas.openxmlformats.org/drawingml/2006/main" prst="hexagon">
            <a:avLst/>
          </a:prstGeom>
          <a:solidFill xmlns:a="http://schemas.openxmlformats.org/drawingml/2006/main">
            <a:srgbClr val="0B2942"/>
          </a:solidFill>
          <a:ln xmlns:a="http://schemas.openxmlformats.org/drawingml/2006/main" w="19050">
            <a:solidFill>
              <a:srgbClr val="1E4A66"/>
            </a:solidFill>
            <a:prstDash val="solid"/>
          </a:ln>
        </p:spPr>
      </p:sp>
      <p:sp>
        <p:nvSpPr>
          <p:cNvPr id="11" name="">
            <a:extLst xmlns:a="http://schemas.openxmlformats.org/drawingml/2006/main">
              <a:ext uri="{FF2B5EF4-FFF2-40B4-BE49-F238E27FC236}">
                <a16:creationId xmlns:a16="http://schemas.microsoft.com/office/drawing/2014/main" id="{9351EDB6-9733-43F7-81BD-5A054E3BE537}"/>
              </a:ext>
            </a:extLst>
          </p:cNvPr>
          <p:cNvSpPr>
            <a:spLocks xmlns:a="http://schemas.openxmlformats.org/drawingml/2006/main" noGrp="1"/>
          </p:cNvSpPr>
          <p:nvPr/>
        </p:nvSpPr>
        <p:spPr>
          <a:xfrm xmlns:a="http://schemas.openxmlformats.org/drawingml/2006/main">
            <a:off x="5143500" y="2857500"/>
            <a:ext cx="1143000" cy="666750"/>
          </a:xfrm>
          <a:prstGeom xmlns:a="http://schemas.openxmlformats.org/drawingml/2006/main" prst="hexagon">
            <a:avLst/>
          </a:prstGeom>
          <a:solidFill xmlns:a="http://schemas.openxmlformats.org/drawingml/2006/main">
            <a:srgbClr val="0B2942"/>
          </a:solidFill>
          <a:ln xmlns:a="http://schemas.openxmlformats.org/drawingml/2006/main" w="19050">
            <a:solidFill>
              <a:srgbClr val="1E4A66"/>
            </a:solidFill>
            <a:prstDash val="solid"/>
          </a:ln>
        </p:spPr>
      </p:sp>
      <p:sp>
        <p:nvSpPr>
          <p:cNvPr id="12" name="">
            <a:extLst xmlns:a="http://schemas.openxmlformats.org/drawingml/2006/main">
              <a:ext uri="{FF2B5EF4-FFF2-40B4-BE49-F238E27FC236}">
                <a16:creationId xmlns:a16="http://schemas.microsoft.com/office/drawing/2014/main" id="{CA00BBFF-6AEC-4725-8F11-FC3B91739F6D}"/>
              </a:ext>
            </a:extLst>
          </p:cNvPr>
          <p:cNvSpPr>
            <a:spLocks xmlns:a="http://schemas.openxmlformats.org/drawingml/2006/main" noGrp="1"/>
          </p:cNvSpPr>
          <p:nvPr/>
        </p:nvSpPr>
        <p:spPr>
          <a:xfrm xmlns:a="http://schemas.openxmlformats.org/drawingml/2006/main">
            <a:off x="6477000" y="2857500"/>
            <a:ext cx="1143000" cy="666750"/>
          </a:xfrm>
          <a:prstGeom xmlns:a="http://schemas.openxmlformats.org/drawingml/2006/main" prst="hexagon">
            <a:avLst/>
          </a:prstGeom>
          <a:solidFill xmlns:a="http://schemas.openxmlformats.org/drawingml/2006/main">
            <a:srgbClr val="0B2942"/>
          </a:solidFill>
          <a:ln xmlns:a="http://schemas.openxmlformats.org/drawingml/2006/main" w="19050">
            <a:solidFill>
              <a:srgbClr val="1E4A66"/>
            </a:solidFill>
            <a:prstDash val="solid"/>
          </a:ln>
        </p:spPr>
      </p:sp>
      <p:sp>
        <p:nvSpPr>
          <p:cNvPr id="13" name="">
            <a:extLst xmlns:a="http://schemas.openxmlformats.org/drawingml/2006/main">
              <a:ext uri="{FF2B5EF4-FFF2-40B4-BE49-F238E27FC236}">
                <a16:creationId xmlns:a16="http://schemas.microsoft.com/office/drawing/2014/main" id="{A658B71D-C27D-4E5D-AE45-7AF9B8978AA2}"/>
              </a:ext>
            </a:extLst>
          </p:cNvPr>
          <p:cNvSpPr>
            <a:spLocks xmlns:a="http://schemas.openxmlformats.org/drawingml/2006/main" noGrp="1"/>
          </p:cNvSpPr>
          <p:nvPr/>
        </p:nvSpPr>
        <p:spPr>
          <a:xfrm xmlns:a="http://schemas.openxmlformats.org/drawingml/2006/main">
            <a:off x="7810500" y="2857500"/>
            <a:ext cx="1143000" cy="666750"/>
          </a:xfrm>
          <a:prstGeom xmlns:a="http://schemas.openxmlformats.org/drawingml/2006/main" prst="hexagon">
            <a:avLst/>
          </a:prstGeom>
          <a:solidFill xmlns:a="http://schemas.openxmlformats.org/drawingml/2006/main">
            <a:srgbClr val="0B2942"/>
          </a:solidFill>
          <a:ln xmlns:a="http://schemas.openxmlformats.org/drawingml/2006/main" w="19050">
            <a:solidFill>
              <a:srgbClr val="1E4A66"/>
            </a:solidFill>
            <a:prstDash val="solid"/>
          </a:ln>
        </p:spPr>
      </p:sp>
      <p:sp>
        <p:nvSpPr>
          <p:cNvPr id="14" name="">
            <a:extLst xmlns:a="http://schemas.openxmlformats.org/drawingml/2006/main">
              <a:ext uri="{FF2B5EF4-FFF2-40B4-BE49-F238E27FC236}">
                <a16:creationId xmlns:a16="http://schemas.microsoft.com/office/drawing/2014/main" id="{522ABE6C-B649-47FC-A5C3-1E25CC04B34C}"/>
              </a:ext>
            </a:extLst>
          </p:cNvPr>
          <p:cNvSpPr>
            <a:spLocks xmlns:a="http://schemas.openxmlformats.org/drawingml/2006/main" noGrp="1"/>
          </p:cNvSpPr>
          <p:nvPr/>
        </p:nvSpPr>
        <p:spPr>
          <a:xfrm xmlns:a="http://schemas.openxmlformats.org/drawingml/2006/main">
            <a:off x="3143250" y="3667125"/>
            <a:ext cx="1143000" cy="666750"/>
          </a:xfrm>
          <a:prstGeom xmlns:a="http://schemas.openxmlformats.org/drawingml/2006/main" prst="hexagon">
            <a:avLst/>
          </a:prstGeom>
          <a:solidFill xmlns:a="http://schemas.openxmlformats.org/drawingml/2006/main">
            <a:srgbClr val="0B2942"/>
          </a:solidFill>
          <a:ln xmlns:a="http://schemas.openxmlformats.org/drawingml/2006/main" w="19050">
            <a:solidFill>
              <a:srgbClr val="1E4A66"/>
            </a:solidFill>
            <a:prstDash val="solid"/>
          </a:ln>
        </p:spPr>
      </p:sp>
      <p:sp>
        <p:nvSpPr>
          <p:cNvPr id="15" name="">
            <a:extLst xmlns:a="http://schemas.openxmlformats.org/drawingml/2006/main">
              <a:ext uri="{FF2B5EF4-FFF2-40B4-BE49-F238E27FC236}">
                <a16:creationId xmlns:a16="http://schemas.microsoft.com/office/drawing/2014/main" id="{9421C17A-700B-4552-9CE7-8BFB0112BB44}"/>
              </a:ext>
            </a:extLst>
          </p:cNvPr>
          <p:cNvSpPr>
            <a:spLocks xmlns:a="http://schemas.openxmlformats.org/drawingml/2006/main" noGrp="1"/>
          </p:cNvSpPr>
          <p:nvPr/>
        </p:nvSpPr>
        <p:spPr>
          <a:xfrm xmlns:a="http://schemas.openxmlformats.org/drawingml/2006/main">
            <a:off x="4476750" y="3667125"/>
            <a:ext cx="1143000" cy="666750"/>
          </a:xfrm>
          <a:prstGeom xmlns:a="http://schemas.openxmlformats.org/drawingml/2006/main" prst="hexagon">
            <a:avLst/>
          </a:prstGeom>
          <a:solidFill xmlns:a="http://schemas.openxmlformats.org/drawingml/2006/main">
            <a:srgbClr val="0B2942"/>
          </a:solidFill>
          <a:ln xmlns:a="http://schemas.openxmlformats.org/drawingml/2006/main" w="19050">
            <a:solidFill>
              <a:srgbClr val="1E4A66"/>
            </a:solidFill>
            <a:prstDash val="solid"/>
          </a:ln>
        </p:spPr>
      </p:sp>
      <p:sp>
        <p:nvSpPr>
          <p:cNvPr id="16" name="">
            <a:extLst xmlns:a="http://schemas.openxmlformats.org/drawingml/2006/main">
              <a:ext uri="{FF2B5EF4-FFF2-40B4-BE49-F238E27FC236}">
                <a16:creationId xmlns:a16="http://schemas.microsoft.com/office/drawing/2014/main" id="{AE884E13-67F4-4015-A727-125B613952D4}"/>
              </a:ext>
            </a:extLst>
          </p:cNvPr>
          <p:cNvSpPr>
            <a:spLocks xmlns:a="http://schemas.openxmlformats.org/drawingml/2006/main" noGrp="1"/>
          </p:cNvSpPr>
          <p:nvPr/>
        </p:nvSpPr>
        <p:spPr>
          <a:xfrm xmlns:a="http://schemas.openxmlformats.org/drawingml/2006/main">
            <a:off x="5810250" y="3667125"/>
            <a:ext cx="1143000" cy="666750"/>
          </a:xfrm>
          <a:prstGeom xmlns:a="http://schemas.openxmlformats.org/drawingml/2006/main" prst="hexagon">
            <a:avLst/>
          </a:prstGeom>
          <a:solidFill xmlns:a="http://schemas.openxmlformats.org/drawingml/2006/main">
            <a:srgbClr val="145E75"/>
          </a:solidFill>
          <a:ln xmlns:a="http://schemas.openxmlformats.org/drawingml/2006/main" w="19050">
            <a:solidFill>
              <a:srgbClr val="34D399"/>
            </a:solidFill>
            <a:prstDash val="solid"/>
          </a:ln>
        </p:spPr>
      </p:sp>
      <p:sp>
        <p:nvSpPr>
          <p:cNvPr id="17" name="">
            <a:extLst xmlns:a="http://schemas.openxmlformats.org/drawingml/2006/main">
              <a:ext uri="{FF2B5EF4-FFF2-40B4-BE49-F238E27FC236}">
                <a16:creationId xmlns:a16="http://schemas.microsoft.com/office/drawing/2014/main" id="{3F5C8A02-3692-4527-AAA4-E5453E9BB5F4}"/>
              </a:ext>
            </a:extLst>
          </p:cNvPr>
          <p:cNvSpPr>
            <a:spLocks xmlns:a="http://schemas.openxmlformats.org/drawingml/2006/main" noGrp="1"/>
          </p:cNvSpPr>
          <p:nvPr/>
        </p:nvSpPr>
        <p:spPr>
          <a:xfrm xmlns:a="http://schemas.openxmlformats.org/drawingml/2006/main">
            <a:off x="7143750" y="3667125"/>
            <a:ext cx="1143000" cy="666750"/>
          </a:xfrm>
          <a:prstGeom xmlns:a="http://schemas.openxmlformats.org/drawingml/2006/main" prst="hexagon">
            <a:avLst/>
          </a:prstGeom>
          <a:solidFill xmlns:a="http://schemas.openxmlformats.org/drawingml/2006/main">
            <a:srgbClr val="0B2942"/>
          </a:solidFill>
          <a:ln xmlns:a="http://schemas.openxmlformats.org/drawingml/2006/main" w="19050">
            <a:solidFill>
              <a:srgbClr val="1E4A66"/>
            </a:solidFill>
            <a:prstDash val="solid"/>
          </a:ln>
        </p:spPr>
      </p:sp>
      <p:sp>
        <p:nvSpPr>
          <p:cNvPr id="18" name="">
            <a:extLst xmlns:a="http://schemas.openxmlformats.org/drawingml/2006/main">
              <a:ext uri="{FF2B5EF4-FFF2-40B4-BE49-F238E27FC236}">
                <a16:creationId xmlns:a16="http://schemas.microsoft.com/office/drawing/2014/main" id="{657CC3EB-11AB-4304-AF17-87E722ABCF9C}"/>
              </a:ext>
            </a:extLst>
          </p:cNvPr>
          <p:cNvSpPr>
            <a:spLocks xmlns:a="http://schemas.openxmlformats.org/drawingml/2006/main" noGrp="1"/>
          </p:cNvSpPr>
          <p:nvPr/>
        </p:nvSpPr>
        <p:spPr>
          <a:xfrm xmlns:a="http://schemas.openxmlformats.org/drawingml/2006/main">
            <a:off x="8477250" y="3667125"/>
            <a:ext cx="1143000" cy="666750"/>
          </a:xfrm>
          <a:prstGeom xmlns:a="http://schemas.openxmlformats.org/drawingml/2006/main" prst="hexagon">
            <a:avLst/>
          </a:prstGeom>
          <a:solidFill xmlns:a="http://schemas.openxmlformats.org/drawingml/2006/main">
            <a:srgbClr val="0B2942"/>
          </a:solidFill>
          <a:ln xmlns:a="http://schemas.openxmlformats.org/drawingml/2006/main" w="19050">
            <a:solidFill>
              <a:srgbClr val="1E4A66"/>
            </a:solidFill>
            <a:prstDash val="solid"/>
          </a:ln>
        </p:spPr>
      </p:sp>
      <p:sp>
        <p:nvSpPr>
          <p:cNvPr id="19" name="">
            <a:extLst xmlns:a="http://schemas.openxmlformats.org/drawingml/2006/main">
              <a:ext uri="{FF2B5EF4-FFF2-40B4-BE49-F238E27FC236}">
                <a16:creationId xmlns:a16="http://schemas.microsoft.com/office/drawing/2014/main" id="{734DB442-CDF0-4FC1-9C4F-3E8695E53139}"/>
              </a:ext>
            </a:extLst>
          </p:cNvPr>
          <p:cNvSpPr>
            <a:spLocks xmlns:a="http://schemas.openxmlformats.org/drawingml/2006/main" noGrp="1"/>
          </p:cNvSpPr>
          <p:nvPr/>
        </p:nvSpPr>
        <p:spPr>
          <a:xfrm xmlns:a="http://schemas.openxmlformats.org/drawingml/2006/main">
            <a:off x="2476500" y="4476750"/>
            <a:ext cx="1143000" cy="666750"/>
          </a:xfrm>
          <a:prstGeom xmlns:a="http://schemas.openxmlformats.org/drawingml/2006/main" prst="hexagon">
            <a:avLst/>
          </a:prstGeom>
          <a:solidFill xmlns:a="http://schemas.openxmlformats.org/drawingml/2006/main">
            <a:srgbClr val="0B2942"/>
          </a:solidFill>
          <a:ln xmlns:a="http://schemas.openxmlformats.org/drawingml/2006/main" w="19050">
            <a:solidFill>
              <a:srgbClr val="1E4A66"/>
            </a:solidFill>
            <a:prstDash val="solid"/>
          </a:ln>
        </p:spPr>
      </p:sp>
      <p:sp>
        <p:nvSpPr>
          <p:cNvPr id="20" name="">
            <a:extLst xmlns:a="http://schemas.openxmlformats.org/drawingml/2006/main">
              <a:ext uri="{FF2B5EF4-FFF2-40B4-BE49-F238E27FC236}">
                <a16:creationId xmlns:a16="http://schemas.microsoft.com/office/drawing/2014/main" id="{E68C4B06-F81B-4233-9CE1-1043BA936F56}"/>
              </a:ext>
            </a:extLst>
          </p:cNvPr>
          <p:cNvSpPr>
            <a:spLocks xmlns:a="http://schemas.openxmlformats.org/drawingml/2006/main" noGrp="1"/>
          </p:cNvSpPr>
          <p:nvPr/>
        </p:nvSpPr>
        <p:spPr>
          <a:xfrm xmlns:a="http://schemas.openxmlformats.org/drawingml/2006/main">
            <a:off x="3810000" y="4476750"/>
            <a:ext cx="1143000" cy="666750"/>
          </a:xfrm>
          <a:prstGeom xmlns:a="http://schemas.openxmlformats.org/drawingml/2006/main" prst="hexagon">
            <a:avLst/>
          </a:prstGeom>
          <a:solidFill xmlns:a="http://schemas.openxmlformats.org/drawingml/2006/main">
            <a:srgbClr val="0B2942"/>
          </a:solidFill>
          <a:ln xmlns:a="http://schemas.openxmlformats.org/drawingml/2006/main" w="19050">
            <a:solidFill>
              <a:srgbClr val="1E4A66"/>
            </a:solidFill>
            <a:prstDash val="solid"/>
          </a:ln>
        </p:spPr>
      </p:sp>
      <p:sp>
        <p:nvSpPr>
          <p:cNvPr id="21" name="">
            <a:extLst xmlns:a="http://schemas.openxmlformats.org/drawingml/2006/main">
              <a:ext uri="{FF2B5EF4-FFF2-40B4-BE49-F238E27FC236}">
                <a16:creationId xmlns:a16="http://schemas.microsoft.com/office/drawing/2014/main" id="{4B069D66-7068-4C3D-891F-A64848DBE73A}"/>
              </a:ext>
            </a:extLst>
          </p:cNvPr>
          <p:cNvSpPr>
            <a:spLocks xmlns:a="http://schemas.openxmlformats.org/drawingml/2006/main" noGrp="1"/>
          </p:cNvSpPr>
          <p:nvPr/>
        </p:nvSpPr>
        <p:spPr>
          <a:xfrm xmlns:a="http://schemas.openxmlformats.org/drawingml/2006/main">
            <a:off x="5143500" y="4476750"/>
            <a:ext cx="1143000" cy="666750"/>
          </a:xfrm>
          <a:prstGeom xmlns:a="http://schemas.openxmlformats.org/drawingml/2006/main" prst="hexagon">
            <a:avLst/>
          </a:prstGeom>
          <a:solidFill xmlns:a="http://schemas.openxmlformats.org/drawingml/2006/main">
            <a:srgbClr val="0B2942"/>
          </a:solidFill>
          <a:ln xmlns:a="http://schemas.openxmlformats.org/drawingml/2006/main" w="19050">
            <a:solidFill>
              <a:srgbClr val="1E4A66"/>
            </a:solidFill>
            <a:prstDash val="solid"/>
          </a:ln>
        </p:spPr>
      </p:sp>
      <p:sp>
        <p:nvSpPr>
          <p:cNvPr id="22" name="">
            <a:extLst xmlns:a="http://schemas.openxmlformats.org/drawingml/2006/main">
              <a:ext uri="{FF2B5EF4-FFF2-40B4-BE49-F238E27FC236}">
                <a16:creationId xmlns:a16="http://schemas.microsoft.com/office/drawing/2014/main" id="{2B4CD3B3-EA25-494B-8CEA-CAC8D995D551}"/>
              </a:ext>
            </a:extLst>
          </p:cNvPr>
          <p:cNvSpPr>
            <a:spLocks xmlns:a="http://schemas.openxmlformats.org/drawingml/2006/main" noGrp="1"/>
          </p:cNvSpPr>
          <p:nvPr/>
        </p:nvSpPr>
        <p:spPr>
          <a:xfrm xmlns:a="http://schemas.openxmlformats.org/drawingml/2006/main">
            <a:off x="6477000" y="4476750"/>
            <a:ext cx="1143000" cy="666750"/>
          </a:xfrm>
          <a:prstGeom xmlns:a="http://schemas.openxmlformats.org/drawingml/2006/main" prst="hexagon">
            <a:avLst/>
          </a:prstGeom>
          <a:solidFill xmlns:a="http://schemas.openxmlformats.org/drawingml/2006/main">
            <a:srgbClr val="0B2942"/>
          </a:solidFill>
          <a:ln xmlns:a="http://schemas.openxmlformats.org/drawingml/2006/main" w="19050">
            <a:solidFill>
              <a:srgbClr val="1E4A66"/>
            </a:solidFill>
            <a:prstDash val="solid"/>
          </a:ln>
        </p:spPr>
      </p:sp>
      <p:sp>
        <p:nvSpPr>
          <p:cNvPr id="23" name="">
            <a:extLst xmlns:a="http://schemas.openxmlformats.org/drawingml/2006/main">
              <a:ext uri="{FF2B5EF4-FFF2-40B4-BE49-F238E27FC236}">
                <a16:creationId xmlns:a16="http://schemas.microsoft.com/office/drawing/2014/main" id="{04D46217-55E7-401C-9BA4-D1AE3A6D77C3}"/>
              </a:ext>
            </a:extLst>
          </p:cNvPr>
          <p:cNvSpPr>
            <a:spLocks xmlns:a="http://schemas.openxmlformats.org/drawingml/2006/main" noGrp="1"/>
          </p:cNvSpPr>
          <p:nvPr/>
        </p:nvSpPr>
        <p:spPr>
          <a:xfrm xmlns:a="http://schemas.openxmlformats.org/drawingml/2006/main">
            <a:off x="7810500" y="4476750"/>
            <a:ext cx="1143000" cy="666750"/>
          </a:xfrm>
          <a:prstGeom xmlns:a="http://schemas.openxmlformats.org/drawingml/2006/main" prst="hexagon">
            <a:avLst/>
          </a:prstGeom>
          <a:solidFill xmlns:a="http://schemas.openxmlformats.org/drawingml/2006/main">
            <a:srgbClr val="0B2942"/>
          </a:solidFill>
          <a:ln xmlns:a="http://schemas.openxmlformats.org/drawingml/2006/main" w="19050">
            <a:solidFill>
              <a:srgbClr val="1E4A66"/>
            </a:solidFill>
            <a:prstDash val="solid"/>
          </a:ln>
        </p:spPr>
      </p:sp>
      <p:sp>
        <p:nvSpPr>
          <p:cNvPr id="24" name="">
            <a:extLst xmlns:a="http://schemas.openxmlformats.org/drawingml/2006/main">
              <a:ext uri="{FF2B5EF4-FFF2-40B4-BE49-F238E27FC236}">
                <a16:creationId xmlns:a16="http://schemas.microsoft.com/office/drawing/2014/main" id="{A1658FEE-397D-4B66-BCB3-E3A98D823EC9}"/>
              </a:ext>
            </a:extLst>
          </p:cNvPr>
          <p:cNvSpPr>
            <a:spLocks xmlns:a="http://schemas.openxmlformats.org/drawingml/2006/main" noGrp="1"/>
          </p:cNvSpPr>
          <p:nvPr/>
        </p:nvSpPr>
        <p:spPr>
          <a:xfrm xmlns:a="http://schemas.openxmlformats.org/drawingml/2006/main">
            <a:off x="2143125" y="5572125"/>
            <a:ext cx="790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0">
                <a:solidFill>
                  <a:srgbClr val="A8C7D9"/>
                </a:solidFill>
              </a:defRPr>
            </a:pPr>
            <a:r>
              <a:rPr sz="1725" b="0">
                <a:solidFill>
                  <a:srgbClr val="A8C7D9"/>
                </a:solidFill>
              </a:rPr>
              <a:t>Search the pickup cell, then expand outward only as needed.</a:t>
            </a:r>
          </a:p>
        </p:txBody>
      </p:sp>
      <p:sp>
        <p:nvSpPr>
          <p:cNvPr id="25" name="">
            <a:extLst xmlns:a="http://schemas.openxmlformats.org/drawingml/2006/main">
              <a:ext uri="{FF2B5EF4-FFF2-40B4-BE49-F238E27FC236}">
                <a16:creationId xmlns:a16="http://schemas.microsoft.com/office/drawing/2014/main" id="{D4DC00AF-C16F-49C2-815F-BC00F2606E5E}"/>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26" name="">
            <a:extLst xmlns:a="http://schemas.openxmlformats.org/drawingml/2006/main">
              <a:ext uri="{FF2B5EF4-FFF2-40B4-BE49-F238E27FC236}">
                <a16:creationId xmlns:a16="http://schemas.microsoft.com/office/drawing/2014/main" id="{140083B8-F6EF-4517-9756-253BF7C33633}"/>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H3 cell: An H3 cell is an addressable hexagonal area used to group nearby geographic positions for efficient search.</a:t>
            </a:r>
          </a:p>
        </p:txBody>
      </p:sp>
    </p:spTree>
    <p:extLst>
      <p:ext uri="{BB962C8B-B14F-4D97-AF65-F5344CB8AC3E}">
        <p14:creationId xmlns:p14="http://schemas.microsoft.com/office/powerpoint/2010/main" val="51328746"/>
      </p:ext>
    </p:extLst>
  </p:cSld>
</p:sld>
</file>

<file path=ppt/slides/slide17.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F005631-5B04-4BD9-9CC7-D2E55693A52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89374D93-AA93-4B76-BB2C-BF79F2BF1EDA}"/>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17  •  DISPATCH</a:t>
            </a:r>
          </a:p>
        </p:txBody>
      </p:sp>
      <p:sp>
        <p:nvSpPr>
          <p:cNvPr id="3" name="">
            <a:extLst xmlns:a="http://schemas.openxmlformats.org/drawingml/2006/main">
              <a:ext uri="{FF2B5EF4-FFF2-40B4-BE49-F238E27FC236}">
                <a16:creationId xmlns:a16="http://schemas.microsoft.com/office/drawing/2014/main" id="{0C2B2D33-656F-4B63-A099-2EF6F8BDCCEC}"/>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Dispatch: Find Viable Candidates</a:t>
            </a:r>
          </a:p>
        </p:txBody>
      </p:sp>
      <p:sp>
        <p:nvSpPr>
          <p:cNvPr id="4" name="">
            <a:extLst xmlns:a="http://schemas.openxmlformats.org/drawingml/2006/main">
              <a:ext uri="{FF2B5EF4-FFF2-40B4-BE49-F238E27FC236}">
                <a16:creationId xmlns:a16="http://schemas.microsoft.com/office/drawing/2014/main" id="{ED5F0C90-828D-4CE7-A840-F059023FB34A}"/>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B531B804-99E2-4F50-B3C9-B53B4999461A}"/>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6FB5CD12-A6F2-462C-8CA4-C2417C16C30F}"/>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17 / 25</a:t>
            </a:r>
          </a:p>
        </p:txBody>
      </p:sp>
      <p:sp>
        <p:nvSpPr>
          <p:cNvPr id="7" name="">
            <a:extLst xmlns:a="http://schemas.openxmlformats.org/drawingml/2006/main">
              <a:ext uri="{FF2B5EF4-FFF2-40B4-BE49-F238E27FC236}">
                <a16:creationId xmlns:a16="http://schemas.microsoft.com/office/drawing/2014/main" id="{A540BF9B-0A63-4CED-965F-5112D5177B36}"/>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Search map cells → filter hard rules → keep viable drivers.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b4973d2837b4126">
            <a:extLst>
              <a:ext uri="{96DAC541-7B7A-43D3-8B79-37D633B846F1}">
                <asvg:svgBlip xmlns:asvg="http://schemas.microsoft.com/office/drawing/2016/SVG/main" r:embed="R5369f5d855af4d09"/>
              </a:ext>
            </a:extLst>
          </a:blip>
          <a:stretch xmlns:a="http://schemas.openxmlformats.org/drawingml/2006/main"/>
        </p:blipFill>
        <p:spPr>
          <a:xfrm xmlns:a="http://schemas.openxmlformats.org/drawingml/2006/main">
            <a:off x="733425" y="1952625"/>
            <a:ext cx="10668000" cy="3238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B5267FC-9FA8-49CC-BE79-EB64A43869C5}"/>
              </a:ext>
            </a:extLst>
          </p:cNvPr>
          <p:cNvSpPr>
            <a:spLocks xmlns:a="http://schemas.openxmlformats.org/drawingml/2006/main" noGrp="1"/>
          </p:cNvSpPr>
          <p:nvPr/>
        </p:nvSpPr>
        <p:spPr>
          <a:xfrm xmlns:a="http://schemas.openxmlformats.org/drawingml/2006/main">
            <a:off x="1476375" y="541020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0">
                <a:solidFill>
                  <a:srgbClr val="A8C7D9"/>
                </a:solidFill>
              </a:defRPr>
            </a:pPr>
            <a:r>
              <a:rPr sz="1800" b="0">
                <a:solidFill>
                  <a:srgbClr val="A8C7D9"/>
                </a:solidFill>
              </a:rPr>
              <a:t>Hard eligibility rules stop impossible offers before expensive scoring.</a:t>
            </a:r>
          </a:p>
        </p:txBody>
      </p:sp>
      <p:sp>
        <p:nvSpPr>
          <p:cNvPr id="10" name="">
            <a:extLst xmlns:a="http://schemas.openxmlformats.org/drawingml/2006/main">
              <a:ext uri="{FF2B5EF4-FFF2-40B4-BE49-F238E27FC236}">
                <a16:creationId xmlns:a16="http://schemas.microsoft.com/office/drawing/2014/main" id="{07233874-4D8B-4289-9B83-9E27CFA840B3}"/>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1" name="">
            <a:extLst xmlns:a="http://schemas.openxmlformats.org/drawingml/2006/main">
              <a:ext uri="{FF2B5EF4-FFF2-40B4-BE49-F238E27FC236}">
                <a16:creationId xmlns:a16="http://schemas.microsoft.com/office/drawing/2014/main" id="{6E0A763F-60A5-4A01-B59D-C13233D0C96A}"/>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candidate filter: A candidate filter quickly removes options that cannot satisfy a request before expensive scoring.  •  eligibility: Eligibility is the set of non-negotiable rules an option must satisfy before it can be offered.</a:t>
            </a:r>
          </a:p>
        </p:txBody>
      </p:sp>
    </p:spTree>
    <p:extLst>
      <p:ext uri="{BB962C8B-B14F-4D97-AF65-F5344CB8AC3E}">
        <p14:creationId xmlns:p14="http://schemas.microsoft.com/office/powerpoint/2010/main" val="1239293093"/>
      </p:ext>
    </p:extLst>
  </p:cSld>
</p:sld>
</file>

<file path=ppt/slides/slide18.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512C29B-82D5-4785-8969-4EF5D50B9FB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FE72B065-BC6B-4CF6-BBB7-778FC80D900B}"/>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18  •  DISPATCH</a:t>
            </a:r>
          </a:p>
        </p:txBody>
      </p:sp>
      <p:sp>
        <p:nvSpPr>
          <p:cNvPr id="3" name="">
            <a:extLst xmlns:a="http://schemas.openxmlformats.org/drawingml/2006/main">
              <a:ext uri="{FF2B5EF4-FFF2-40B4-BE49-F238E27FC236}">
                <a16:creationId xmlns:a16="http://schemas.microsoft.com/office/drawing/2014/main" id="{87724B60-B9FC-4169-8CEB-9937ADF4989A}"/>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Learned and Deterministic Scoring</a:t>
            </a:r>
          </a:p>
        </p:txBody>
      </p:sp>
      <p:sp>
        <p:nvSpPr>
          <p:cNvPr id="4" name="">
            <a:extLst xmlns:a="http://schemas.openxmlformats.org/drawingml/2006/main">
              <a:ext uri="{FF2B5EF4-FFF2-40B4-BE49-F238E27FC236}">
                <a16:creationId xmlns:a16="http://schemas.microsoft.com/office/drawing/2014/main" id="{05D24B1D-2A2B-4308-8EAB-C26D97E4AA42}"/>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CB8662E5-D28F-42BB-A125-024CCCC1244D}"/>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CDA1249B-D9E3-4309-BBD6-FE2EDF6F7685}"/>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18 / 25</a:t>
            </a:r>
          </a:p>
        </p:txBody>
      </p:sp>
      <p:sp>
        <p:nvSpPr>
          <p:cNvPr id="7" name="">
            <a:extLst xmlns:a="http://schemas.openxmlformats.org/drawingml/2006/main">
              <a:ext uri="{FF2B5EF4-FFF2-40B4-BE49-F238E27FC236}">
                <a16:creationId xmlns:a16="http://schemas.microsoft.com/office/drawing/2014/main" id="{8363AAA1-CAB4-4303-B7ED-54EF90436072}"/>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Predict with fresh signals. Keep a transparent distance-and-fairness baseline.</a:t>
            </a:r>
          </a:p>
        </p:txBody>
      </p:sp>
      <p:sp>
        <p:nvSpPr>
          <p:cNvPr id="8" name="">
            <a:extLst xmlns:a="http://schemas.openxmlformats.org/drawingml/2006/main">
              <a:ext uri="{FF2B5EF4-FFF2-40B4-BE49-F238E27FC236}">
                <a16:creationId xmlns:a16="http://schemas.microsoft.com/office/drawing/2014/main" id="{1BF00529-8C9A-4557-B374-17BB18D2CF41}"/>
              </a:ext>
            </a:extLst>
          </p:cNvPr>
          <p:cNvSpPr>
            <a:spLocks xmlns:a="http://schemas.openxmlformats.org/drawingml/2006/main" noGrp="1"/>
          </p:cNvSpPr>
          <p:nvPr/>
        </p:nvSpPr>
        <p:spPr>
          <a:xfrm xmlns:a="http://schemas.openxmlformats.org/drawingml/2006/main">
            <a:off x="1666875" y="2524125"/>
            <a:ext cx="3333750" cy="1190625"/>
          </a:xfrm>
          <a:prstGeom xmlns:a="http://schemas.openxmlformats.org/drawingml/2006/main" prst="roundRect">
            <a:avLst>
              <a:gd name="adj" fmla="val 12800"/>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Learned ranker</a:t>
            </a:r>
          </a:p>
          <a:p xmlns:a="http://schemas.openxmlformats.org/drawingml/2006/main">
            <a:pPr algn="ctr">
              <a:defRPr sz="1350" b="1">
                <a:solidFill>
                  <a:srgbClr val="F8FAFC"/>
                </a:solidFill>
              </a:defRPr>
            </a:pPr>
            <a:r>
              <a:rPr sz="1350" b="1">
                <a:solidFill>
                  <a:srgbClr val="F8FAFC"/>
                </a:solidFill>
              </a:rPr>
              <a:t>fresh signals • predicted usefulness</a:t>
            </a:r>
          </a:p>
        </p:txBody>
      </p:sp>
      <p:sp>
        <p:nvSpPr>
          <p:cNvPr id="9" name="">
            <a:extLst xmlns:a="http://schemas.openxmlformats.org/drawingml/2006/main">
              <a:ext uri="{FF2B5EF4-FFF2-40B4-BE49-F238E27FC236}">
                <a16:creationId xmlns:a16="http://schemas.microsoft.com/office/drawing/2014/main" id="{F5B89684-0ECA-4C26-A69C-B8936D3B4AA7}"/>
              </a:ext>
            </a:extLst>
          </p:cNvPr>
          <p:cNvSpPr>
            <a:spLocks xmlns:a="http://schemas.openxmlformats.org/drawingml/2006/main" noGrp="1"/>
          </p:cNvSpPr>
          <p:nvPr/>
        </p:nvSpPr>
        <p:spPr>
          <a:xfrm xmlns:a="http://schemas.openxmlformats.org/drawingml/2006/main">
            <a:off x="7191375" y="2524125"/>
            <a:ext cx="3333750" cy="1190625"/>
          </a:xfrm>
          <a:prstGeom xmlns:a="http://schemas.openxmlformats.org/drawingml/2006/main" prst="roundRect">
            <a:avLst>
              <a:gd name="adj" fmla="val 12800"/>
            </a:avLst>
          </a:prstGeom>
          <a:solidFill xmlns:a="http://schemas.openxmlformats.org/drawingml/2006/main">
            <a:srgbClr val="0B2942"/>
          </a:solidFill>
          <a:ln xmlns:a="http://schemas.openxmlformats.org/drawingml/2006/main" w="14288">
            <a:solidFill>
              <a:srgbClr val="FBBF24"/>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Deterministic scorer</a:t>
            </a:r>
          </a:p>
          <a:p xmlns:a="http://schemas.openxmlformats.org/drawingml/2006/main">
            <a:pPr algn="ctr">
              <a:defRPr sz="1350" b="1">
                <a:solidFill>
                  <a:srgbClr val="F8FAFC"/>
                </a:solidFill>
              </a:defRPr>
            </a:pPr>
            <a:r>
              <a:rPr sz="1350" b="1">
                <a:solidFill>
                  <a:srgbClr val="F8FAFC"/>
                </a:solidFill>
              </a:rPr>
              <a:t>ETA + distance + fairness</a:t>
            </a:r>
          </a:p>
        </p:txBody>
      </p:sp>
      <p:sp>
        <p:nvSpPr>
          <p:cNvPr id="10" name="">
            <a:extLst xmlns:a="http://schemas.openxmlformats.org/drawingml/2006/main">
              <a:ext uri="{FF2B5EF4-FFF2-40B4-BE49-F238E27FC236}">
                <a16:creationId xmlns:a16="http://schemas.microsoft.com/office/drawing/2014/main" id="{FABB014F-7BA6-4263-9AAF-6ADE682DBD77}"/>
              </a:ext>
            </a:extLst>
          </p:cNvPr>
          <p:cNvSpPr>
            <a:spLocks xmlns:a="http://schemas.openxmlformats.org/drawingml/2006/main" noGrp="1"/>
          </p:cNvSpPr>
          <p:nvPr/>
        </p:nvSpPr>
        <p:spPr>
          <a:xfrm xmlns:a="http://schemas.openxmlformats.org/drawingml/2006/main">
            <a:off x="1428750" y="4333875"/>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0">
                <a:solidFill>
                  <a:srgbClr val="A8C7D9"/>
                </a:solidFill>
              </a:defRPr>
            </a:pPr>
            <a:r>
              <a:rPr sz="2025" b="0">
                <a:solidFill>
                  <a:srgbClr val="A8C7D9"/>
                </a:solidFill>
              </a:rPr>
              <a:t>AI is advice. A transparent baseline keeps matching available.</a:t>
            </a:r>
          </a:p>
        </p:txBody>
      </p:sp>
      <p:sp>
        <p:nvSpPr>
          <p:cNvPr id="11" name="">
            <a:extLst xmlns:a="http://schemas.openxmlformats.org/drawingml/2006/main">
              <a:ext uri="{FF2B5EF4-FFF2-40B4-BE49-F238E27FC236}">
                <a16:creationId xmlns:a16="http://schemas.microsoft.com/office/drawing/2014/main" id="{3855E2DA-54B1-4725-A77E-829C7592E1C5}"/>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2" name="">
            <a:extLst xmlns:a="http://schemas.openxmlformats.org/drawingml/2006/main">
              <a:ext uri="{FF2B5EF4-FFF2-40B4-BE49-F238E27FC236}">
                <a16:creationId xmlns:a16="http://schemas.microsoft.com/office/drawing/2014/main" id="{46195F60-1DAD-424A-A112-86BFFA9D3C2C}"/>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online feature: An online feature is a fresh input, such as current traffic or driver state, used during a live decision.  •  learned ranker: A learned ranker is a model that orders options by predicted usefulness using historical patterns and current inputs.  •  deterministic scorer: A deterministic scorer ranks options with fixed, explainable rules that produce the same result for the same inputs.</a:t>
            </a:r>
          </a:p>
        </p:txBody>
      </p:sp>
    </p:spTree>
    <p:extLst>
      <p:ext uri="{BB962C8B-B14F-4D97-AF65-F5344CB8AC3E}">
        <p14:creationId xmlns:p14="http://schemas.microsoft.com/office/powerpoint/2010/main" val="2098879854"/>
      </p:ext>
    </p:extLst>
  </p:cSld>
</p:sld>
</file>

<file path=ppt/slides/slide19.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F9B4A04-4195-4B97-BE69-5ACA555CAD0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07A60B6B-FCFE-4300-973A-23488E828EA2}"/>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19  •  DISPATCH</a:t>
            </a:r>
          </a:p>
        </p:txBody>
      </p:sp>
      <p:sp>
        <p:nvSpPr>
          <p:cNvPr id="3" name="">
            <a:extLst xmlns:a="http://schemas.openxmlformats.org/drawingml/2006/main">
              <a:ext uri="{FF2B5EF4-FFF2-40B4-BE49-F238E27FC236}">
                <a16:creationId xmlns:a16="http://schemas.microsoft.com/office/drawing/2014/main" id="{E5740AE6-842B-4FB4-B716-8117AEC3240D}"/>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Optimize, Then Reserve</a:t>
            </a:r>
          </a:p>
        </p:txBody>
      </p:sp>
      <p:sp>
        <p:nvSpPr>
          <p:cNvPr id="4" name="">
            <a:extLst xmlns:a="http://schemas.openxmlformats.org/drawingml/2006/main">
              <a:ext uri="{FF2B5EF4-FFF2-40B4-BE49-F238E27FC236}">
                <a16:creationId xmlns:a16="http://schemas.microsoft.com/office/drawing/2014/main" id="{66A37FCE-2CC4-4DCC-85A3-4012142F92D6}"/>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EE39D0C3-54A6-4174-A0F8-866B407A365E}"/>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4E538F84-7E12-430F-A1CA-5E0A9D76F6BB}"/>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19 / 25</a:t>
            </a:r>
          </a:p>
        </p:txBody>
      </p:sp>
      <p:sp>
        <p:nvSpPr>
          <p:cNvPr id="7" name="">
            <a:extLst xmlns:a="http://schemas.openxmlformats.org/drawingml/2006/main">
              <a:ext uri="{FF2B5EF4-FFF2-40B4-BE49-F238E27FC236}">
                <a16:creationId xmlns:a16="http://schemas.microsoft.com/office/drawing/2014/main" id="{1BD18FB8-E1E0-4375-9872-60B11EFAE84A}"/>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Choose a fair assignment, then reserve one driver briefly before offering the trip.</a:t>
            </a:r>
          </a:p>
        </p:txBody>
      </p:sp>
      <p:sp>
        <p:nvSpPr>
          <p:cNvPr id="8" name="">
            <a:extLst xmlns:a="http://schemas.openxmlformats.org/drawingml/2006/main">
              <a:ext uri="{FF2B5EF4-FFF2-40B4-BE49-F238E27FC236}">
                <a16:creationId xmlns:a16="http://schemas.microsoft.com/office/drawing/2014/main" id="{C11B8B43-55D9-4CAD-97B5-AA29F5210600}"/>
              </a:ext>
            </a:extLst>
          </p:cNvPr>
          <p:cNvSpPr>
            <a:spLocks xmlns:a="http://schemas.openxmlformats.org/drawingml/2006/main" noGrp="1"/>
          </p:cNvSpPr>
          <p:nvPr/>
        </p:nvSpPr>
        <p:spPr>
          <a:xfrm xmlns:a="http://schemas.openxmlformats.org/drawingml/2006/main">
            <a:off x="1952625" y="2571750"/>
            <a:ext cx="3143250" cy="1047750"/>
          </a:xfrm>
          <a:prstGeom xmlns:a="http://schemas.openxmlformats.org/drawingml/2006/main" prst="roundRect">
            <a:avLst>
              <a:gd name="adj" fmla="val 14545"/>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Bounded optimizer</a:t>
            </a:r>
          </a:p>
          <a:p xmlns:a="http://schemas.openxmlformats.org/drawingml/2006/main">
            <a:pPr algn="ctr">
              <a:defRPr sz="1350" b="1">
                <a:solidFill>
                  <a:srgbClr val="F8FAFC"/>
                </a:solidFill>
              </a:defRPr>
            </a:pPr>
            <a:r>
              <a:rPr sz="1350" b="1">
                <a:solidFill>
                  <a:srgbClr val="F8FAFC"/>
                </a:solidFill>
              </a:rPr>
              <a:t>fair assignment across a small batch</a:t>
            </a:r>
          </a:p>
        </p:txBody>
      </p:sp>
      <p:sp>
        <p:nvSpPr>
          <p:cNvPr id="9" name="">
            <a:extLst xmlns:a="http://schemas.openxmlformats.org/drawingml/2006/main">
              <a:ext uri="{FF2B5EF4-FFF2-40B4-BE49-F238E27FC236}">
                <a16:creationId xmlns:a16="http://schemas.microsoft.com/office/drawing/2014/main" id="{289C1CEA-89AC-47DA-8EE8-186AD8D89D2A}"/>
              </a:ext>
            </a:extLst>
          </p:cNvPr>
          <p:cNvSpPr>
            <a:spLocks xmlns:a="http://schemas.openxmlformats.org/drawingml/2006/main" noGrp="1"/>
          </p:cNvSpPr>
          <p:nvPr/>
        </p:nvSpPr>
        <p:spPr>
          <a:xfrm xmlns:a="http://schemas.openxmlformats.org/drawingml/2006/main">
            <a:off x="7191375" y="2571750"/>
            <a:ext cx="3143250" cy="1047750"/>
          </a:xfrm>
          <a:prstGeom xmlns:a="http://schemas.openxmlformats.org/drawingml/2006/main" prst="roundRect">
            <a:avLst>
              <a:gd name="adj" fmla="val 14545"/>
            </a:avLst>
          </a:prstGeom>
          <a:solidFill xmlns:a="http://schemas.openxmlformats.org/drawingml/2006/main">
            <a:srgbClr val="0B2942"/>
          </a:solidFill>
          <a:ln xmlns:a="http://schemas.openxmlformats.org/drawingml/2006/main" w="14288">
            <a:solidFill>
              <a:srgbClr val="34D399"/>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Driver lease</a:t>
            </a:r>
          </a:p>
          <a:p xmlns:a="http://schemas.openxmlformats.org/drawingml/2006/main">
            <a:pPr algn="ctr">
              <a:defRPr sz="1350" b="1">
                <a:solidFill>
                  <a:srgbClr val="F8FAFC"/>
                </a:solidFill>
              </a:defRPr>
            </a:pPr>
            <a:r>
              <a:rPr sz="1350" b="1">
                <a:solidFill>
                  <a:srgbClr val="F8FAFC"/>
                </a:solidFill>
              </a:rPr>
              <a:t>temporary reservation prevents double-booking</a:t>
            </a:r>
          </a:p>
        </p:txBody>
      </p:sp>
      <p:cxnSp>
        <p:nvCxnSpPr>
          <p:cNvPr id="23" name=""/>
          <p:cNvCxnSpPr>
            <a:stCxn xmlns:a="http://schemas.openxmlformats.org/drawingml/2006/main" id="8" idx="3"/>
            <a:endCxn xmlns:a="http://schemas.openxmlformats.org/drawingml/2006/main" id="9" idx="1"/>
          </p:cNvCxnSpPr>
          <p:nvPr/>
        </p:nvCxnSpPr>
        <p:spPr>
          <a:xfrm xmlns:a="http://schemas.openxmlformats.org/drawingml/2006/main">
            <a:off x="5095875" y="3095625"/>
            <a:ext cx="2095500" cy="0"/>
          </a:xfrm>
          <a:prstGeom xmlns:a="http://schemas.openxmlformats.org/drawingml/2006/main" prst="straightConnector1">
            <a:avLst/>
          </a:prstGeom>
          <a:ln xmlns:a="http://schemas.openxmlformats.org/drawingml/2006/main" w="23813">
            <a:solidFill>
              <a:srgbClr val="34D399"/>
            </a:solidFill>
            <a:prstDash val="solid"/>
            <a:headEnd type="triangle" w="sm" len="sm"/>
          </a:ln>
        </p:spPr>
      </p:cxnSp>
      <p:sp>
        <p:nvSpPr>
          <p:cNvPr id="11" name="">
            <a:extLst xmlns:a="http://schemas.openxmlformats.org/drawingml/2006/main">
              <a:ext uri="{FF2B5EF4-FFF2-40B4-BE49-F238E27FC236}">
                <a16:creationId xmlns:a16="http://schemas.microsoft.com/office/drawing/2014/main" id="{526C0F6A-FFB5-4918-AC7E-6278AF57C2F7}"/>
              </a:ext>
            </a:extLst>
          </p:cNvPr>
          <p:cNvSpPr>
            <a:spLocks xmlns:a="http://schemas.openxmlformats.org/drawingml/2006/main" noGrp="1"/>
          </p:cNvSpPr>
          <p:nvPr/>
        </p:nvSpPr>
        <p:spPr>
          <a:xfrm xmlns:a="http://schemas.openxmlformats.org/drawingml/2006/main">
            <a:off x="2286000" y="4333875"/>
            <a:ext cx="762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0">
                <a:solidFill>
                  <a:srgbClr val="A8C7D9"/>
                </a:solidFill>
              </a:defRPr>
            </a:pPr>
            <a:r>
              <a:rPr sz="1950" b="0">
                <a:solidFill>
                  <a:srgbClr val="A8C7D9"/>
                </a:solidFill>
              </a:rPr>
              <a:t>Choose a workable assignment—then reserve it briefly.</a:t>
            </a:r>
          </a:p>
        </p:txBody>
      </p:sp>
      <p:sp>
        <p:nvSpPr>
          <p:cNvPr id="12" name="">
            <a:extLst xmlns:a="http://schemas.openxmlformats.org/drawingml/2006/main">
              <a:ext uri="{FF2B5EF4-FFF2-40B4-BE49-F238E27FC236}">
                <a16:creationId xmlns:a16="http://schemas.microsoft.com/office/drawing/2014/main" id="{02AED8D1-990B-486D-A67E-1DDC356F98B7}"/>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3" name="">
            <a:extLst xmlns:a="http://schemas.openxmlformats.org/drawingml/2006/main">
              <a:ext uri="{FF2B5EF4-FFF2-40B4-BE49-F238E27FC236}">
                <a16:creationId xmlns:a16="http://schemas.microsoft.com/office/drawing/2014/main" id="{6C426B5C-9E74-4F9D-8092-7DE9C0BCC294}"/>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optimizer: An optimizer selects the best allowed assignment across options while respecting constraints such as fairness and detour limits.  •  lease: A lease is a time-limited reservation that grants one worker temporary ownership of a resource.</a:t>
            </a:r>
          </a:p>
        </p:txBody>
      </p:sp>
    </p:spTree>
    <p:extLst>
      <p:ext uri="{BB962C8B-B14F-4D97-AF65-F5344CB8AC3E}">
        <p14:creationId xmlns:p14="http://schemas.microsoft.com/office/powerpoint/2010/main" val="654248228"/>
      </p:ext>
    </p:extLst>
  </p:cSld>
</p:sld>
</file>

<file path=ppt/slides/slide20.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D2F10E6-1EA8-4AF0-A516-0F11C236725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7E1039CB-E050-4846-9ADD-A1FA6C555A08}"/>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20  •  DISPATCH</a:t>
            </a:r>
          </a:p>
        </p:txBody>
      </p:sp>
      <p:sp>
        <p:nvSpPr>
          <p:cNvPr id="3" name="">
            <a:extLst xmlns:a="http://schemas.openxmlformats.org/drawingml/2006/main">
              <a:ext uri="{FF2B5EF4-FFF2-40B4-BE49-F238E27FC236}">
                <a16:creationId xmlns:a16="http://schemas.microsoft.com/office/drawing/2014/main" id="{E2A6BA5F-D925-4967-9C59-9EDC73D32FFD}"/>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Prediction Checkpoint</a:t>
            </a:r>
          </a:p>
        </p:txBody>
      </p:sp>
      <p:sp>
        <p:nvSpPr>
          <p:cNvPr id="4" name="">
            <a:extLst xmlns:a="http://schemas.openxmlformats.org/drawingml/2006/main">
              <a:ext uri="{FF2B5EF4-FFF2-40B4-BE49-F238E27FC236}">
                <a16:creationId xmlns:a16="http://schemas.microsoft.com/office/drawing/2014/main" id="{02EE524C-95F5-4ECC-9B24-84865BD45E14}"/>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3F487735-C740-4719-A567-E5852BA24FC1}"/>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C262FBE8-A21D-416E-9330-38AA730D46DD}"/>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20 / 25</a:t>
            </a:r>
          </a:p>
        </p:txBody>
      </p:sp>
      <p:sp>
        <p:nvSpPr>
          <p:cNvPr id="7" name="">
            <a:extLst xmlns:a="http://schemas.openxmlformats.org/drawingml/2006/main">
              <a:ext uri="{FF2B5EF4-FFF2-40B4-BE49-F238E27FC236}">
                <a16:creationId xmlns:a16="http://schemas.microsoft.com/office/drawing/2014/main" id="{353EC87D-8DAE-4F96-8899-BCAE4D8D4A7B}"/>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Map search → hard rules → score → assign → reserve → offer.</a:t>
            </a:r>
          </a:p>
        </p:txBody>
      </p:sp>
      <p:sp>
        <p:nvSpPr>
          <p:cNvPr id="8" name="">
            <a:extLst xmlns:a="http://schemas.openxmlformats.org/drawingml/2006/main">
              <a:ext uri="{FF2B5EF4-FFF2-40B4-BE49-F238E27FC236}">
                <a16:creationId xmlns:a16="http://schemas.microsoft.com/office/drawing/2014/main" id="{B2588B15-30AC-487C-B0E1-77E337F91481}"/>
              </a:ext>
            </a:extLst>
          </p:cNvPr>
          <p:cNvSpPr>
            <a:spLocks xmlns:a="http://schemas.openxmlformats.org/drawingml/2006/main" noGrp="1"/>
          </p:cNvSpPr>
          <p:nvPr/>
        </p:nvSpPr>
        <p:spPr>
          <a:xfrm xmlns:a="http://schemas.openxmlformats.org/drawingml/2006/main">
            <a:off x="714375" y="2952750"/>
            <a:ext cx="1285875" cy="742950"/>
          </a:xfrm>
          <a:prstGeom xmlns:a="http://schemas.openxmlformats.org/drawingml/2006/main" prst="roundRect">
            <a:avLst>
              <a:gd name="adj" fmla="val 20513"/>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Map</a:t>
            </a:r>
          </a:p>
          <a:p xmlns:a="http://schemas.openxmlformats.org/drawingml/2006/main">
            <a:pPr algn="ctr">
              <a:defRPr sz="1575" b="1">
                <a:solidFill>
                  <a:srgbClr val="F8FAFC"/>
                </a:solidFill>
              </a:defRPr>
            </a:pPr>
            <a:r>
              <a:rPr sz="1575" b="1">
                <a:solidFill>
                  <a:srgbClr val="F8FAFC"/>
                </a:solidFill>
              </a:rPr>
              <a:t>search</a:t>
            </a:r>
          </a:p>
        </p:txBody>
      </p:sp>
      <p:sp>
        <p:nvSpPr>
          <p:cNvPr id="9" name="">
            <a:extLst xmlns:a="http://schemas.openxmlformats.org/drawingml/2006/main">
              <a:ext uri="{FF2B5EF4-FFF2-40B4-BE49-F238E27FC236}">
                <a16:creationId xmlns:a16="http://schemas.microsoft.com/office/drawing/2014/main" id="{2D30F351-F0A9-4C6F-82EC-D3AFBEF2AEC9}"/>
              </a:ext>
            </a:extLst>
          </p:cNvPr>
          <p:cNvSpPr>
            <a:spLocks xmlns:a="http://schemas.openxmlformats.org/drawingml/2006/main" noGrp="1"/>
          </p:cNvSpPr>
          <p:nvPr/>
        </p:nvSpPr>
        <p:spPr>
          <a:xfrm xmlns:a="http://schemas.openxmlformats.org/drawingml/2006/main">
            <a:off x="2524125" y="2952750"/>
            <a:ext cx="1285875" cy="742950"/>
          </a:xfrm>
          <a:prstGeom xmlns:a="http://schemas.openxmlformats.org/drawingml/2006/main" prst="roundRect">
            <a:avLst>
              <a:gd name="adj" fmla="val 20513"/>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Hard</a:t>
            </a:r>
          </a:p>
          <a:p xmlns:a="http://schemas.openxmlformats.org/drawingml/2006/main">
            <a:pPr algn="ctr">
              <a:defRPr sz="1575" b="1">
                <a:solidFill>
                  <a:srgbClr val="F8FAFC"/>
                </a:solidFill>
              </a:defRPr>
            </a:pPr>
            <a:r>
              <a:rPr sz="1575" b="1">
                <a:solidFill>
                  <a:srgbClr val="F8FAFC"/>
                </a:solidFill>
              </a:rPr>
              <a:t>rules</a:t>
            </a:r>
          </a:p>
        </p:txBody>
      </p:sp>
      <p:sp>
        <p:nvSpPr>
          <p:cNvPr id="10" name="">
            <a:extLst xmlns:a="http://schemas.openxmlformats.org/drawingml/2006/main">
              <a:ext uri="{FF2B5EF4-FFF2-40B4-BE49-F238E27FC236}">
                <a16:creationId xmlns:a16="http://schemas.microsoft.com/office/drawing/2014/main" id="{34DF0891-ECE5-410E-8FCA-5B0BBAF10F4A}"/>
              </a:ext>
            </a:extLst>
          </p:cNvPr>
          <p:cNvSpPr>
            <a:spLocks xmlns:a="http://schemas.openxmlformats.org/drawingml/2006/main" noGrp="1"/>
          </p:cNvSpPr>
          <p:nvPr/>
        </p:nvSpPr>
        <p:spPr>
          <a:xfrm xmlns:a="http://schemas.openxmlformats.org/drawingml/2006/main">
            <a:off x="4333875" y="2952750"/>
            <a:ext cx="1285875" cy="742950"/>
          </a:xfrm>
          <a:prstGeom xmlns:a="http://schemas.openxmlformats.org/drawingml/2006/main" prst="roundRect">
            <a:avLst>
              <a:gd name="adj" fmla="val 20513"/>
            </a:avLst>
          </a:prstGeom>
          <a:solidFill xmlns:a="http://schemas.openxmlformats.org/drawingml/2006/main">
            <a:srgbClr val="0B2942"/>
          </a:solidFill>
          <a:ln xmlns:a="http://schemas.openxmlformats.org/drawingml/2006/main" w="14288">
            <a:solidFill>
              <a:srgbClr val="FBBF24"/>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Score</a:t>
            </a:r>
          </a:p>
        </p:txBody>
      </p:sp>
      <p:sp>
        <p:nvSpPr>
          <p:cNvPr id="11" name="">
            <a:extLst xmlns:a="http://schemas.openxmlformats.org/drawingml/2006/main">
              <a:ext uri="{FF2B5EF4-FFF2-40B4-BE49-F238E27FC236}">
                <a16:creationId xmlns:a16="http://schemas.microsoft.com/office/drawing/2014/main" id="{B9991866-7CFC-4E63-A111-B6D0682D43E4}"/>
              </a:ext>
            </a:extLst>
          </p:cNvPr>
          <p:cNvSpPr>
            <a:spLocks xmlns:a="http://schemas.openxmlformats.org/drawingml/2006/main" noGrp="1"/>
          </p:cNvSpPr>
          <p:nvPr/>
        </p:nvSpPr>
        <p:spPr>
          <a:xfrm xmlns:a="http://schemas.openxmlformats.org/drawingml/2006/main">
            <a:off x="6143625" y="2952750"/>
            <a:ext cx="1285875" cy="742950"/>
          </a:xfrm>
          <a:prstGeom xmlns:a="http://schemas.openxmlformats.org/drawingml/2006/main" prst="roundRect">
            <a:avLst>
              <a:gd name="adj" fmla="val 20513"/>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Assign</a:t>
            </a:r>
          </a:p>
        </p:txBody>
      </p:sp>
      <p:sp>
        <p:nvSpPr>
          <p:cNvPr id="12" name="">
            <a:extLst xmlns:a="http://schemas.openxmlformats.org/drawingml/2006/main">
              <a:ext uri="{FF2B5EF4-FFF2-40B4-BE49-F238E27FC236}">
                <a16:creationId xmlns:a16="http://schemas.microsoft.com/office/drawing/2014/main" id="{3A5A2226-7329-4EAC-9BE0-2EB1F9B84B72}"/>
              </a:ext>
            </a:extLst>
          </p:cNvPr>
          <p:cNvSpPr>
            <a:spLocks xmlns:a="http://schemas.openxmlformats.org/drawingml/2006/main" noGrp="1"/>
          </p:cNvSpPr>
          <p:nvPr/>
        </p:nvSpPr>
        <p:spPr>
          <a:xfrm xmlns:a="http://schemas.openxmlformats.org/drawingml/2006/main">
            <a:off x="7953375" y="2952750"/>
            <a:ext cx="1285875" cy="742950"/>
          </a:xfrm>
          <a:prstGeom xmlns:a="http://schemas.openxmlformats.org/drawingml/2006/main" prst="roundRect">
            <a:avLst>
              <a:gd name="adj" fmla="val 20513"/>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Reserve</a:t>
            </a:r>
          </a:p>
        </p:txBody>
      </p:sp>
      <p:sp>
        <p:nvSpPr>
          <p:cNvPr id="13" name="">
            <a:extLst xmlns:a="http://schemas.openxmlformats.org/drawingml/2006/main">
              <a:ext uri="{FF2B5EF4-FFF2-40B4-BE49-F238E27FC236}">
                <a16:creationId xmlns:a16="http://schemas.microsoft.com/office/drawing/2014/main" id="{F02E1E1B-2619-4219-89B8-589E91541381}"/>
              </a:ext>
            </a:extLst>
          </p:cNvPr>
          <p:cNvSpPr>
            <a:spLocks xmlns:a="http://schemas.openxmlformats.org/drawingml/2006/main" noGrp="1"/>
          </p:cNvSpPr>
          <p:nvPr/>
        </p:nvSpPr>
        <p:spPr>
          <a:xfrm xmlns:a="http://schemas.openxmlformats.org/drawingml/2006/main">
            <a:off x="9763125" y="2952750"/>
            <a:ext cx="1285875" cy="742950"/>
          </a:xfrm>
          <a:prstGeom xmlns:a="http://schemas.openxmlformats.org/drawingml/2006/main" prst="roundRect">
            <a:avLst>
              <a:gd name="adj" fmla="val 20513"/>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Offer</a:t>
            </a:r>
          </a:p>
        </p:txBody>
      </p:sp>
      <p:sp>
        <p:nvSpPr>
          <p:cNvPr id="14" name="">
            <a:extLst xmlns:a="http://schemas.openxmlformats.org/drawingml/2006/main">
              <a:ext uri="{FF2B5EF4-FFF2-40B4-BE49-F238E27FC236}">
                <a16:creationId xmlns:a16="http://schemas.microsoft.com/office/drawing/2014/main" id="{5B647579-A779-4E8E-9771-9267B8FA73A8}"/>
              </a:ext>
            </a:extLst>
          </p:cNvPr>
          <p:cNvSpPr>
            <a:spLocks xmlns:a="http://schemas.openxmlformats.org/drawingml/2006/main" noGrp="1"/>
          </p:cNvSpPr>
          <p:nvPr/>
        </p:nvSpPr>
        <p:spPr>
          <a:xfrm xmlns:a="http://schemas.openxmlformats.org/drawingml/2006/main">
            <a:off x="2381250" y="2190750"/>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700" b="1">
                <a:solidFill>
                  <a:srgbClr val="34D399"/>
                </a:solidFill>
              </a:defRPr>
            </a:pPr>
            <a:r>
              <a:rPr sz="2700" b="1">
                <a:solidFill>
                  <a:srgbClr val="34D399"/>
                </a:solidFill>
              </a:rPr>
              <a:t>A slow model must stop nowhere.</a:t>
            </a:r>
          </a:p>
        </p:txBody>
      </p:sp>
      <p:sp>
        <p:nvSpPr>
          <p:cNvPr id="15" name="">
            <a:extLst xmlns:a="http://schemas.openxmlformats.org/drawingml/2006/main">
              <a:ext uri="{FF2B5EF4-FFF2-40B4-BE49-F238E27FC236}">
                <a16:creationId xmlns:a16="http://schemas.microsoft.com/office/drawing/2014/main" id="{93A789C6-80A4-4A91-B2E7-ED696A2EE942}"/>
              </a:ext>
            </a:extLst>
          </p:cNvPr>
          <p:cNvSpPr>
            <a:spLocks xmlns:a="http://schemas.openxmlformats.org/drawingml/2006/main" noGrp="1"/>
          </p:cNvSpPr>
          <p:nvPr/>
        </p:nvSpPr>
        <p:spPr>
          <a:xfrm xmlns:a="http://schemas.openxmlformats.org/drawingml/2006/main">
            <a:off x="8191500" y="1809750"/>
            <a:ext cx="3095625" cy="819150"/>
          </a:xfrm>
          <a:prstGeom xmlns:a="http://schemas.openxmlformats.org/drawingml/2006/main" prst="roundRect">
            <a:avLst>
              <a:gd name="adj" fmla="val 18605"/>
            </a:avLst>
          </a:prstGeom>
          <a:solidFill xmlns:a="http://schemas.openxmlformats.org/drawingml/2006/main">
            <a:srgbClr val="163047"/>
          </a:solidFill>
          <a:ln xmlns:a="http://schemas.openxmlformats.org/drawingml/2006/main" w="14288">
            <a:solidFill>
              <a:srgbClr val="FBBF24"/>
            </a:solidFill>
            <a:prstDash val="solid"/>
          </a:ln>
        </p:spPr>
      </p:sp>
      <p:sp>
        <p:nvSpPr>
          <p:cNvPr id="16" name="">
            <a:extLst xmlns:a="http://schemas.openxmlformats.org/drawingml/2006/main">
              <a:ext uri="{FF2B5EF4-FFF2-40B4-BE49-F238E27FC236}">
                <a16:creationId xmlns:a16="http://schemas.microsoft.com/office/drawing/2014/main" id="{2FDF0661-477A-4318-81E3-580646375564}"/>
              </a:ext>
            </a:extLst>
          </p:cNvPr>
          <p:cNvSpPr>
            <a:spLocks xmlns:a="http://schemas.openxmlformats.org/drawingml/2006/main" noGrp="1"/>
          </p:cNvSpPr>
          <p:nvPr/>
        </p:nvSpPr>
        <p:spPr>
          <a:xfrm xmlns:a="http://schemas.openxmlformats.org/drawingml/2006/main">
            <a:off x="8401050" y="1952625"/>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BBF24"/>
                </a:solidFill>
              </a:defRPr>
            </a:pPr>
            <a:r>
              <a:rPr sz="1125" b="1">
                <a:solidFill>
                  <a:srgbClr val="FBBF24"/>
                </a:solidFill>
              </a:rPr>
              <a:t>PAUSE &amp; PREDICT</a:t>
            </a:r>
          </a:p>
        </p:txBody>
      </p:sp>
      <p:sp>
        <p:nvSpPr>
          <p:cNvPr id="17" name="">
            <a:extLst xmlns:a="http://schemas.openxmlformats.org/drawingml/2006/main">
              <a:ext uri="{FF2B5EF4-FFF2-40B4-BE49-F238E27FC236}">
                <a16:creationId xmlns:a16="http://schemas.microsoft.com/office/drawing/2014/main" id="{E65E1F63-E213-44B5-9A64-77C9C4B8C84D}"/>
              </a:ext>
            </a:extLst>
          </p:cNvPr>
          <p:cNvSpPr>
            <a:spLocks xmlns:a="http://schemas.openxmlformats.org/drawingml/2006/main" noGrp="1"/>
          </p:cNvSpPr>
          <p:nvPr/>
        </p:nvSpPr>
        <p:spPr>
          <a:xfrm xmlns:a="http://schemas.openxmlformats.org/drawingml/2006/main">
            <a:off x="8401050" y="2209800"/>
            <a:ext cx="2619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8FAFC"/>
                </a:solidFill>
              </a:defRPr>
            </a:pPr>
            <a:r>
              <a:rPr sz="1350" b="1">
                <a:solidFill>
                  <a:srgbClr val="F8FAFC"/>
                </a:solidFill>
              </a:rPr>
              <a:t>What takes over when model confidence is low?</a:t>
            </a:r>
          </a:p>
        </p:txBody>
      </p:sp>
      <p:sp>
        <p:nvSpPr>
          <p:cNvPr id="18" name="">
            <a:extLst xmlns:a="http://schemas.openxmlformats.org/drawingml/2006/main">
              <a:ext uri="{FF2B5EF4-FFF2-40B4-BE49-F238E27FC236}">
                <a16:creationId xmlns:a16="http://schemas.microsoft.com/office/drawing/2014/main" id="{EA7AC4D4-CF7A-4731-8E1B-B2207F5FF3E5}"/>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9" name="">
            <a:extLst xmlns:a="http://schemas.openxmlformats.org/drawingml/2006/main">
              <a:ext uri="{FF2B5EF4-FFF2-40B4-BE49-F238E27FC236}">
                <a16:creationId xmlns:a16="http://schemas.microsoft.com/office/drawing/2014/main" id="{371884B4-415D-48CD-9268-4BCD66D17139}"/>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deterministic fallback: A deterministic fallback is a fixed safe path used when a model is slow, unavailable, low-confidence, or disallowed.</a:t>
            </a:r>
          </a:p>
        </p:txBody>
      </p:sp>
    </p:spTree>
    <p:extLst>
      <p:ext uri="{BB962C8B-B14F-4D97-AF65-F5344CB8AC3E}">
        <p14:creationId xmlns:p14="http://schemas.microsoft.com/office/powerpoint/2010/main" val="1767478372"/>
      </p:ext>
    </p:extLst>
  </p:cSld>
</p:sld>
</file>

<file path=ppt/slides/slide21.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016EA3B-7BB3-40BA-BA93-99F1C4C9CCD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55ED8268-DC49-4B6E-9926-99D466B0FE81}"/>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21  •  SEQUENCE</a:t>
            </a:r>
          </a:p>
        </p:txBody>
      </p:sp>
      <p:sp>
        <p:nvSpPr>
          <p:cNvPr id="3" name="">
            <a:extLst xmlns:a="http://schemas.openxmlformats.org/drawingml/2006/main">
              <a:ext uri="{FF2B5EF4-FFF2-40B4-BE49-F238E27FC236}">
                <a16:creationId xmlns:a16="http://schemas.microsoft.com/office/drawing/2014/main" id="{5429CDC8-9E87-4829-A9F6-80DD65CAF970}"/>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One Ride Request, End to End</a:t>
            </a:r>
          </a:p>
        </p:txBody>
      </p:sp>
      <p:sp>
        <p:nvSpPr>
          <p:cNvPr id="4" name="">
            <a:extLst xmlns:a="http://schemas.openxmlformats.org/drawingml/2006/main">
              <a:ext uri="{FF2B5EF4-FFF2-40B4-BE49-F238E27FC236}">
                <a16:creationId xmlns:a16="http://schemas.microsoft.com/office/drawing/2014/main" id="{C8D208DD-108B-43E6-9DA4-E2AD3208C977}"/>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8FBF241E-F268-43F4-81EC-492D0513D08C}"/>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A70C77F6-D217-4A27-86A5-C50353D978C5}"/>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21 / 25</a:t>
            </a:r>
          </a:p>
        </p:txBody>
      </p:sp>
      <p:sp>
        <p:nvSpPr>
          <p:cNvPr id="7" name="">
            <a:extLst xmlns:a="http://schemas.openxmlformats.org/drawingml/2006/main">
              <a:ext uri="{FF2B5EF4-FFF2-40B4-BE49-F238E27FC236}">
                <a16:creationId xmlns:a16="http://schemas.microsoft.com/office/drawing/2014/main" id="{2C98CC7D-3A8D-40A0-BABC-ACC6AD5AB5C3}"/>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Request → match → offer → accept → confirm → show rider the driver and ETA.</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95ca0e44d704b0b">
            <a:extLst>
              <a:ext uri="{96DAC541-7B7A-43D3-8B79-37D633B846F1}">
                <asvg:svgBlip xmlns:asvg="http://schemas.microsoft.com/office/drawing/2016/SVG/main" r:embed="Rcada3aabaf524379"/>
              </a:ext>
            </a:extLst>
          </a:blip>
          <a:stretch xmlns:a="http://schemas.openxmlformats.org/drawingml/2006/main"/>
        </p:blipFill>
        <p:spPr>
          <a:xfrm xmlns:a="http://schemas.openxmlformats.org/drawingml/2006/main">
            <a:off x="733425" y="1809750"/>
            <a:ext cx="10668000" cy="4000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79ADD72-19CD-4623-B9C0-13068D0C1324}"/>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0" name="">
            <a:extLst xmlns:a="http://schemas.openxmlformats.org/drawingml/2006/main">
              <a:ext uri="{FF2B5EF4-FFF2-40B4-BE49-F238E27FC236}">
                <a16:creationId xmlns:a16="http://schemas.microsoft.com/office/drawing/2014/main" id="{0A3B4E95-5F85-436F-A611-5CA165AEC907}"/>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idempotency: Idempotency means repeating the same command has the same effect as performing it once.</a:t>
            </a:r>
          </a:p>
        </p:txBody>
      </p:sp>
    </p:spTree>
    <p:extLst>
      <p:ext uri="{BB962C8B-B14F-4D97-AF65-F5344CB8AC3E}">
        <p14:creationId xmlns:p14="http://schemas.microsoft.com/office/powerpoint/2010/main" val="1877185855"/>
      </p:ext>
    </p:extLst>
  </p:cSld>
</p:sld>
</file>

<file path=ppt/slides/slide22.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55F7D13-13A6-4882-985A-5566C5D74FE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F0B7ED39-8D5E-4EA5-9EF1-B0DEDE8C7855}"/>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22  •  PRODUCTION</a:t>
            </a:r>
          </a:p>
        </p:txBody>
      </p:sp>
      <p:sp>
        <p:nvSpPr>
          <p:cNvPr id="3" name="">
            <a:extLst xmlns:a="http://schemas.openxmlformats.org/drawingml/2006/main">
              <a:ext uri="{FF2B5EF4-FFF2-40B4-BE49-F238E27FC236}">
                <a16:creationId xmlns:a16="http://schemas.microsoft.com/office/drawing/2014/main" id="{207A7CFF-FA2A-428F-B558-A2FA952FAF5A}"/>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When Demand or Dependencies Misbehave</a:t>
            </a:r>
          </a:p>
        </p:txBody>
      </p:sp>
      <p:sp>
        <p:nvSpPr>
          <p:cNvPr id="4" name="">
            <a:extLst xmlns:a="http://schemas.openxmlformats.org/drawingml/2006/main">
              <a:ext uri="{FF2B5EF4-FFF2-40B4-BE49-F238E27FC236}">
                <a16:creationId xmlns:a16="http://schemas.microsoft.com/office/drawing/2014/main" id="{DEE73826-E599-441A-8A6A-BB38A892E415}"/>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2031D1E3-6006-48F3-B524-F42C2F282317}"/>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617F6007-A6EA-4B4E-87A4-FEC9D7267FAA}"/>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22 / 25</a:t>
            </a:r>
          </a:p>
        </p:txBody>
      </p:sp>
      <p:sp>
        <p:nvSpPr>
          <p:cNvPr id="7" name="">
            <a:extLst xmlns:a="http://schemas.openxmlformats.org/drawingml/2006/main">
              <a:ext uri="{FF2B5EF4-FFF2-40B4-BE49-F238E27FC236}">
                <a16:creationId xmlns:a16="http://schemas.microsoft.com/office/drawing/2014/main" id="{C3ED1837-8E2D-4FED-89FB-7AF6A0D5DBCD}"/>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Slow location sampling before rejecting ride commands; isolate a failing dependency quickly.</a:t>
            </a:r>
          </a:p>
        </p:txBody>
      </p:sp>
      <p:sp>
        <p:nvSpPr>
          <p:cNvPr id="8" name="">
            <a:extLst xmlns:a="http://schemas.openxmlformats.org/drawingml/2006/main">
              <a:ext uri="{FF2B5EF4-FFF2-40B4-BE49-F238E27FC236}">
                <a16:creationId xmlns:a16="http://schemas.microsoft.com/office/drawing/2014/main" id="{A904C57E-7412-4DA2-BD23-B6E2D5992827}"/>
              </a:ext>
            </a:extLst>
          </p:cNvPr>
          <p:cNvSpPr>
            <a:spLocks xmlns:a="http://schemas.openxmlformats.org/drawingml/2006/main" noGrp="1"/>
          </p:cNvSpPr>
          <p:nvPr/>
        </p:nvSpPr>
        <p:spPr>
          <a:xfrm xmlns:a="http://schemas.openxmlformats.org/drawingml/2006/main">
            <a:off x="1238250" y="2619375"/>
            <a:ext cx="2190750" cy="952500"/>
          </a:xfrm>
          <a:prstGeom xmlns:a="http://schemas.openxmlformats.org/drawingml/2006/main" prst="roundRect">
            <a:avLst>
              <a:gd name="adj" fmla="val 16000"/>
            </a:avLst>
          </a:prstGeom>
          <a:solidFill xmlns:a="http://schemas.openxmlformats.org/drawingml/2006/main">
            <a:srgbClr val="0B2942"/>
          </a:solidFill>
          <a:ln xmlns:a="http://schemas.openxmlformats.org/drawingml/2006/main" w="14288">
            <a:solidFill>
              <a:srgbClr val="FB7185"/>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Location surge</a:t>
            </a:r>
          </a:p>
          <a:p xmlns:a="http://schemas.openxmlformats.org/drawingml/2006/main">
            <a:pPr algn="ctr">
              <a:defRPr sz="1350" b="1">
                <a:solidFill>
                  <a:srgbClr val="F8FAFC"/>
                </a:solidFill>
              </a:defRPr>
            </a:pPr>
            <a:r>
              <a:rPr sz="1350" b="1">
                <a:solidFill>
                  <a:srgbClr val="F8FAFC"/>
                </a:solidFill>
              </a:rPr>
              <a:t>250K events / sec</a:t>
            </a:r>
          </a:p>
        </p:txBody>
      </p:sp>
      <p:sp>
        <p:nvSpPr>
          <p:cNvPr id="9" name="">
            <a:extLst xmlns:a="http://schemas.openxmlformats.org/drawingml/2006/main">
              <a:ext uri="{FF2B5EF4-FFF2-40B4-BE49-F238E27FC236}">
                <a16:creationId xmlns:a16="http://schemas.microsoft.com/office/drawing/2014/main" id="{E149D1F0-930B-43D8-9DEC-1E18731B1BB2}"/>
              </a:ext>
            </a:extLst>
          </p:cNvPr>
          <p:cNvSpPr>
            <a:spLocks xmlns:a="http://schemas.openxmlformats.org/drawingml/2006/main" noGrp="1"/>
          </p:cNvSpPr>
          <p:nvPr/>
        </p:nvSpPr>
        <p:spPr>
          <a:xfrm xmlns:a="http://schemas.openxmlformats.org/drawingml/2006/main">
            <a:off x="5000625" y="2619375"/>
            <a:ext cx="2190750" cy="952500"/>
          </a:xfrm>
          <a:prstGeom xmlns:a="http://schemas.openxmlformats.org/drawingml/2006/main" prst="roundRect">
            <a:avLst>
              <a:gd name="adj" fmla="val 16000"/>
            </a:avLst>
          </a:prstGeom>
          <a:solidFill xmlns:a="http://schemas.openxmlformats.org/drawingml/2006/main">
            <a:srgbClr val="0B2942"/>
          </a:solidFill>
          <a:ln xmlns:a="http://schemas.openxmlformats.org/drawingml/2006/main" w="14288">
            <a:solidFill>
              <a:srgbClr val="FBBF24"/>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Backpressure</a:t>
            </a:r>
          </a:p>
          <a:p xmlns:a="http://schemas.openxmlformats.org/drawingml/2006/main">
            <a:pPr algn="ctr">
              <a:defRPr sz="1350" b="1">
                <a:solidFill>
                  <a:srgbClr val="F8FAFC"/>
                </a:solidFill>
              </a:defRPr>
            </a:pPr>
            <a:r>
              <a:rPr sz="1350" b="1">
                <a:solidFill>
                  <a:srgbClr val="F8FAFC"/>
                </a:solidFill>
              </a:rPr>
              <a:t>coalesce + slow noncritical work</a:t>
            </a:r>
          </a:p>
        </p:txBody>
      </p:sp>
      <p:sp>
        <p:nvSpPr>
          <p:cNvPr id="10" name="">
            <a:extLst xmlns:a="http://schemas.openxmlformats.org/drawingml/2006/main">
              <a:ext uri="{FF2B5EF4-FFF2-40B4-BE49-F238E27FC236}">
                <a16:creationId xmlns:a16="http://schemas.microsoft.com/office/drawing/2014/main" id="{5FD93D77-0822-406A-97EA-56E0CE2B0C6D}"/>
              </a:ext>
            </a:extLst>
          </p:cNvPr>
          <p:cNvSpPr>
            <a:spLocks xmlns:a="http://schemas.openxmlformats.org/drawingml/2006/main" noGrp="1"/>
          </p:cNvSpPr>
          <p:nvPr/>
        </p:nvSpPr>
        <p:spPr>
          <a:xfrm xmlns:a="http://schemas.openxmlformats.org/drawingml/2006/main">
            <a:off x="8763000" y="2619375"/>
            <a:ext cx="2190750" cy="952500"/>
          </a:xfrm>
          <a:prstGeom xmlns:a="http://schemas.openxmlformats.org/drawingml/2006/main" prst="roundRect">
            <a:avLst>
              <a:gd name="adj" fmla="val 16000"/>
            </a:avLst>
          </a:prstGeom>
          <a:solidFill xmlns:a="http://schemas.openxmlformats.org/drawingml/2006/main">
            <a:srgbClr val="0B2942"/>
          </a:solidFill>
          <a:ln xmlns:a="http://schemas.openxmlformats.org/drawingml/2006/main" w="14288">
            <a:solidFill>
              <a:srgbClr val="34D399"/>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Keep trip commands</a:t>
            </a:r>
          </a:p>
          <a:p xmlns:a="http://schemas.openxmlformats.org/drawingml/2006/main">
            <a:pPr algn="ctr">
              <a:defRPr sz="1350" b="1">
                <a:solidFill>
                  <a:srgbClr val="F8FAFC"/>
                </a:solidFill>
              </a:defRPr>
            </a:pPr>
            <a:r>
              <a:rPr sz="1350" b="1">
                <a:solidFill>
                  <a:srgbClr val="F8FAFC"/>
                </a:solidFill>
              </a:rPr>
              <a:t>serve the critical path</a:t>
            </a:r>
          </a:p>
        </p:txBody>
      </p:sp>
      <p:cxnSp>
        <p:nvCxnSpPr>
          <p:cNvPr id="26" name=""/>
          <p:cNvCxnSpPr>
            <a:stCxn xmlns:a="http://schemas.openxmlformats.org/drawingml/2006/main" id="8" idx="3"/>
            <a:endCxn xmlns:a="http://schemas.openxmlformats.org/drawingml/2006/main" id="9" idx="1"/>
          </p:cNvCxnSpPr>
          <p:nvPr/>
        </p:nvCxnSpPr>
        <p:spPr>
          <a:xfrm xmlns:a="http://schemas.openxmlformats.org/drawingml/2006/main">
            <a:off x="3429000" y="3095625"/>
            <a:ext cx="1571625" cy="0"/>
          </a:xfrm>
          <a:prstGeom xmlns:a="http://schemas.openxmlformats.org/drawingml/2006/main" prst="straightConnector1">
            <a:avLst/>
          </a:prstGeom>
          <a:ln xmlns:a="http://schemas.openxmlformats.org/drawingml/2006/main" w="23813">
            <a:solidFill>
              <a:srgbClr val="FBBF24"/>
            </a:solidFill>
            <a:prstDash val="solid"/>
            <a:headEnd type="triangle" w="sm" len="sm"/>
          </a:ln>
        </p:spPr>
      </p:cxnSp>
      <p:cxnSp>
        <p:nvCxnSpPr>
          <p:cNvPr id="27" name=""/>
          <p:cNvCxnSpPr>
            <a:stCxn xmlns:a="http://schemas.openxmlformats.org/drawingml/2006/main" id="9" idx="3"/>
            <a:endCxn xmlns:a="http://schemas.openxmlformats.org/drawingml/2006/main" id="10" idx="1"/>
          </p:cNvCxnSpPr>
          <p:nvPr/>
        </p:nvCxnSpPr>
        <p:spPr>
          <a:xfrm xmlns:a="http://schemas.openxmlformats.org/drawingml/2006/main">
            <a:off x="7191375" y="3095625"/>
            <a:ext cx="1571625" cy="0"/>
          </a:xfrm>
          <a:prstGeom xmlns:a="http://schemas.openxmlformats.org/drawingml/2006/main" prst="straightConnector1">
            <a:avLst/>
          </a:prstGeom>
          <a:ln xmlns:a="http://schemas.openxmlformats.org/drawingml/2006/main" w="23813">
            <a:solidFill>
              <a:srgbClr val="34D399"/>
            </a:solidFill>
            <a:prstDash val="solid"/>
            <a:headEnd type="triangle" w="sm" len="sm"/>
          </a:ln>
        </p:spPr>
      </p:cxnSp>
      <p:sp>
        <p:nvSpPr>
          <p:cNvPr id="13" name="">
            <a:extLst xmlns:a="http://schemas.openxmlformats.org/drawingml/2006/main">
              <a:ext uri="{FF2B5EF4-FFF2-40B4-BE49-F238E27FC236}">
                <a16:creationId xmlns:a16="http://schemas.microsoft.com/office/drawing/2014/main" id="{81B2B5B2-0E5C-4E67-A485-7D99B344D97D}"/>
              </a:ext>
            </a:extLst>
          </p:cNvPr>
          <p:cNvSpPr>
            <a:spLocks xmlns:a="http://schemas.openxmlformats.org/drawingml/2006/main" noGrp="1"/>
          </p:cNvSpPr>
          <p:nvPr/>
        </p:nvSpPr>
        <p:spPr>
          <a:xfrm xmlns:a="http://schemas.openxmlformats.org/drawingml/2006/main">
            <a:off x="1476375" y="4429125"/>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0">
                <a:solidFill>
                  <a:srgbClr val="A8C7D9"/>
                </a:solidFill>
              </a:defRPr>
            </a:pPr>
            <a:r>
              <a:rPr sz="1875" b="0">
                <a:solidFill>
                  <a:srgbClr val="A8C7D9"/>
                </a:solidFill>
              </a:rPr>
              <a:t>Circuit breakers stop a failing dependency from spreading failure.</a:t>
            </a:r>
          </a:p>
        </p:txBody>
      </p:sp>
      <p:sp>
        <p:nvSpPr>
          <p:cNvPr id="14" name="">
            <a:extLst xmlns:a="http://schemas.openxmlformats.org/drawingml/2006/main">
              <a:ext uri="{FF2B5EF4-FFF2-40B4-BE49-F238E27FC236}">
                <a16:creationId xmlns:a16="http://schemas.microsoft.com/office/drawing/2014/main" id="{E1CC3EC1-6981-40EF-B70A-218CFFBAA4A2}"/>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5" name="">
            <a:extLst xmlns:a="http://schemas.openxmlformats.org/drawingml/2006/main">
              <a:ext uri="{FF2B5EF4-FFF2-40B4-BE49-F238E27FC236}">
                <a16:creationId xmlns:a16="http://schemas.microsoft.com/office/drawing/2014/main" id="{678E700B-2C47-4922-813F-949E11269A0B}"/>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backpressure: Backpressure is a controlled slowdown that keeps a fast producer from overwhelming a slower consumer.  •  circuit breaker: A circuit breaker temporarily blocks calls to an unhealthy dependency to prevent repeated failures from spreading.</a:t>
            </a:r>
          </a:p>
        </p:txBody>
      </p:sp>
    </p:spTree>
    <p:extLst>
      <p:ext uri="{BB962C8B-B14F-4D97-AF65-F5344CB8AC3E}">
        <p14:creationId xmlns:p14="http://schemas.microsoft.com/office/powerpoint/2010/main" val="217573908"/>
      </p:ext>
    </p:extLst>
  </p:cSld>
</p:sld>
</file>

<file path=ppt/slides/slide23.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02A86C9-3647-4F6F-A29B-A230E409AAE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773BFFB1-6C87-41E1-B69D-6F3377308EE9}"/>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23  •  PRODUCTION</a:t>
            </a:r>
          </a:p>
        </p:txBody>
      </p:sp>
      <p:sp>
        <p:nvSpPr>
          <p:cNvPr id="3" name="">
            <a:extLst xmlns:a="http://schemas.openxmlformats.org/drawingml/2006/main">
              <a:ext uri="{FF2B5EF4-FFF2-40B4-BE49-F238E27FC236}">
                <a16:creationId xmlns:a16="http://schemas.microsoft.com/office/drawing/2014/main" id="{CA5F0A6A-A6B6-48F1-AE3F-97B70CB0B174}"/>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Protect People Before Optimizing</a:t>
            </a:r>
          </a:p>
        </p:txBody>
      </p:sp>
      <p:sp>
        <p:nvSpPr>
          <p:cNvPr id="4" name="">
            <a:extLst xmlns:a="http://schemas.openxmlformats.org/drawingml/2006/main">
              <a:ext uri="{FF2B5EF4-FFF2-40B4-BE49-F238E27FC236}">
                <a16:creationId xmlns:a16="http://schemas.microsoft.com/office/drawing/2014/main" id="{62E7B6BE-BF71-4368-9D28-DDE6D840510A}"/>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2247C45F-6F85-4B78-99E5-5F575CE0F6B5}"/>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93D4A2A7-8B18-42D3-9A15-1071CFE472B2}"/>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23 / 25</a:t>
            </a:r>
          </a:p>
        </p:txBody>
      </p:sp>
      <p:sp>
        <p:nvSpPr>
          <p:cNvPr id="7" name="">
            <a:extLst xmlns:a="http://schemas.openxmlformats.org/drawingml/2006/main">
              <a:ext uri="{FF2B5EF4-FFF2-40B4-BE49-F238E27FC236}">
                <a16:creationId xmlns:a16="http://schemas.microsoft.com/office/drawing/2014/main" id="{82F8ED93-3CC3-4324-B17A-BDE95672A91A}"/>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Encrypt precise location, restrict access, minimize retention, and keep safety decisions auditable.</a:t>
            </a:r>
          </a:p>
        </p:txBody>
      </p:sp>
      <p:sp>
        <p:nvSpPr>
          <p:cNvPr id="8" name="">
            <a:extLst xmlns:a="http://schemas.openxmlformats.org/drawingml/2006/main">
              <a:ext uri="{FF2B5EF4-FFF2-40B4-BE49-F238E27FC236}">
                <a16:creationId xmlns:a16="http://schemas.microsoft.com/office/drawing/2014/main" id="{2A4E3FDB-8C4B-4434-AD47-DB0C14CBD859}"/>
              </a:ext>
            </a:extLst>
          </p:cNvPr>
          <p:cNvSpPr>
            <a:spLocks xmlns:a="http://schemas.openxmlformats.org/drawingml/2006/main" noGrp="1"/>
          </p:cNvSpPr>
          <p:nvPr/>
        </p:nvSpPr>
        <p:spPr>
          <a:xfrm xmlns:a="http://schemas.openxmlformats.org/drawingml/2006/main">
            <a:off x="4429125" y="2667000"/>
            <a:ext cx="3333750" cy="1047750"/>
          </a:xfrm>
          <a:prstGeom xmlns:a="http://schemas.openxmlformats.org/drawingml/2006/main" prst="roundRect">
            <a:avLst>
              <a:gd name="adj" fmla="val 14545"/>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F8FAFC"/>
                </a:solidFill>
              </a:defRPr>
            </a:pPr>
            <a:r>
              <a:rPr sz="1350" b="1">
                <a:solidFill>
                  <a:srgbClr val="F8FAFC"/>
                </a:solidFill>
              </a:rPr>
              <a:t>Precise location</a:t>
            </a:r>
          </a:p>
          <a:p xmlns:a="http://schemas.openxmlformats.org/drawingml/2006/main">
            <a:pPr algn="ctr">
              <a:defRPr sz="1350" b="1">
                <a:solidFill>
                  <a:srgbClr val="F8FAFC"/>
                </a:solidFill>
              </a:defRPr>
            </a:pPr>
            <a:r>
              <a:rPr sz="1350" b="1">
                <a:solidFill>
                  <a:srgbClr val="F8FAFC"/>
                </a:solidFill>
              </a:rPr>
              <a:t>encrypted • minimized • retained deliberately</a:t>
            </a:r>
          </a:p>
        </p:txBody>
      </p:sp>
      <p:sp>
        <p:nvSpPr>
          <p:cNvPr id="9" name="">
            <a:extLst xmlns:a="http://schemas.openxmlformats.org/drawingml/2006/main">
              <a:ext uri="{FF2B5EF4-FFF2-40B4-BE49-F238E27FC236}">
                <a16:creationId xmlns:a16="http://schemas.microsoft.com/office/drawing/2014/main" id="{C3CA1728-2299-4A1A-B9D1-35473C51D4A2}"/>
              </a:ext>
            </a:extLst>
          </p:cNvPr>
          <p:cNvSpPr>
            <a:spLocks xmlns:a="http://schemas.openxmlformats.org/drawingml/2006/main" noGrp="1"/>
          </p:cNvSpPr>
          <p:nvPr/>
        </p:nvSpPr>
        <p:spPr>
          <a:xfrm xmlns:a="http://schemas.openxmlformats.org/drawingml/2006/main">
            <a:off x="1143000" y="4429125"/>
            <a:ext cx="2571750" cy="647700"/>
          </a:xfrm>
          <a:prstGeom xmlns:a="http://schemas.openxmlformats.org/drawingml/2006/main" prst="roundRect">
            <a:avLst>
              <a:gd name="adj" fmla="val 23529"/>
            </a:avLst>
          </a:prstGeom>
          <a:solidFill xmlns:a="http://schemas.openxmlformats.org/drawingml/2006/main">
            <a:srgbClr val="0B2942"/>
          </a:solidFill>
          <a:ln xmlns:a="http://schemas.openxmlformats.org/drawingml/2006/main" w="14288">
            <a:solidFill>
              <a:srgbClr val="34D399"/>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Role-limited access</a:t>
            </a:r>
          </a:p>
        </p:txBody>
      </p:sp>
      <p:cxnSp>
        <p:nvCxnSpPr>
          <p:cNvPr id="27" name=""/>
          <p:cNvCxnSpPr>
            <a:stCxn xmlns:a="http://schemas.openxmlformats.org/drawingml/2006/main" id="8" idx="2"/>
            <a:endCxn xmlns:a="http://schemas.openxmlformats.org/drawingml/2006/main" id="9" idx="0"/>
          </p:cNvCxnSpPr>
          <p:nvPr/>
        </p:nvCxnSpPr>
        <p:spPr>
          <a:xfrm xmlns:a="http://schemas.openxmlformats.org/drawingml/2006/main" flipH="1">
            <a:off x="2428875" y="3714750"/>
            <a:ext cx="3667125" cy="714375"/>
          </a:xfrm>
          <a:prstGeom xmlns:a="http://schemas.openxmlformats.org/drawingml/2006/main" prst="bentConnector4">
            <a:avLst>
              <a:gd name="adj1" fmla="val 0"/>
              <a:gd name="adj2" fmla="val 50000"/>
            </a:avLst>
          </a:prstGeom>
          <a:ln xmlns:a="http://schemas.openxmlformats.org/drawingml/2006/main" w="23813">
            <a:solidFill>
              <a:srgbClr val="1E4A66"/>
            </a:solidFill>
            <a:prstDash val="dash"/>
            <a:headEnd type="triangle" w="sm" len="sm"/>
          </a:ln>
        </p:spPr>
      </p:cxnSp>
      <p:sp>
        <p:nvSpPr>
          <p:cNvPr id="11" name="">
            <a:extLst xmlns:a="http://schemas.openxmlformats.org/drawingml/2006/main">
              <a:ext uri="{FF2B5EF4-FFF2-40B4-BE49-F238E27FC236}">
                <a16:creationId xmlns:a16="http://schemas.microsoft.com/office/drawing/2014/main" id="{EFC2A79A-955A-43B8-B17B-F3902E4E99B8}"/>
              </a:ext>
            </a:extLst>
          </p:cNvPr>
          <p:cNvSpPr>
            <a:spLocks xmlns:a="http://schemas.openxmlformats.org/drawingml/2006/main" noGrp="1"/>
          </p:cNvSpPr>
          <p:nvPr/>
        </p:nvSpPr>
        <p:spPr>
          <a:xfrm xmlns:a="http://schemas.openxmlformats.org/drawingml/2006/main">
            <a:off x="4857750" y="4429125"/>
            <a:ext cx="2571750" cy="647700"/>
          </a:xfrm>
          <a:prstGeom xmlns:a="http://schemas.openxmlformats.org/drawingml/2006/main" prst="roundRect">
            <a:avLst>
              <a:gd name="adj" fmla="val 23529"/>
            </a:avLst>
          </a:prstGeom>
          <a:solidFill xmlns:a="http://schemas.openxmlformats.org/drawingml/2006/main">
            <a:srgbClr val="0B2942"/>
          </a:solidFill>
          <a:ln xmlns:a="http://schemas.openxmlformats.org/drawingml/2006/main" w="14288">
            <a:solidFill>
              <a:srgbClr val="FBBF24"/>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Tokenized payments</a:t>
            </a:r>
          </a:p>
        </p:txBody>
      </p:sp>
      <p:cxnSp>
        <p:nvCxnSpPr>
          <p:cNvPr id="29" name=""/>
          <p:cNvCxnSpPr>
            <a:stCxn xmlns:a="http://schemas.openxmlformats.org/drawingml/2006/main" id="8" idx="2"/>
            <a:endCxn xmlns:a="http://schemas.openxmlformats.org/drawingml/2006/main" id="11" idx="0"/>
          </p:cNvCxnSpPr>
          <p:nvPr/>
        </p:nvCxnSpPr>
        <p:spPr>
          <a:xfrm xmlns:a="http://schemas.openxmlformats.org/drawingml/2006/main">
            <a:off x="6096000" y="3714750"/>
            <a:ext cx="47625" cy="714375"/>
          </a:xfrm>
          <a:prstGeom xmlns:a="http://schemas.openxmlformats.org/drawingml/2006/main" prst="bentConnector4">
            <a:avLst>
              <a:gd name="adj1" fmla="val 0"/>
              <a:gd name="adj2" fmla="val 50000"/>
            </a:avLst>
          </a:prstGeom>
          <a:ln xmlns:a="http://schemas.openxmlformats.org/drawingml/2006/main" w="23813">
            <a:solidFill>
              <a:srgbClr val="1E4A66"/>
            </a:solidFill>
            <a:prstDash val="dash"/>
            <a:headEnd type="triangle" w="sm" len="sm"/>
          </a:ln>
        </p:spPr>
      </p:cxnSp>
      <p:sp>
        <p:nvSpPr>
          <p:cNvPr id="13" name="">
            <a:extLst xmlns:a="http://schemas.openxmlformats.org/drawingml/2006/main">
              <a:ext uri="{FF2B5EF4-FFF2-40B4-BE49-F238E27FC236}">
                <a16:creationId xmlns:a16="http://schemas.microsoft.com/office/drawing/2014/main" id="{5EC7E555-3B5B-4A6B-9DEB-CE88B704EC2E}"/>
              </a:ext>
            </a:extLst>
          </p:cNvPr>
          <p:cNvSpPr>
            <a:spLocks xmlns:a="http://schemas.openxmlformats.org/drawingml/2006/main" noGrp="1"/>
          </p:cNvSpPr>
          <p:nvPr/>
        </p:nvSpPr>
        <p:spPr>
          <a:xfrm xmlns:a="http://schemas.openxmlformats.org/drawingml/2006/main">
            <a:off x="8572500" y="4429125"/>
            <a:ext cx="2571750" cy="647700"/>
          </a:xfrm>
          <a:prstGeom xmlns:a="http://schemas.openxmlformats.org/drawingml/2006/main" prst="roundRect">
            <a:avLst>
              <a:gd name="adj" fmla="val 23529"/>
            </a:avLst>
          </a:prstGeom>
          <a:solidFill xmlns:a="http://schemas.openxmlformats.org/drawingml/2006/main">
            <a:srgbClr val="0B2942"/>
          </a:solidFill>
          <a:ln xmlns:a="http://schemas.openxmlformats.org/drawingml/2006/main" w="14288">
            <a:solidFill>
              <a:srgbClr val="FB7185"/>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Auditable safety actions</a:t>
            </a:r>
          </a:p>
        </p:txBody>
      </p:sp>
      <p:cxnSp>
        <p:nvCxnSpPr>
          <p:cNvPr id="31" name=""/>
          <p:cNvCxnSpPr>
            <a:stCxn xmlns:a="http://schemas.openxmlformats.org/drawingml/2006/main" id="8" idx="2"/>
            <a:endCxn xmlns:a="http://schemas.openxmlformats.org/drawingml/2006/main" id="13" idx="0"/>
          </p:cNvCxnSpPr>
          <p:nvPr/>
        </p:nvCxnSpPr>
        <p:spPr>
          <a:xfrm xmlns:a="http://schemas.openxmlformats.org/drawingml/2006/main">
            <a:off x="6096000" y="3714750"/>
            <a:ext cx="3762375" cy="714375"/>
          </a:xfrm>
          <a:prstGeom xmlns:a="http://schemas.openxmlformats.org/drawingml/2006/main" prst="bentConnector4">
            <a:avLst>
              <a:gd name="adj1" fmla="val 0"/>
              <a:gd name="adj2" fmla="val 50000"/>
            </a:avLst>
          </a:prstGeom>
          <a:ln xmlns:a="http://schemas.openxmlformats.org/drawingml/2006/main" w="23813">
            <a:solidFill>
              <a:srgbClr val="1E4A66"/>
            </a:solidFill>
            <a:prstDash val="dash"/>
            <a:headEnd type="triangle" w="sm" len="sm"/>
          </a:ln>
        </p:spPr>
      </p:cxnSp>
      <p:sp>
        <p:nvSpPr>
          <p:cNvPr id="15" name="">
            <a:extLst xmlns:a="http://schemas.openxmlformats.org/drawingml/2006/main">
              <a:ext uri="{FF2B5EF4-FFF2-40B4-BE49-F238E27FC236}">
                <a16:creationId xmlns:a16="http://schemas.microsoft.com/office/drawing/2014/main" id="{D49A0AC4-FBB9-49E5-BD29-40BCACEE2D76}"/>
              </a:ext>
            </a:extLst>
          </p:cNvPr>
          <p:cNvSpPr>
            <a:spLocks xmlns:a="http://schemas.openxmlformats.org/drawingml/2006/main" noGrp="1"/>
          </p:cNvSpPr>
          <p:nvPr/>
        </p:nvSpPr>
        <p:spPr>
          <a:xfrm xmlns:a="http://schemas.openxmlformats.org/drawingml/2006/main">
            <a:off x="3143250" y="2143125"/>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F8FAFC"/>
                </a:solidFill>
              </a:defRPr>
            </a:pPr>
            <a:r>
              <a:rPr sz="2250" b="1">
                <a:solidFill>
                  <a:srgbClr val="F8FAFC"/>
                </a:solidFill>
              </a:rPr>
              <a:t>Trust is part of the architecture.</a:t>
            </a:r>
          </a:p>
        </p:txBody>
      </p:sp>
      <p:sp>
        <p:nvSpPr>
          <p:cNvPr id="16" name="">
            <a:extLst xmlns:a="http://schemas.openxmlformats.org/drawingml/2006/main">
              <a:ext uri="{FF2B5EF4-FFF2-40B4-BE49-F238E27FC236}">
                <a16:creationId xmlns:a16="http://schemas.microsoft.com/office/drawing/2014/main" id="{9C04C56B-FD47-41AA-9D78-7252B75D84E9}"/>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17" name="">
            <a:extLst xmlns:a="http://schemas.openxmlformats.org/drawingml/2006/main">
              <a:ext uri="{FF2B5EF4-FFF2-40B4-BE49-F238E27FC236}">
                <a16:creationId xmlns:a16="http://schemas.microsoft.com/office/drawing/2014/main" id="{B266A5EE-ED30-4CD9-97D8-E4109BF499B2}"/>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privacy: Privacy is the disciplined control of personal information so it is used only for legitimate, limited, and understandable purposes.</a:t>
            </a:r>
          </a:p>
        </p:txBody>
      </p:sp>
    </p:spTree>
    <p:extLst>
      <p:ext uri="{BB962C8B-B14F-4D97-AF65-F5344CB8AC3E}">
        <p14:creationId xmlns:p14="http://schemas.microsoft.com/office/powerpoint/2010/main" val="1379189601"/>
      </p:ext>
    </p:extLst>
  </p:cSld>
</p:sld>
</file>

<file path=ppt/slides/slide24.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959A866-2CB6-4C66-87EB-5AAB48100ED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96AD5F5F-64E8-4A78-AD53-20E956B30A9E}"/>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24  •  PRODUCTION</a:t>
            </a:r>
          </a:p>
        </p:txBody>
      </p:sp>
      <p:sp>
        <p:nvSpPr>
          <p:cNvPr id="3" name="">
            <a:extLst xmlns:a="http://schemas.openxmlformats.org/drawingml/2006/main">
              <a:ext uri="{FF2B5EF4-FFF2-40B4-BE49-F238E27FC236}">
                <a16:creationId xmlns:a16="http://schemas.microsoft.com/office/drawing/2014/main" id="{815463DD-B195-48F7-85CB-F1C66A9A0856}"/>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Keep Models Useful, Never Required</a:t>
            </a:r>
          </a:p>
        </p:txBody>
      </p:sp>
      <p:sp>
        <p:nvSpPr>
          <p:cNvPr id="4" name="">
            <a:extLst xmlns:a="http://schemas.openxmlformats.org/drawingml/2006/main">
              <a:ext uri="{FF2B5EF4-FFF2-40B4-BE49-F238E27FC236}">
                <a16:creationId xmlns:a16="http://schemas.microsoft.com/office/drawing/2014/main" id="{93982B9D-64AE-4D34-9BE5-627E1A56313C}"/>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C03D5913-E5A8-47CB-93A2-141B3865F42C}"/>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81B7834C-B9CB-41A2-B9A5-8C2F3FAF6661}"/>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24 / 25</a:t>
            </a:r>
          </a:p>
        </p:txBody>
      </p:sp>
      <p:sp>
        <p:nvSpPr>
          <p:cNvPr id="7" name="">
            <a:extLst xmlns:a="http://schemas.openxmlformats.org/drawingml/2006/main">
              <a:ext uri="{FF2B5EF4-FFF2-40B4-BE49-F238E27FC236}">
                <a16:creationId xmlns:a16="http://schemas.microsoft.com/office/drawing/2014/main" id="{5930DAB5-B9E5-4742-9743-182C9CA34419}"/>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Observe quality, test quietly, release gradually, and preserve the non-model path.</a:t>
            </a:r>
          </a:p>
        </p:txBody>
      </p:sp>
      <p:sp>
        <p:nvSpPr>
          <p:cNvPr id="8" name="">
            <a:extLst xmlns:a="http://schemas.openxmlformats.org/drawingml/2006/main">
              <a:ext uri="{FF2B5EF4-FFF2-40B4-BE49-F238E27FC236}">
                <a16:creationId xmlns:a16="http://schemas.microsoft.com/office/drawing/2014/main" id="{3FA278B9-16A7-4FD9-91D1-F2D27041718E}"/>
              </a:ext>
            </a:extLst>
          </p:cNvPr>
          <p:cNvSpPr>
            <a:spLocks xmlns:a="http://schemas.openxmlformats.org/drawingml/2006/main" noGrp="1"/>
          </p:cNvSpPr>
          <p:nvPr/>
        </p:nvSpPr>
        <p:spPr>
          <a:xfrm xmlns:a="http://schemas.openxmlformats.org/drawingml/2006/main">
            <a:off x="1238250" y="2905125"/>
            <a:ext cx="1857375" cy="809625"/>
          </a:xfrm>
          <a:prstGeom xmlns:a="http://schemas.openxmlformats.org/drawingml/2006/main" prst="roundRect">
            <a:avLst>
              <a:gd name="adj" fmla="val 18824"/>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Shadow</a:t>
            </a:r>
          </a:p>
          <a:p xmlns:a="http://schemas.openxmlformats.org/drawingml/2006/main">
            <a:pPr algn="ctr">
              <a:defRPr sz="1575" b="1">
                <a:solidFill>
                  <a:srgbClr val="F8FAFC"/>
                </a:solidFill>
              </a:defRPr>
            </a:pPr>
            <a:r>
              <a:rPr sz="1575" b="1">
                <a:solidFill>
                  <a:srgbClr val="F8FAFC"/>
                </a:solidFill>
              </a:rPr>
              <a:t>test</a:t>
            </a:r>
          </a:p>
        </p:txBody>
      </p:sp>
      <p:sp>
        <p:nvSpPr>
          <p:cNvPr id="9" name="">
            <a:extLst xmlns:a="http://schemas.openxmlformats.org/drawingml/2006/main">
              <a:ext uri="{FF2B5EF4-FFF2-40B4-BE49-F238E27FC236}">
                <a16:creationId xmlns:a16="http://schemas.microsoft.com/office/drawing/2014/main" id="{721C5D0B-FFD7-4960-8BCF-C3CC77754B1B}"/>
              </a:ext>
            </a:extLst>
          </p:cNvPr>
          <p:cNvSpPr>
            <a:spLocks xmlns:a="http://schemas.openxmlformats.org/drawingml/2006/main" noGrp="1"/>
          </p:cNvSpPr>
          <p:nvPr/>
        </p:nvSpPr>
        <p:spPr>
          <a:xfrm xmlns:a="http://schemas.openxmlformats.org/drawingml/2006/main">
            <a:off x="3762375" y="2905125"/>
            <a:ext cx="1857375" cy="809625"/>
          </a:xfrm>
          <a:prstGeom xmlns:a="http://schemas.openxmlformats.org/drawingml/2006/main" prst="roundRect">
            <a:avLst>
              <a:gd name="adj" fmla="val 18824"/>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Canary</a:t>
            </a:r>
          </a:p>
          <a:p xmlns:a="http://schemas.openxmlformats.org/drawingml/2006/main">
            <a:pPr algn="ctr">
              <a:defRPr sz="1575" b="1">
                <a:solidFill>
                  <a:srgbClr val="F8FAFC"/>
                </a:solidFill>
              </a:defRPr>
            </a:pPr>
            <a:r>
              <a:rPr sz="1575" b="1">
                <a:solidFill>
                  <a:srgbClr val="F8FAFC"/>
                </a:solidFill>
              </a:rPr>
              <a:t>release</a:t>
            </a:r>
          </a:p>
        </p:txBody>
      </p: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a:off x="3095625" y="3309938"/>
            <a:ext cx="666750" cy="0"/>
          </a:xfrm>
          <a:prstGeom xmlns:a="http://schemas.openxmlformats.org/drawingml/2006/main" prst="straightConnector1">
            <a:avLst/>
          </a:prstGeom>
          <a:ln xmlns:a="http://schemas.openxmlformats.org/drawingml/2006/main" w="23813">
            <a:solidFill>
              <a:srgbClr val="22D3EE"/>
            </a:solidFill>
            <a:prstDash val="solid"/>
            <a:headEnd type="triangle" w="sm" len="sm"/>
          </a:ln>
        </p:spPr>
      </p:cxnSp>
      <p:sp>
        <p:nvSpPr>
          <p:cNvPr id="11" name="">
            <a:extLst xmlns:a="http://schemas.openxmlformats.org/drawingml/2006/main">
              <a:ext uri="{FF2B5EF4-FFF2-40B4-BE49-F238E27FC236}">
                <a16:creationId xmlns:a16="http://schemas.microsoft.com/office/drawing/2014/main" id="{4036C88C-87B5-415F-A5D7-8683BEF56020}"/>
              </a:ext>
            </a:extLst>
          </p:cNvPr>
          <p:cNvSpPr>
            <a:spLocks xmlns:a="http://schemas.openxmlformats.org/drawingml/2006/main" noGrp="1"/>
          </p:cNvSpPr>
          <p:nvPr/>
        </p:nvSpPr>
        <p:spPr>
          <a:xfrm xmlns:a="http://schemas.openxmlformats.org/drawingml/2006/main">
            <a:off x="6286500" y="2905125"/>
            <a:ext cx="1857375" cy="809625"/>
          </a:xfrm>
          <a:prstGeom xmlns:a="http://schemas.openxmlformats.org/drawingml/2006/main" prst="roundRect">
            <a:avLst>
              <a:gd name="adj" fmla="val 18824"/>
            </a:avLst>
          </a:prstGeom>
          <a:solidFill xmlns:a="http://schemas.openxmlformats.org/drawingml/2006/main">
            <a:srgbClr val="0B2942"/>
          </a:solidFill>
          <a:ln xmlns:a="http://schemas.openxmlformats.org/drawingml/2006/main" w="14288">
            <a:solidFill>
              <a:srgbClr val="34D399"/>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Measure</a:t>
            </a:r>
          </a:p>
          <a:p xmlns:a="http://schemas.openxmlformats.org/drawingml/2006/main">
            <a:pPr algn="ctr">
              <a:defRPr sz="1575" b="1">
                <a:solidFill>
                  <a:srgbClr val="F8FAFC"/>
                </a:solidFill>
              </a:defRPr>
            </a:pPr>
            <a:r>
              <a:rPr sz="1575" b="1">
                <a:solidFill>
                  <a:srgbClr val="F8FAFC"/>
                </a:solidFill>
              </a:rPr>
              <a:t>quality</a:t>
            </a:r>
          </a:p>
        </p:txBody>
      </p:sp>
      <p:cxnSp>
        <p:nvCxnSpPr>
          <p:cNvPr id="32" name=""/>
          <p:cNvCxnSpPr>
            <a:stCxn xmlns:a="http://schemas.openxmlformats.org/drawingml/2006/main" id="9" idx="3"/>
            <a:endCxn xmlns:a="http://schemas.openxmlformats.org/drawingml/2006/main" id="11" idx="1"/>
          </p:cNvCxnSpPr>
          <p:nvPr/>
        </p:nvCxnSpPr>
        <p:spPr>
          <a:xfrm xmlns:a="http://schemas.openxmlformats.org/drawingml/2006/main">
            <a:off x="5619750" y="3309938"/>
            <a:ext cx="666750" cy="0"/>
          </a:xfrm>
          <a:prstGeom xmlns:a="http://schemas.openxmlformats.org/drawingml/2006/main" prst="straightConnector1">
            <a:avLst/>
          </a:prstGeom>
          <a:ln xmlns:a="http://schemas.openxmlformats.org/drawingml/2006/main" w="23813">
            <a:solidFill>
              <a:srgbClr val="22D3EE"/>
            </a:solidFill>
            <a:prstDash val="solid"/>
            <a:headEnd type="triangle" w="sm" len="sm"/>
          </a:ln>
        </p:spPr>
      </p:cxnSp>
      <p:sp>
        <p:nvSpPr>
          <p:cNvPr id="13" name="">
            <a:extLst xmlns:a="http://schemas.openxmlformats.org/drawingml/2006/main">
              <a:ext uri="{FF2B5EF4-FFF2-40B4-BE49-F238E27FC236}">
                <a16:creationId xmlns:a16="http://schemas.microsoft.com/office/drawing/2014/main" id="{94CA0199-1297-4BA3-AB42-E89285C67AEE}"/>
              </a:ext>
            </a:extLst>
          </p:cNvPr>
          <p:cNvSpPr>
            <a:spLocks xmlns:a="http://schemas.openxmlformats.org/drawingml/2006/main" noGrp="1"/>
          </p:cNvSpPr>
          <p:nvPr/>
        </p:nvSpPr>
        <p:spPr>
          <a:xfrm xmlns:a="http://schemas.openxmlformats.org/drawingml/2006/main">
            <a:off x="8810625" y="2905125"/>
            <a:ext cx="1857375" cy="809625"/>
          </a:xfrm>
          <a:prstGeom xmlns:a="http://schemas.openxmlformats.org/drawingml/2006/main" prst="roundRect">
            <a:avLst>
              <a:gd name="adj" fmla="val 18824"/>
            </a:avLst>
          </a:prstGeom>
          <a:solidFill xmlns:a="http://schemas.openxmlformats.org/drawingml/2006/main">
            <a:srgbClr val="0B2942"/>
          </a:solidFill>
          <a:ln xmlns:a="http://schemas.openxmlformats.org/drawingml/2006/main" w="14288">
            <a:solidFill>
              <a:srgbClr val="FBBF24"/>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Expand or</a:t>
            </a:r>
          </a:p>
          <a:p xmlns:a="http://schemas.openxmlformats.org/drawingml/2006/main">
            <a:pPr algn="ctr">
              <a:defRPr sz="1575" b="1">
                <a:solidFill>
                  <a:srgbClr val="F8FAFC"/>
                </a:solidFill>
              </a:defRPr>
            </a:pPr>
            <a:r>
              <a:rPr sz="1575" b="1">
                <a:solidFill>
                  <a:srgbClr val="F8FAFC"/>
                </a:solidFill>
              </a:rPr>
              <a:t>rollback</a:t>
            </a:r>
          </a:p>
        </p:txBody>
      </p:sp>
      <p:cxnSp>
        <p:nvCxnSpPr>
          <p:cNvPr id="34" name=""/>
          <p:cNvCxnSpPr>
            <a:stCxn xmlns:a="http://schemas.openxmlformats.org/drawingml/2006/main" id="11" idx="3"/>
            <a:endCxn xmlns:a="http://schemas.openxmlformats.org/drawingml/2006/main" id="13" idx="1"/>
          </p:cNvCxnSpPr>
          <p:nvPr/>
        </p:nvCxnSpPr>
        <p:spPr>
          <a:xfrm xmlns:a="http://schemas.openxmlformats.org/drawingml/2006/main">
            <a:off x="8143875" y="3309938"/>
            <a:ext cx="666750" cy="0"/>
          </a:xfrm>
          <a:prstGeom xmlns:a="http://schemas.openxmlformats.org/drawingml/2006/main" prst="straightConnector1">
            <a:avLst/>
          </a:prstGeom>
          <a:ln xmlns:a="http://schemas.openxmlformats.org/drawingml/2006/main" w="23813">
            <a:solidFill>
              <a:srgbClr val="22D3EE"/>
            </a:solidFill>
            <a:prstDash val="solid"/>
            <a:headEnd type="triangle" w="sm" len="sm"/>
          </a:ln>
        </p:spPr>
      </p:cxnSp>
      <p:sp>
        <p:nvSpPr>
          <p:cNvPr id="15" name="">
            <a:extLst xmlns:a="http://schemas.openxmlformats.org/drawingml/2006/main">
              <a:ext uri="{FF2B5EF4-FFF2-40B4-BE49-F238E27FC236}">
                <a16:creationId xmlns:a16="http://schemas.microsoft.com/office/drawing/2014/main" id="{82701AED-E8DC-4C18-85E0-A9DD6F98DCD2}"/>
              </a:ext>
            </a:extLst>
          </p:cNvPr>
          <p:cNvSpPr>
            <a:spLocks xmlns:a="http://schemas.openxmlformats.org/drawingml/2006/main" noGrp="1"/>
          </p:cNvSpPr>
          <p:nvPr/>
        </p:nvSpPr>
        <p:spPr>
          <a:xfrm xmlns:a="http://schemas.openxmlformats.org/drawingml/2006/main">
            <a:off x="1190625" y="4476750"/>
            <a:ext cx="990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0">
                <a:solidFill>
                  <a:srgbClr val="A8C7D9"/>
                </a:solidFill>
              </a:defRPr>
            </a:pPr>
            <a:r>
              <a:rPr sz="1800" b="0">
                <a:solidFill>
                  <a:srgbClr val="A8C7D9"/>
                </a:solidFill>
              </a:rPr>
              <a:t>Observe latency, fairness, drift, overrides, and cost—then keep the non-model path.</a:t>
            </a:r>
          </a:p>
        </p:txBody>
      </p:sp>
      <p:sp>
        <p:nvSpPr>
          <p:cNvPr id="16" name="">
            <a:extLst xmlns:a="http://schemas.openxmlformats.org/drawingml/2006/main">
              <a:ext uri="{FF2B5EF4-FFF2-40B4-BE49-F238E27FC236}">
                <a16:creationId xmlns:a16="http://schemas.microsoft.com/office/drawing/2014/main" id="{1889B756-4FD5-4D21-8A61-D582406873FF}"/>
              </a:ext>
            </a:extLst>
          </p:cNvPr>
          <p:cNvSpPr>
            <a:spLocks xmlns:a="http://schemas.openxmlformats.org/drawingml/2006/main" noGrp="1"/>
          </p:cNvSpPr>
          <p:nvPr/>
        </p:nvSpPr>
        <p:spPr>
          <a:xfrm xmlns:a="http://schemas.openxmlformats.org/drawingml/2006/main">
            <a:off x="8191500" y="1809750"/>
            <a:ext cx="3095625" cy="819150"/>
          </a:xfrm>
          <a:prstGeom xmlns:a="http://schemas.openxmlformats.org/drawingml/2006/main" prst="roundRect">
            <a:avLst>
              <a:gd name="adj" fmla="val 18605"/>
            </a:avLst>
          </a:prstGeom>
          <a:solidFill xmlns:a="http://schemas.openxmlformats.org/drawingml/2006/main">
            <a:srgbClr val="163047"/>
          </a:solidFill>
          <a:ln xmlns:a="http://schemas.openxmlformats.org/drawingml/2006/main" w="14288">
            <a:solidFill>
              <a:srgbClr val="FBBF24"/>
            </a:solidFill>
            <a:prstDash val="solid"/>
          </a:ln>
        </p:spPr>
      </p:sp>
      <p:sp>
        <p:nvSpPr>
          <p:cNvPr id="17" name="">
            <a:extLst xmlns:a="http://schemas.openxmlformats.org/drawingml/2006/main">
              <a:ext uri="{FF2B5EF4-FFF2-40B4-BE49-F238E27FC236}">
                <a16:creationId xmlns:a16="http://schemas.microsoft.com/office/drawing/2014/main" id="{593A7532-069C-43B7-A2BD-225B720EDDAD}"/>
              </a:ext>
            </a:extLst>
          </p:cNvPr>
          <p:cNvSpPr>
            <a:spLocks xmlns:a="http://schemas.openxmlformats.org/drawingml/2006/main" noGrp="1"/>
          </p:cNvSpPr>
          <p:nvPr/>
        </p:nvSpPr>
        <p:spPr>
          <a:xfrm xmlns:a="http://schemas.openxmlformats.org/drawingml/2006/main">
            <a:off x="8401050" y="1952625"/>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BBF24"/>
                </a:solidFill>
              </a:defRPr>
            </a:pPr>
            <a:r>
              <a:rPr sz="1125" b="1">
                <a:solidFill>
                  <a:srgbClr val="FBBF24"/>
                </a:solidFill>
              </a:rPr>
              <a:t>PAUSE &amp; PREDICT</a:t>
            </a:r>
          </a:p>
        </p:txBody>
      </p:sp>
      <p:sp>
        <p:nvSpPr>
          <p:cNvPr id="18" name="">
            <a:extLst xmlns:a="http://schemas.openxmlformats.org/drawingml/2006/main">
              <a:ext uri="{FF2B5EF4-FFF2-40B4-BE49-F238E27FC236}">
                <a16:creationId xmlns:a16="http://schemas.microsoft.com/office/drawing/2014/main" id="{14CDBDAF-CC89-4970-ADA5-BBF4212C713B}"/>
              </a:ext>
            </a:extLst>
          </p:cNvPr>
          <p:cNvSpPr>
            <a:spLocks xmlns:a="http://schemas.openxmlformats.org/drawingml/2006/main" noGrp="1"/>
          </p:cNvSpPr>
          <p:nvPr/>
        </p:nvSpPr>
        <p:spPr>
          <a:xfrm xmlns:a="http://schemas.openxmlformats.org/drawingml/2006/main">
            <a:off x="8401050" y="2209800"/>
            <a:ext cx="2619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8FAFC"/>
                </a:solidFill>
              </a:defRPr>
            </a:pPr>
            <a:r>
              <a:rPr sz="1350" b="1">
                <a:solidFill>
                  <a:srgbClr val="F8FAFC"/>
                </a:solidFill>
              </a:rPr>
              <a:t>Turn a promising offline model on for everyone?</a:t>
            </a:r>
          </a:p>
        </p:txBody>
      </p:sp>
      <p:sp>
        <p:nvSpPr>
          <p:cNvPr id="19" name="">
            <a:extLst xmlns:a="http://schemas.openxmlformats.org/drawingml/2006/main">
              <a:ext uri="{FF2B5EF4-FFF2-40B4-BE49-F238E27FC236}">
                <a16:creationId xmlns:a16="http://schemas.microsoft.com/office/drawing/2014/main" id="{E8BC0023-FF7B-4D94-80DF-3889A10B2F12}"/>
              </a:ext>
            </a:extLst>
          </p:cNvPr>
          <p:cNvSpPr>
            <a:spLocks xmlns:a="http://schemas.openxmlformats.org/drawingml/2006/main" noGrp="1"/>
          </p:cNvSpPr>
          <p:nvPr/>
        </p:nvSpPr>
        <p:spPr>
          <a:xfrm xmlns:a="http://schemas.openxmlformats.org/drawingml/2006/main">
            <a:off x="647700" y="5753100"/>
            <a:ext cx="10896600" cy="552450"/>
          </a:xfrm>
          <a:prstGeom xmlns:a="http://schemas.openxmlformats.org/drawingml/2006/main" prst="roundRect">
            <a:avLst>
              <a:gd name="adj" fmla="val 27586"/>
            </a:avLst>
          </a:prstGeom>
          <a:solidFill xmlns:a="http://schemas.openxmlformats.org/drawingml/2006/main">
            <a:srgbClr val="0A263D"/>
          </a:solidFill>
          <a:ln xmlns:a="http://schemas.openxmlformats.org/drawingml/2006/main" w="14288">
            <a:solidFill>
              <a:srgbClr val="164E63"/>
            </a:solidFill>
            <a:prstDash val="solid"/>
          </a:ln>
        </p:spPr>
      </p:sp>
      <p:sp>
        <p:nvSpPr>
          <p:cNvPr id="20" name="">
            <a:extLst xmlns:a="http://schemas.openxmlformats.org/drawingml/2006/main">
              <a:ext uri="{FF2B5EF4-FFF2-40B4-BE49-F238E27FC236}">
                <a16:creationId xmlns:a16="http://schemas.microsoft.com/office/drawing/2014/main" id="{2FF529B2-C2C4-4EB0-B94B-FC442400423D}"/>
              </a:ext>
            </a:extLst>
          </p:cNvPr>
          <p:cNvSpPr>
            <a:spLocks xmlns:a="http://schemas.openxmlformats.org/drawingml/2006/main" noGrp="1"/>
          </p:cNvSpPr>
          <p:nvPr/>
        </p:nvSpPr>
        <p:spPr>
          <a:xfrm xmlns:a="http://schemas.openxmlformats.org/drawingml/2006/main">
            <a:off x="838200" y="5886450"/>
            <a:ext cx="1049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8F7FF"/>
                </a:solidFill>
              </a:defRPr>
            </a:pPr>
            <a:r>
              <a:rPr sz="1200" b="0">
                <a:solidFill>
                  <a:srgbClr val="D8F7FF"/>
                </a:solidFill>
              </a:rPr>
              <a:t>model drift: Model drift is a decline or change in prediction quality because real-world patterns no longer match training data.  •  shadow testing: Shadow testing sends live-like inputs to a new model without letting it control outcomes, so results can be compared safely.  •  canary release: A canary release exposes a new version to a small controlled share of traffic before wider rollout.  •  cost control: Cost control is the use of budgets, caching, smaller models, and measurement to keep an operating path economically sustainable.</a:t>
            </a:r>
          </a:p>
        </p:txBody>
      </p:sp>
    </p:spTree>
    <p:extLst>
      <p:ext uri="{BB962C8B-B14F-4D97-AF65-F5344CB8AC3E}">
        <p14:creationId xmlns:p14="http://schemas.microsoft.com/office/powerpoint/2010/main" val="2013264721"/>
      </p:ext>
    </p:extLst>
  </p:cSld>
</p:sld>
</file>

<file path=ppt/slides/slide25.xml><?xml version="1.0" encoding="utf-8"?>
<p:sld xmlns:p="http://schemas.openxmlformats.org/presentationml/2006/main">
  <p:cSld>
    <p:bg>
      <p:bgPr>
        <a:solidFill xmlns:a="http://schemas.openxmlformats.org/drawingml/2006/main">
          <a:srgbClr val="061A2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4FB7888-A4F9-4C96-A201-D2A713D28E0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2D3EE"/>
          </a:solidFill>
          <a:ln xmlns:a="http://schemas.openxmlformats.org/drawingml/2006/main" w="0">
            <a:solidFill>
              <a:srgbClr val="22D3EE"/>
            </a:solidFill>
            <a:prstDash val="solid"/>
          </a:ln>
        </p:spPr>
      </p:sp>
      <p:sp>
        <p:nvSpPr>
          <p:cNvPr id="2" name="">
            <a:extLst xmlns:a="http://schemas.openxmlformats.org/drawingml/2006/main">
              <a:ext uri="{FF2B5EF4-FFF2-40B4-BE49-F238E27FC236}">
                <a16:creationId xmlns:a16="http://schemas.microsoft.com/office/drawing/2014/main" id="{1283148C-3662-49FD-B7A0-543921A761C5}"/>
              </a:ext>
            </a:extLst>
          </p:cNvPr>
          <p:cNvSpPr>
            <a:spLocks xmlns:a="http://schemas.openxmlformats.org/drawingml/2006/main" noGrp="1"/>
          </p:cNvSpPr>
          <p:nvPr/>
        </p:nvSpPr>
        <p:spPr>
          <a:xfrm xmlns:a="http://schemas.openxmlformats.org/drawingml/2006/main">
            <a:off x="647700" y="266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D3EE"/>
                </a:solidFill>
              </a:defRPr>
            </a:pPr>
            <a:r>
              <a:rPr sz="1125" b="1">
                <a:solidFill>
                  <a:srgbClr val="22D3EE"/>
                </a:solidFill>
              </a:rPr>
              <a:t>25  •  INTERVIEW</a:t>
            </a:r>
          </a:p>
        </p:txBody>
      </p:sp>
      <p:sp>
        <p:nvSpPr>
          <p:cNvPr id="3" name="">
            <a:extLst xmlns:a="http://schemas.openxmlformats.org/drawingml/2006/main">
              <a:ext uri="{FF2B5EF4-FFF2-40B4-BE49-F238E27FC236}">
                <a16:creationId xmlns:a16="http://schemas.microsoft.com/office/drawing/2014/main" id="{08C9A1E2-0889-4B0E-A14F-AB68E9BBF51A}"/>
              </a:ext>
            </a:extLst>
          </p:cNvPr>
          <p:cNvSpPr>
            <a:spLocks xmlns:a="http://schemas.openxmlformats.org/drawingml/2006/main" noGrp="1"/>
          </p:cNvSpPr>
          <p:nvPr/>
        </p:nvSpPr>
        <p:spPr>
          <a:xfrm xmlns:a="http://schemas.openxmlformats.org/drawingml/2006/main">
            <a:off x="647700" y="590550"/>
            <a:ext cx="10715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8FAFC"/>
                </a:solidFill>
              </a:defRPr>
            </a:pPr>
            <a:r>
              <a:rPr sz="2850" b="1">
                <a:solidFill>
                  <a:srgbClr val="F8FAFC"/>
                </a:solidFill>
              </a:rPr>
              <a:t>Reconstruct the Design in an Interview</a:t>
            </a:r>
          </a:p>
        </p:txBody>
      </p:sp>
      <p:sp>
        <p:nvSpPr>
          <p:cNvPr id="4" name="">
            <a:extLst xmlns:a="http://schemas.openxmlformats.org/drawingml/2006/main">
              <a:ext uri="{FF2B5EF4-FFF2-40B4-BE49-F238E27FC236}">
                <a16:creationId xmlns:a16="http://schemas.microsoft.com/office/drawing/2014/main" id="{B3A76641-0BC7-4DEC-AA03-048216F86936}"/>
              </a:ext>
            </a:extLst>
          </p:cNvPr>
          <p:cNvSpPr>
            <a:spLocks xmlns:a="http://schemas.openxmlformats.org/drawingml/2006/main" noGrp="1"/>
          </p:cNvSpPr>
          <p:nvPr/>
        </p:nvSpPr>
        <p:spPr>
          <a:xfrm xmlns:a="http://schemas.openxmlformats.org/drawingml/2006/main">
            <a:off x="647700" y="1200150"/>
            <a:ext cx="10896600" cy="14288"/>
          </a:xfrm>
          <a:prstGeom xmlns:a="http://schemas.openxmlformats.org/drawingml/2006/main" prst="rect">
            <a:avLst/>
          </a:prstGeom>
          <a:solidFill xmlns:a="http://schemas.openxmlformats.org/drawingml/2006/main">
            <a:srgbClr val="1E4A66"/>
          </a:solidFill>
          <a:ln xmlns:a="http://schemas.openxmlformats.org/drawingml/2006/main" w="0">
            <a:solidFill>
              <a:srgbClr val="1E4A66"/>
            </a:solidFill>
            <a:prstDash val="solid"/>
          </a:ln>
        </p:spPr>
      </p:sp>
      <p:sp>
        <p:nvSpPr>
          <p:cNvPr id="5" name="">
            <a:extLst xmlns:a="http://schemas.openxmlformats.org/drawingml/2006/main">
              <a:ext uri="{FF2B5EF4-FFF2-40B4-BE49-F238E27FC236}">
                <a16:creationId xmlns:a16="http://schemas.microsoft.com/office/drawing/2014/main" id="{1BC16B58-C3F3-47C1-93A3-81DEB1256373}"/>
              </a:ext>
            </a:extLst>
          </p:cNvPr>
          <p:cNvSpPr>
            <a:spLocks xmlns:a="http://schemas.openxmlformats.org/drawingml/2006/main" noGrp="1"/>
          </p:cNvSpPr>
          <p:nvPr/>
        </p:nvSpPr>
        <p:spPr>
          <a:xfrm xmlns:a="http://schemas.openxmlformats.org/drawingml/2006/main">
            <a:off x="647700" y="647700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8C7D9"/>
                </a:solidFill>
              </a:defRPr>
            </a:pPr>
            <a:r>
              <a:rPr sz="900" b="1">
                <a:solidFill>
                  <a:srgbClr val="A8C7D9"/>
                </a:solidFill>
              </a:rPr>
              <a:t>AI-NATIVE SYSTEM DESIGN • MOBILITY MARKETPLACE</a:t>
            </a:r>
          </a:p>
        </p:txBody>
      </p:sp>
      <p:sp>
        <p:nvSpPr>
          <p:cNvPr id="6" name="">
            <a:extLst xmlns:a="http://schemas.openxmlformats.org/drawingml/2006/main">
              <a:ext uri="{FF2B5EF4-FFF2-40B4-BE49-F238E27FC236}">
                <a16:creationId xmlns:a16="http://schemas.microsoft.com/office/drawing/2014/main" id="{2CE38648-67D4-4F61-824D-309AC2E90AD1}"/>
              </a:ext>
            </a:extLst>
          </p:cNvPr>
          <p:cNvSpPr>
            <a:spLocks xmlns:a="http://schemas.openxmlformats.org/drawingml/2006/main" noGrp="1"/>
          </p:cNvSpPr>
          <p:nvPr/>
        </p:nvSpPr>
        <p:spPr>
          <a:xfrm xmlns:a="http://schemas.openxmlformats.org/drawingml/2006/main">
            <a:off x="10620375" y="6477000"/>
            <a:ext cx="923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A8C7D9"/>
                </a:solidFill>
              </a:defRPr>
            </a:pPr>
            <a:r>
              <a:rPr sz="900" b="1">
                <a:solidFill>
                  <a:srgbClr val="A8C7D9"/>
                </a:solidFill>
              </a:rPr>
              <a:t>25 / 25</a:t>
            </a:r>
          </a:p>
        </p:txBody>
      </p:sp>
      <p:sp>
        <p:nvSpPr>
          <p:cNvPr id="7" name="">
            <a:extLst xmlns:a="http://schemas.openxmlformats.org/drawingml/2006/main">
              <a:ext uri="{FF2B5EF4-FFF2-40B4-BE49-F238E27FC236}">
                <a16:creationId xmlns:a16="http://schemas.microsoft.com/office/drawing/2014/main" id="{C935ACD1-3748-438E-941D-806D1878F43D}"/>
              </a:ext>
            </a:extLst>
          </p:cNvPr>
          <p:cNvSpPr>
            <a:spLocks xmlns:a="http://schemas.openxmlformats.org/drawingml/2006/main" noGrp="1"/>
          </p:cNvSpPr>
          <p:nvPr/>
        </p:nvSpPr>
        <p:spPr>
          <a:xfrm xmlns:a="http://schemas.openxmlformats.org/drawingml/2006/main">
            <a:off x="647700" y="1381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A8C7D9"/>
                </a:solidFill>
              </a:defRPr>
            </a:pPr>
            <a:r>
              <a:rPr sz="1800" b="0">
                <a:solidFill>
                  <a:srgbClr val="A8C7D9"/>
                </a:solidFill>
              </a:rPr>
              <a:t>Clarify → estimate → separate truth from telemetry → dispatch → failures → trade-offs.</a:t>
            </a:r>
          </a:p>
        </p:txBody>
      </p:sp>
      <p:sp>
        <p:nvSpPr>
          <p:cNvPr id="8" name="">
            <a:extLst xmlns:a="http://schemas.openxmlformats.org/drawingml/2006/main">
              <a:ext uri="{FF2B5EF4-FFF2-40B4-BE49-F238E27FC236}">
                <a16:creationId xmlns:a16="http://schemas.microsoft.com/office/drawing/2014/main" id="{8F152AC7-402C-4DA4-8DFD-489C1383E4DA}"/>
              </a:ext>
            </a:extLst>
          </p:cNvPr>
          <p:cNvSpPr>
            <a:spLocks xmlns:a="http://schemas.openxmlformats.org/drawingml/2006/main" noGrp="1"/>
          </p:cNvSpPr>
          <p:nvPr/>
        </p:nvSpPr>
        <p:spPr>
          <a:xfrm xmlns:a="http://schemas.openxmlformats.org/drawingml/2006/main">
            <a:off x="666750" y="2619375"/>
            <a:ext cx="1428750" cy="762000"/>
          </a:xfrm>
          <a:prstGeom xmlns:a="http://schemas.openxmlformats.org/drawingml/2006/main" prst="roundRect">
            <a:avLst>
              <a:gd name="adj" fmla="val 20000"/>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Clarify</a:t>
            </a:r>
          </a:p>
        </p:txBody>
      </p:sp>
      <p:sp>
        <p:nvSpPr>
          <p:cNvPr id="9" name="">
            <a:extLst xmlns:a="http://schemas.openxmlformats.org/drawingml/2006/main">
              <a:ext uri="{FF2B5EF4-FFF2-40B4-BE49-F238E27FC236}">
                <a16:creationId xmlns:a16="http://schemas.microsoft.com/office/drawing/2014/main" id="{E4AB6766-BF39-4A40-8F4F-F7A94F13D2D3}"/>
              </a:ext>
            </a:extLst>
          </p:cNvPr>
          <p:cNvSpPr>
            <a:spLocks xmlns:a="http://schemas.openxmlformats.org/drawingml/2006/main" noGrp="1"/>
          </p:cNvSpPr>
          <p:nvPr/>
        </p:nvSpPr>
        <p:spPr>
          <a:xfrm xmlns:a="http://schemas.openxmlformats.org/drawingml/2006/main">
            <a:off x="2524125" y="2619375"/>
            <a:ext cx="1428750" cy="762000"/>
          </a:xfrm>
          <a:prstGeom xmlns:a="http://schemas.openxmlformats.org/drawingml/2006/main" prst="roundRect">
            <a:avLst>
              <a:gd name="adj" fmla="val 20000"/>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Estimate</a:t>
            </a:r>
          </a:p>
        </p:txBody>
      </p:sp>
      <p:sp>
        <p:nvSpPr>
          <p:cNvPr id="10" name="">
            <a:extLst xmlns:a="http://schemas.openxmlformats.org/drawingml/2006/main">
              <a:ext uri="{FF2B5EF4-FFF2-40B4-BE49-F238E27FC236}">
                <a16:creationId xmlns:a16="http://schemas.microsoft.com/office/drawing/2014/main" id="{40971084-1AC2-40B0-835A-BCEFCC161BAA}"/>
              </a:ext>
            </a:extLst>
          </p:cNvPr>
          <p:cNvSpPr>
            <a:spLocks xmlns:a="http://schemas.openxmlformats.org/drawingml/2006/main" noGrp="1"/>
          </p:cNvSpPr>
          <p:nvPr/>
        </p:nvSpPr>
        <p:spPr>
          <a:xfrm xmlns:a="http://schemas.openxmlformats.org/drawingml/2006/main">
            <a:off x="4381500" y="2619375"/>
            <a:ext cx="1428750" cy="762000"/>
          </a:xfrm>
          <a:prstGeom xmlns:a="http://schemas.openxmlformats.org/drawingml/2006/main" prst="roundRect">
            <a:avLst>
              <a:gd name="adj" fmla="val 20000"/>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Separate</a:t>
            </a:r>
          </a:p>
          <a:p xmlns:a="http://schemas.openxmlformats.org/drawingml/2006/main">
            <a:pPr algn="ctr">
              <a:defRPr sz="1575" b="1">
                <a:solidFill>
                  <a:srgbClr val="F8FAFC"/>
                </a:solidFill>
              </a:defRPr>
            </a:pPr>
            <a:r>
              <a:rPr sz="1575" b="1">
                <a:solidFill>
                  <a:srgbClr val="F8FAFC"/>
                </a:solidFill>
              </a:rPr>
              <a:t>truth</a:t>
            </a:r>
          </a:p>
        </p:txBody>
      </p:sp>
      <p:sp>
        <p:nvSpPr>
          <p:cNvPr id="11" name="">
            <a:extLst xmlns:a="http://schemas.openxmlformats.org/drawingml/2006/main">
              <a:ext uri="{FF2B5EF4-FFF2-40B4-BE49-F238E27FC236}">
                <a16:creationId xmlns:a16="http://schemas.microsoft.com/office/drawing/2014/main" id="{33B39826-1F3D-4E33-B504-027CC35E9B0A}"/>
              </a:ext>
            </a:extLst>
          </p:cNvPr>
          <p:cNvSpPr>
            <a:spLocks xmlns:a="http://schemas.openxmlformats.org/drawingml/2006/main" noGrp="1"/>
          </p:cNvSpPr>
          <p:nvPr/>
        </p:nvSpPr>
        <p:spPr>
          <a:xfrm xmlns:a="http://schemas.openxmlformats.org/drawingml/2006/main">
            <a:off x="6238875" y="2619375"/>
            <a:ext cx="1428750" cy="762000"/>
          </a:xfrm>
          <a:prstGeom xmlns:a="http://schemas.openxmlformats.org/drawingml/2006/main" prst="roundRect">
            <a:avLst>
              <a:gd name="adj" fmla="val 20000"/>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Dispatch</a:t>
            </a:r>
          </a:p>
        </p:txBody>
      </p:sp>
      <p:sp>
        <p:nvSpPr>
          <p:cNvPr id="12" name="">
            <a:extLst xmlns:a="http://schemas.openxmlformats.org/drawingml/2006/main">
              <a:ext uri="{FF2B5EF4-FFF2-40B4-BE49-F238E27FC236}">
                <a16:creationId xmlns:a16="http://schemas.microsoft.com/office/drawing/2014/main" id="{D92677DD-FE02-4637-B698-BE50406FDDA6}"/>
              </a:ext>
            </a:extLst>
          </p:cNvPr>
          <p:cNvSpPr>
            <a:spLocks xmlns:a="http://schemas.openxmlformats.org/drawingml/2006/main" noGrp="1"/>
          </p:cNvSpPr>
          <p:nvPr/>
        </p:nvSpPr>
        <p:spPr>
          <a:xfrm xmlns:a="http://schemas.openxmlformats.org/drawingml/2006/main">
            <a:off x="8096250" y="2619375"/>
            <a:ext cx="1428750" cy="762000"/>
          </a:xfrm>
          <a:prstGeom xmlns:a="http://schemas.openxmlformats.org/drawingml/2006/main" prst="roundRect">
            <a:avLst>
              <a:gd name="adj" fmla="val 20000"/>
            </a:avLst>
          </a:prstGeom>
          <a:solidFill xmlns:a="http://schemas.openxmlformats.org/drawingml/2006/main">
            <a:srgbClr val="0B2942"/>
          </a:solidFill>
          <a:ln xmlns:a="http://schemas.openxmlformats.org/drawingml/2006/main" w="14288">
            <a:solidFill>
              <a:srgbClr val="22D3EE"/>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Failures</a:t>
            </a:r>
          </a:p>
        </p:txBody>
      </p:sp>
      <p:sp>
        <p:nvSpPr>
          <p:cNvPr id="13" name="">
            <a:extLst xmlns:a="http://schemas.openxmlformats.org/drawingml/2006/main">
              <a:ext uri="{FF2B5EF4-FFF2-40B4-BE49-F238E27FC236}">
                <a16:creationId xmlns:a16="http://schemas.microsoft.com/office/drawing/2014/main" id="{06DCB6AC-A043-4B75-B11D-16A343D1F435}"/>
              </a:ext>
            </a:extLst>
          </p:cNvPr>
          <p:cNvSpPr>
            <a:spLocks xmlns:a="http://schemas.openxmlformats.org/drawingml/2006/main" noGrp="1"/>
          </p:cNvSpPr>
          <p:nvPr/>
        </p:nvSpPr>
        <p:spPr>
          <a:xfrm xmlns:a="http://schemas.openxmlformats.org/drawingml/2006/main">
            <a:off x="9953625" y="2619375"/>
            <a:ext cx="1428750" cy="762000"/>
          </a:xfrm>
          <a:prstGeom xmlns:a="http://schemas.openxmlformats.org/drawingml/2006/main" prst="roundRect">
            <a:avLst>
              <a:gd name="adj" fmla="val 20000"/>
            </a:avLst>
          </a:prstGeom>
          <a:solidFill xmlns:a="http://schemas.openxmlformats.org/drawingml/2006/main">
            <a:srgbClr val="0B2942"/>
          </a:solidFill>
          <a:ln xmlns:a="http://schemas.openxmlformats.org/drawingml/2006/main" w="14288">
            <a:solidFill>
              <a:srgbClr val="34D399"/>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F8FAFC"/>
                </a:solidFill>
              </a:defRPr>
            </a:pPr>
            <a:r>
              <a:rPr sz="1575" b="1">
                <a:solidFill>
                  <a:srgbClr val="F8FAFC"/>
                </a:solidFill>
              </a:rPr>
              <a:t>Trade-offs</a:t>
            </a:r>
          </a:p>
        </p:txBody>
      </p:sp>
      <p:sp>
        <p:nvSpPr>
          <p:cNvPr id="14" name="">
            <a:extLst xmlns:a="http://schemas.openxmlformats.org/drawingml/2006/main">
              <a:ext uri="{FF2B5EF4-FFF2-40B4-BE49-F238E27FC236}">
                <a16:creationId xmlns:a16="http://schemas.microsoft.com/office/drawing/2014/main" id="{154D2729-1537-4EC7-8812-D8343205345A}"/>
              </a:ext>
            </a:extLst>
          </p:cNvPr>
          <p:cNvSpPr>
            <a:spLocks xmlns:a="http://schemas.openxmlformats.org/drawingml/2006/main" noGrp="1"/>
          </p:cNvSpPr>
          <p:nvPr/>
        </p:nvSpPr>
        <p:spPr>
          <a:xfrm xmlns:a="http://schemas.openxmlformats.org/drawingml/2006/main">
            <a:off x="1762125" y="4286250"/>
            <a:ext cx="866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34D399"/>
                </a:solidFill>
              </a:defRPr>
            </a:pPr>
            <a:r>
              <a:rPr sz="2400" b="1">
                <a:solidFill>
                  <a:srgbClr val="34D399"/>
                </a:solidFill>
              </a:rPr>
              <a:t>Make the product reliable first. Make AI helpful second.</a:t>
            </a:r>
          </a:p>
        </p:txBody>
      </p:sp>
    </p:spTree>
    <p:extLst>
      <p:ext uri="{BB962C8B-B14F-4D97-AF65-F5344CB8AC3E}">
        <p14:creationId xmlns:p14="http://schemas.microsoft.com/office/powerpoint/2010/main" val="1673439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2026-08-15T23:10:11.1780000Z</dcterms:created>
  <dcterms:modified xsi:type="dcterms:W3CDTF">2026-08-15T23:10:11.1780000Z</dcterms:modified>
</coreProperties>
</file>